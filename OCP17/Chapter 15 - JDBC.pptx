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12651-E492-4749-A948-8FB040B70964}" v="10997" dt="2024-07-11T23:31:0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autoAdjust="0"/>
    <p:restoredTop sz="92164"/>
  </p:normalViewPr>
  <p:slideViewPr>
    <p:cSldViewPr snapToGrid="0">
      <p:cViewPr varScale="1">
        <p:scale>
          <a:sx n="100" d="100"/>
          <a:sy n="100" d="100"/>
        </p:scale>
        <p:origin x="184"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inh Mai" userId="b8e4a559-41e0-4141-8dc1-330451d69615" providerId="ADAL" clId="{9AF12651-E492-4749-A948-8FB040B70964}"/>
    <pc:docChg chg="undo custSel addSld delSld modSld sldOrd addSection delSection modSection">
      <pc:chgData name="Dinh Vinh Mai" userId="b8e4a559-41e0-4141-8dc1-330451d69615" providerId="ADAL" clId="{9AF12651-E492-4749-A948-8FB040B70964}" dt="2024-07-11T23:31:06.508" v="15304" actId="20577"/>
      <pc:docMkLst>
        <pc:docMk/>
      </pc:docMkLst>
      <pc:sldChg chg="del">
        <pc:chgData name="Dinh Vinh Mai" userId="b8e4a559-41e0-4141-8dc1-330451d69615" providerId="ADAL" clId="{9AF12651-E492-4749-A948-8FB040B70964}" dt="2024-07-11T01:41:42.792" v="0" actId="47"/>
        <pc:sldMkLst>
          <pc:docMk/>
          <pc:sldMk cId="217268900" sldId="256"/>
        </pc:sldMkLst>
      </pc:sldChg>
      <pc:sldChg chg="modSp new mod">
        <pc:chgData name="Dinh Vinh Mai" userId="b8e4a559-41e0-4141-8dc1-330451d69615" providerId="ADAL" clId="{9AF12651-E492-4749-A948-8FB040B70964}" dt="2024-07-11T01:42:31.374" v="77" actId="20577"/>
        <pc:sldMkLst>
          <pc:docMk/>
          <pc:sldMk cId="2437323191" sldId="256"/>
        </pc:sldMkLst>
        <pc:spChg chg="mod">
          <ac:chgData name="Dinh Vinh Mai" userId="b8e4a559-41e0-4141-8dc1-330451d69615" providerId="ADAL" clId="{9AF12651-E492-4749-A948-8FB040B70964}" dt="2024-07-11T01:41:58.931" v="44" actId="20577"/>
          <ac:spMkLst>
            <pc:docMk/>
            <pc:sldMk cId="2437323191" sldId="256"/>
            <ac:spMk id="2" creationId="{5F432DBD-CB83-55BD-128C-2C66E47798F8}"/>
          </ac:spMkLst>
        </pc:spChg>
        <pc:spChg chg="mod">
          <ac:chgData name="Dinh Vinh Mai" userId="b8e4a559-41e0-4141-8dc1-330451d69615" providerId="ADAL" clId="{9AF12651-E492-4749-A948-8FB040B70964}" dt="2024-07-11T01:42:31.374" v="77" actId="20577"/>
          <ac:spMkLst>
            <pc:docMk/>
            <pc:sldMk cId="2437323191" sldId="256"/>
            <ac:spMk id="3" creationId="{96DD8BC4-D539-661E-8A88-53AF6C208F93}"/>
          </ac:spMkLst>
        </pc:spChg>
      </pc:sldChg>
      <pc:sldChg chg="addSp delSp modSp add del mod">
        <pc:chgData name="Dinh Vinh Mai" userId="b8e4a559-41e0-4141-8dc1-330451d69615" providerId="ADAL" clId="{9AF12651-E492-4749-A948-8FB040B70964}" dt="2024-07-11T01:48:04.827" v="216" actId="47"/>
        <pc:sldMkLst>
          <pc:docMk/>
          <pc:sldMk cId="1145363845" sldId="257"/>
        </pc:sldMkLst>
        <pc:spChg chg="del mod">
          <ac:chgData name="Dinh Vinh Mai" userId="b8e4a559-41e0-4141-8dc1-330451d69615" providerId="ADAL" clId="{9AF12651-E492-4749-A948-8FB040B70964}" dt="2024-07-11T01:44:11.394" v="80" actId="478"/>
          <ac:spMkLst>
            <pc:docMk/>
            <pc:sldMk cId="1145363845" sldId="257"/>
            <ac:spMk id="2" creationId="{5F432DBD-CB83-55BD-128C-2C66E47798F8}"/>
          </ac:spMkLst>
        </pc:spChg>
        <pc:spChg chg="mod">
          <ac:chgData name="Dinh Vinh Mai" userId="b8e4a559-41e0-4141-8dc1-330451d69615" providerId="ADAL" clId="{9AF12651-E492-4749-A948-8FB040B70964}" dt="2024-07-11T01:46:05.600" v="116" actId="1076"/>
          <ac:spMkLst>
            <pc:docMk/>
            <pc:sldMk cId="1145363845" sldId="257"/>
            <ac:spMk id="3" creationId="{96DD8BC4-D539-661E-8A88-53AF6C208F93}"/>
          </ac:spMkLst>
        </pc:spChg>
        <pc:spChg chg="add del mod">
          <ac:chgData name="Dinh Vinh Mai" userId="b8e4a559-41e0-4141-8dc1-330451d69615" providerId="ADAL" clId="{9AF12651-E492-4749-A948-8FB040B70964}" dt="2024-07-11T01:47:56.554" v="215" actId="478"/>
          <ac:spMkLst>
            <pc:docMk/>
            <pc:sldMk cId="1145363845" sldId="257"/>
            <ac:spMk id="4" creationId="{BBA13038-CAB8-FCA0-CDE8-65E40C2F10A3}"/>
          </ac:spMkLst>
        </pc:spChg>
      </pc:sldChg>
      <pc:sldChg chg="del">
        <pc:chgData name="Dinh Vinh Mai" userId="b8e4a559-41e0-4141-8dc1-330451d69615" providerId="ADAL" clId="{9AF12651-E492-4749-A948-8FB040B70964}" dt="2024-07-11T01:41:42.792" v="0" actId="47"/>
        <pc:sldMkLst>
          <pc:docMk/>
          <pc:sldMk cId="3564134708" sldId="257"/>
        </pc:sldMkLst>
      </pc:sldChg>
      <pc:sldChg chg="modSp add mod modAnim">
        <pc:chgData name="Dinh Vinh Mai" userId="b8e4a559-41e0-4141-8dc1-330451d69615" providerId="ADAL" clId="{9AF12651-E492-4749-A948-8FB040B70964}" dt="2024-07-11T02:13:51.984" v="3027"/>
        <pc:sldMkLst>
          <pc:docMk/>
          <pc:sldMk cId="715447292" sldId="258"/>
        </pc:sldMkLst>
        <pc:spChg chg="mod">
          <ac:chgData name="Dinh Vinh Mai" userId="b8e4a559-41e0-4141-8dc1-330451d69615" providerId="ADAL" clId="{9AF12651-E492-4749-A948-8FB040B70964}" dt="2024-07-11T02:13:26.874" v="3021" actId="20577"/>
          <ac:spMkLst>
            <pc:docMk/>
            <pc:sldMk cId="715447292" sldId="258"/>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315607852" sldId="258"/>
        </pc:sldMkLst>
      </pc:sldChg>
      <pc:sldChg chg="del">
        <pc:chgData name="Dinh Vinh Mai" userId="b8e4a559-41e0-4141-8dc1-330451d69615" providerId="ADAL" clId="{9AF12651-E492-4749-A948-8FB040B70964}" dt="2024-07-11T01:41:42.792" v="0" actId="47"/>
        <pc:sldMkLst>
          <pc:docMk/>
          <pc:sldMk cId="1400435694" sldId="259"/>
        </pc:sldMkLst>
      </pc:sldChg>
      <pc:sldChg chg="modSp add modAnim">
        <pc:chgData name="Dinh Vinh Mai" userId="b8e4a559-41e0-4141-8dc1-330451d69615" providerId="ADAL" clId="{9AF12651-E492-4749-A948-8FB040B70964}" dt="2024-07-11T08:30:39.020" v="5812"/>
        <pc:sldMkLst>
          <pc:docMk/>
          <pc:sldMk cId="2078495021" sldId="259"/>
        </pc:sldMkLst>
        <pc:spChg chg="mod">
          <ac:chgData name="Dinh Vinh Mai" userId="b8e4a559-41e0-4141-8dc1-330451d69615" providerId="ADAL" clId="{9AF12651-E492-4749-A948-8FB040B70964}" dt="2024-07-11T08:30:19.371" v="5808" actId="20577"/>
          <ac:spMkLst>
            <pc:docMk/>
            <pc:sldMk cId="2078495021" sldId="259"/>
            <ac:spMk id="4" creationId="{BBA13038-CAB8-FCA0-CDE8-65E40C2F10A3}"/>
          </ac:spMkLst>
        </pc:spChg>
      </pc:sldChg>
      <pc:sldChg chg="addSp modSp add mod modAnim">
        <pc:chgData name="Dinh Vinh Mai" userId="b8e4a559-41e0-4141-8dc1-330451d69615" providerId="ADAL" clId="{9AF12651-E492-4749-A948-8FB040B70964}" dt="2024-07-11T08:44:30.109" v="6044" actId="14100"/>
        <pc:sldMkLst>
          <pc:docMk/>
          <pc:sldMk cId="114777668" sldId="260"/>
        </pc:sldMkLst>
        <pc:spChg chg="mod">
          <ac:chgData name="Dinh Vinh Mai" userId="b8e4a559-41e0-4141-8dc1-330451d69615" providerId="ADAL" clId="{9AF12651-E492-4749-A948-8FB040B70964}" dt="2024-07-11T08:33:51.742" v="5824" actId="1076"/>
          <ac:spMkLst>
            <pc:docMk/>
            <pc:sldMk cId="114777668" sldId="260"/>
            <ac:spMk id="3" creationId="{96DD8BC4-D539-661E-8A88-53AF6C208F93}"/>
          </ac:spMkLst>
        </pc:spChg>
        <pc:spChg chg="mod">
          <ac:chgData name="Dinh Vinh Mai" userId="b8e4a559-41e0-4141-8dc1-330451d69615" providerId="ADAL" clId="{9AF12651-E492-4749-A948-8FB040B70964}" dt="2024-07-11T08:32:24.252" v="5814" actId="20577"/>
          <ac:spMkLst>
            <pc:docMk/>
            <pc:sldMk cId="114777668" sldId="260"/>
            <ac:spMk id="4" creationId="{BBA13038-CAB8-FCA0-CDE8-65E40C2F10A3}"/>
          </ac:spMkLst>
        </pc:spChg>
        <pc:spChg chg="add mod">
          <ac:chgData name="Dinh Vinh Mai" userId="b8e4a559-41e0-4141-8dc1-330451d69615" providerId="ADAL" clId="{9AF12651-E492-4749-A948-8FB040B70964}" dt="2024-07-11T08:44:24.609" v="6040" actId="14100"/>
          <ac:spMkLst>
            <pc:docMk/>
            <pc:sldMk cId="114777668" sldId="260"/>
            <ac:spMk id="6" creationId="{4914E028-BBB3-509D-27BD-0D7E14D586F4}"/>
          </ac:spMkLst>
        </pc:spChg>
        <pc:picChg chg="add mod">
          <ac:chgData name="Dinh Vinh Mai" userId="b8e4a559-41e0-4141-8dc1-330451d69615" providerId="ADAL" clId="{9AF12651-E492-4749-A948-8FB040B70964}" dt="2024-07-11T08:44:30.109" v="6044" actId="14100"/>
          <ac:picMkLst>
            <pc:docMk/>
            <pc:sldMk cId="114777668" sldId="260"/>
            <ac:picMk id="5" creationId="{85C0B44A-39CB-36E8-9FE5-05418ECC25C9}"/>
          </ac:picMkLst>
        </pc:picChg>
      </pc:sldChg>
      <pc:sldChg chg="del">
        <pc:chgData name="Dinh Vinh Mai" userId="b8e4a559-41e0-4141-8dc1-330451d69615" providerId="ADAL" clId="{9AF12651-E492-4749-A948-8FB040B70964}" dt="2024-07-11T01:41:42.792" v="0" actId="47"/>
        <pc:sldMkLst>
          <pc:docMk/>
          <pc:sldMk cId="1028437802" sldId="260"/>
        </pc:sldMkLst>
      </pc:sldChg>
      <pc:sldChg chg="del">
        <pc:chgData name="Dinh Vinh Mai" userId="b8e4a559-41e0-4141-8dc1-330451d69615" providerId="ADAL" clId="{9AF12651-E492-4749-A948-8FB040B70964}" dt="2024-07-11T01:41:42.792" v="0" actId="47"/>
        <pc:sldMkLst>
          <pc:docMk/>
          <pc:sldMk cId="315264614" sldId="261"/>
        </pc:sldMkLst>
      </pc:sldChg>
      <pc:sldChg chg="addSp delSp modSp add mod">
        <pc:chgData name="Dinh Vinh Mai" userId="b8e4a559-41e0-4141-8dc1-330451d69615" providerId="ADAL" clId="{9AF12651-E492-4749-A948-8FB040B70964}" dt="2024-07-11T08:56:12.775" v="7015" actId="5793"/>
        <pc:sldMkLst>
          <pc:docMk/>
          <pc:sldMk cId="646613574" sldId="261"/>
        </pc:sldMkLst>
        <pc:spChg chg="mod">
          <ac:chgData name="Dinh Vinh Mai" userId="b8e4a559-41e0-4141-8dc1-330451d69615" providerId="ADAL" clId="{9AF12651-E492-4749-A948-8FB040B70964}" dt="2024-07-11T08:56:12.775" v="7015" actId="5793"/>
          <ac:spMkLst>
            <pc:docMk/>
            <pc:sldMk cId="646613574" sldId="261"/>
            <ac:spMk id="6" creationId="{4914E028-BBB3-509D-27BD-0D7E14D586F4}"/>
          </ac:spMkLst>
        </pc:spChg>
        <pc:picChg chg="del">
          <ac:chgData name="Dinh Vinh Mai" userId="b8e4a559-41e0-4141-8dc1-330451d69615" providerId="ADAL" clId="{9AF12651-E492-4749-A948-8FB040B70964}" dt="2024-07-11T08:44:57.780" v="6049" actId="478"/>
          <ac:picMkLst>
            <pc:docMk/>
            <pc:sldMk cId="646613574" sldId="261"/>
            <ac:picMk id="5" creationId="{85C0B44A-39CB-36E8-9FE5-05418ECC25C9}"/>
          </ac:picMkLst>
        </pc:picChg>
        <pc:picChg chg="add mod">
          <ac:chgData name="Dinh Vinh Mai" userId="b8e4a559-41e0-4141-8dc1-330451d69615" providerId="ADAL" clId="{9AF12651-E492-4749-A948-8FB040B70964}" dt="2024-07-11T08:45:06.295" v="6054" actId="1076"/>
          <ac:picMkLst>
            <pc:docMk/>
            <pc:sldMk cId="646613574" sldId="261"/>
            <ac:picMk id="7" creationId="{DEB481D6-5356-0DD2-3F6F-3A03A44D641A}"/>
          </ac:picMkLst>
        </pc:picChg>
      </pc:sldChg>
      <pc:sldChg chg="del">
        <pc:chgData name="Dinh Vinh Mai" userId="b8e4a559-41e0-4141-8dc1-330451d69615" providerId="ADAL" clId="{9AF12651-E492-4749-A948-8FB040B70964}" dt="2024-07-11T01:41:42.792" v="0" actId="47"/>
        <pc:sldMkLst>
          <pc:docMk/>
          <pc:sldMk cId="2377540471" sldId="262"/>
        </pc:sldMkLst>
      </pc:sldChg>
      <pc:sldChg chg="addSp modSp add mod ord modAnim">
        <pc:chgData name="Dinh Vinh Mai" userId="b8e4a559-41e0-4141-8dc1-330451d69615" providerId="ADAL" clId="{9AF12651-E492-4749-A948-8FB040B70964}" dt="2024-07-11T22:49:23.115" v="11711" actId="20577"/>
        <pc:sldMkLst>
          <pc:docMk/>
          <pc:sldMk cId="2729605296" sldId="262"/>
        </pc:sldMkLst>
        <pc:spChg chg="add mod">
          <ac:chgData name="Dinh Vinh Mai" userId="b8e4a559-41e0-4141-8dc1-330451d69615" providerId="ADAL" clId="{9AF12651-E492-4749-A948-8FB040B70964}" dt="2024-07-11T22:49:23.115" v="11711" actId="20577"/>
          <ac:spMkLst>
            <pc:docMk/>
            <pc:sldMk cId="2729605296" sldId="262"/>
            <ac:spMk id="2" creationId="{98D47709-0A78-AACC-5CCE-FD59A7D17E27}"/>
          </ac:spMkLst>
        </pc:spChg>
        <pc:spChg chg="mod">
          <ac:chgData name="Dinh Vinh Mai" userId="b8e4a559-41e0-4141-8dc1-330451d69615" providerId="ADAL" clId="{9AF12651-E492-4749-A948-8FB040B70964}" dt="2024-07-11T09:05:22.824" v="7310" actId="20577"/>
          <ac:spMkLst>
            <pc:docMk/>
            <pc:sldMk cId="2729605296" sldId="262"/>
            <ac:spMk id="3" creationId="{96DD8BC4-D539-661E-8A88-53AF6C208F93}"/>
          </ac:spMkLst>
        </pc:spChg>
        <pc:spChg chg="mod">
          <ac:chgData name="Dinh Vinh Mai" userId="b8e4a559-41e0-4141-8dc1-330451d69615" providerId="ADAL" clId="{9AF12651-E492-4749-A948-8FB040B70964}" dt="2024-07-11T09:05:04.583" v="7283" actId="20577"/>
          <ac:spMkLst>
            <pc:docMk/>
            <pc:sldMk cId="2729605296" sldId="262"/>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501040282" sldId="263"/>
        </pc:sldMkLst>
      </pc:sldChg>
      <pc:sldChg chg="add ord">
        <pc:chgData name="Dinh Vinh Mai" userId="b8e4a559-41e0-4141-8dc1-330451d69615" providerId="ADAL" clId="{9AF12651-E492-4749-A948-8FB040B70964}" dt="2024-07-11T22:49:33.159" v="11713"/>
        <pc:sldMkLst>
          <pc:docMk/>
          <pc:sldMk cId="2236708295" sldId="263"/>
        </pc:sldMkLst>
      </pc:sldChg>
      <pc:sldChg chg="add del ord">
        <pc:chgData name="Dinh Vinh Mai" userId="b8e4a559-41e0-4141-8dc1-330451d69615" providerId="ADAL" clId="{9AF12651-E492-4749-A948-8FB040B70964}" dt="2024-07-11T09:05:35.894" v="7314" actId="47"/>
        <pc:sldMkLst>
          <pc:docMk/>
          <pc:sldMk cId="2960663922" sldId="263"/>
        </pc:sldMkLst>
      </pc:sldChg>
      <pc:sldChg chg="modSp add modAnim">
        <pc:chgData name="Dinh Vinh Mai" userId="b8e4a559-41e0-4141-8dc1-330451d69615" providerId="ADAL" clId="{9AF12651-E492-4749-A948-8FB040B70964}" dt="2024-07-11T23:16:27.961" v="14529" actId="207"/>
        <pc:sldMkLst>
          <pc:docMk/>
          <pc:sldMk cId="193709571" sldId="264"/>
        </pc:sldMkLst>
        <pc:spChg chg="mod">
          <ac:chgData name="Dinh Vinh Mai" userId="b8e4a559-41e0-4141-8dc1-330451d69615" providerId="ADAL" clId="{9AF12651-E492-4749-A948-8FB040B70964}" dt="2024-07-11T23:16:27.961" v="14529" actId="207"/>
          <ac:spMkLst>
            <pc:docMk/>
            <pc:sldMk cId="193709571" sldId="264"/>
            <ac:spMk id="2" creationId="{98D47709-0A78-AACC-5CCE-FD59A7D17E27}"/>
          </ac:spMkLst>
        </pc:spChg>
      </pc:sldChg>
      <pc:sldChg chg="del">
        <pc:chgData name="Dinh Vinh Mai" userId="b8e4a559-41e0-4141-8dc1-330451d69615" providerId="ADAL" clId="{9AF12651-E492-4749-A948-8FB040B70964}" dt="2024-07-11T01:41:42.792" v="0" actId="47"/>
        <pc:sldMkLst>
          <pc:docMk/>
          <pc:sldMk cId="364621379" sldId="264"/>
        </pc:sldMkLst>
      </pc:sldChg>
      <pc:sldChg chg="modSp add mod modAnim">
        <pc:chgData name="Dinh Vinh Mai" userId="b8e4a559-41e0-4141-8dc1-330451d69615" providerId="ADAL" clId="{9AF12651-E492-4749-A948-8FB040B70964}" dt="2024-07-11T23:31:06.508" v="15304" actId="20577"/>
        <pc:sldMkLst>
          <pc:docMk/>
          <pc:sldMk cId="3978505155" sldId="265"/>
        </pc:sldMkLst>
        <pc:spChg chg="mod">
          <ac:chgData name="Dinh Vinh Mai" userId="b8e4a559-41e0-4141-8dc1-330451d69615" providerId="ADAL" clId="{9AF12651-E492-4749-A948-8FB040B70964}" dt="2024-07-11T23:31:06.508" v="15304" actId="20577"/>
          <ac:spMkLst>
            <pc:docMk/>
            <pc:sldMk cId="3978505155" sldId="265"/>
            <ac:spMk id="2" creationId="{98D47709-0A78-AACC-5CCE-FD59A7D17E27}"/>
          </ac:spMkLst>
        </pc:spChg>
        <pc:spChg chg="mod">
          <ac:chgData name="Dinh Vinh Mai" userId="b8e4a559-41e0-4141-8dc1-330451d69615" providerId="ADAL" clId="{9AF12651-E492-4749-A948-8FB040B70964}" dt="2024-07-11T23:21:20.391" v="14574" actId="20577"/>
          <ac:spMkLst>
            <pc:docMk/>
            <pc:sldMk cId="3978505155" sldId="265"/>
            <ac:spMk id="3" creationId="{96DD8BC4-D539-661E-8A88-53AF6C208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24/1/26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7630-52AC-6850-F366-337DC0C7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D3F92-4320-FB05-41D9-3C2533839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5BA21-5291-00B1-DDA1-5A26DC3A8D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29C4681-FA83-498B-F24F-3CAA3CBE94CE}"/>
              </a:ext>
            </a:extLst>
          </p:cNvPr>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77620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F4F48-EC0E-4D8E-C8A7-461563C26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7E51E-557F-204C-F816-05E883FB8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5FD9C-B0AA-09E4-658D-FF24FFE7943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0929497-B653-BDD0-1422-848A0DA42A56}"/>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69977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CFF8-2862-A1F8-8E76-08C152024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2A0E4-90D3-9362-2924-3D314EB5C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F5ED3-EFA3-E21C-137D-39D4E2DB6A6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FBA71D7-F041-43E4-2EE2-260FC442BF01}"/>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2671721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A3F03-53E5-8D6C-2F9F-36B83D4CA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778B0-7D00-76DC-C051-C259E5E1C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8E8CB-ADAD-F6DA-87BF-5D891FC17F9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91C77F3-F950-B248-190F-A2B8DB88B785}"/>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1234045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F780D-834E-6A44-780C-EED1B9951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68FE-F492-31D1-B18E-60E66AF51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6B0409-783F-BEEC-81C1-8CCBA430139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77C5446-3481-FCC7-09DB-F7934CDD2A3D}"/>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967861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E64E-2CCE-5D4B-C7B3-F08015222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F01A2-F380-62E7-0979-1F49D15DD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692F9-6241-A8DB-9E3D-BC2ED3FFE55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DE5B41D-FD58-2169-51D9-814733A6F979}"/>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438971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3A72F-582C-3A79-DA94-DA020D38F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EFCAF-14D7-F557-F152-931A278D1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80A5B-7D6C-C561-6AF8-FDE96E44E0E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81FBD30-7F6D-F00C-DEEE-158EC0289259}"/>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2522073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15BC-BACE-B58D-BD5D-740AA4CAD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C970C-19B1-2C3C-8D35-3E79F0DE7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AA0BA-CB7C-BDE5-904F-96FBBC8F7D6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4CF81D0-27C4-280D-CF94-320500F922DA}"/>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1757223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2C49-16D8-30BA-E9DC-CDDED9F98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18958-8198-BD4F-04DB-80FF63E2A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02E56-24FD-6887-CD83-BDDCB269BBD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348DAEA-2DB7-FB9D-A688-1D0476DE4896}"/>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2303112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5275E-D09D-FCFD-1220-CCFED7DC6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6ABB9-88C9-C78C-859B-3E4072357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B07D4-6DBF-95B1-2EFA-6C78B66C636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FED93B4-C2AD-1F24-13C7-8BD38B8AF82F}"/>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516735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5EF39-B81F-99F5-35FB-F69313A23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26A54-0C0D-F729-0BE4-EB6A0B315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BDB06-1175-CD6C-9ECD-E36EDDBDEB2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DF750EC-9607-B466-B987-EECE5A6D9AA5}"/>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933519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66B5-26FC-4743-297E-9B55538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760FF-D8BA-5139-08A0-B5516EA5E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D9A78-AA95-9CEF-BBEE-6CDC27F044A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0EAADDB-AC93-0F73-7BEB-84326B4E4B3D}"/>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2345127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336A3-912A-451E-476E-58313D1A4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BDC7A-FECD-1791-2041-1C01EC724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EAC82-390D-5545-D56E-FF2F378D45E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F191495-7371-24B1-FFBF-6B504E05E7D9}"/>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2496084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B6F6F-574B-F9A1-7CCD-E9C8AF3C8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76C06-65CD-8F9B-DF41-5B7BBAF33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E2E89-5CEB-34FA-46BC-C27B96B3B44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34AC39-385B-7B34-72A3-4A3A89993F53}"/>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3161502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35227-D819-BB32-C087-F747144A7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D1F25-DF9B-A8BF-4872-DFC465B26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864F4-8979-AD1D-C3A5-0DC090F7C48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3675D44-FB1C-D806-F4E5-29D18B4327EC}"/>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2019436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DDE2E-2932-2BD2-85A3-7B320107C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4EDCA-0755-72E6-965F-2EEF19896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931FA-9EE0-31D4-AEBA-F2917BA85E8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E7060B4-E471-BCC6-DFA1-4C8029136D1E}"/>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1850090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227BF-BBD1-DDA4-5508-57A50F823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5E445-930A-F853-3D1A-4E60490D2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0D5E5-3A39-E941-3CB8-99B8DD44A6B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EC51220-23A0-DD9C-1D24-E07F63C85AB7}"/>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3640024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BB94-8B19-B1F0-97C8-524A9F997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97FEB-776F-4C5C-510B-BEB3EAAB8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8E1C-ED3D-2D08-AAD9-79A073C5D34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6796BCA-18E5-3E0D-6C15-11566B70BF96}"/>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3287361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9C6F3-84C6-1C8A-A65A-EB66D26AE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379FA-6783-4C6D-1EC5-A00C2448F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6003B-7D56-8F14-FE9A-E4429A6E51C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E5F4D8B-6E04-22E1-C7CD-FB4E280EBF15}"/>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2810281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60A76-B548-9D9E-C615-384D1CBFE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0A1F2-A10A-59D9-FC27-41CB0C788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80608-30DC-B811-4C10-13E581B9DC1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895A891-AB11-7DB4-425B-76558969B850}"/>
              </a:ext>
            </a:extLst>
          </p:cNvPr>
          <p:cNvSpPr>
            <a:spLocks noGrp="1"/>
          </p:cNvSpPr>
          <p:nvPr>
            <p:ph type="sldNum" sz="quarter" idx="5"/>
          </p:nvPr>
        </p:nvSpPr>
        <p:spPr/>
        <p:txBody>
          <a:bodyPr/>
          <a:lstStyle/>
          <a:p>
            <a:fld id="{576FF3D1-0F45-2240-9B47-75654C02E24A}" type="slidenum">
              <a:t>21</a:t>
            </a:fld>
            <a:endParaRPr lang="en-VN"/>
          </a:p>
        </p:txBody>
      </p:sp>
    </p:spTree>
    <p:extLst>
      <p:ext uri="{BB962C8B-B14F-4D97-AF65-F5344CB8AC3E}">
        <p14:creationId xmlns:p14="http://schemas.microsoft.com/office/powerpoint/2010/main" val="1259536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1EF5F-69DF-76D5-6CE3-73892A7A7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873FC-2889-1D29-598A-ACBFBD471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70F2D-527F-B482-B019-A2193FD8D19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39B3F30-20C3-BA61-FCF4-4FBBF84D63DC}"/>
              </a:ext>
            </a:extLst>
          </p:cNvPr>
          <p:cNvSpPr>
            <a:spLocks noGrp="1"/>
          </p:cNvSpPr>
          <p:nvPr>
            <p:ph type="sldNum" sz="quarter" idx="5"/>
          </p:nvPr>
        </p:nvSpPr>
        <p:spPr/>
        <p:txBody>
          <a:bodyPr/>
          <a:lstStyle/>
          <a:p>
            <a:fld id="{576FF3D1-0F45-2240-9B47-75654C02E24A}" type="slidenum">
              <a:t>22</a:t>
            </a:fld>
            <a:endParaRPr lang="en-VN"/>
          </a:p>
        </p:txBody>
      </p:sp>
    </p:spTree>
    <p:extLst>
      <p:ext uri="{BB962C8B-B14F-4D97-AF65-F5344CB8AC3E}">
        <p14:creationId xmlns:p14="http://schemas.microsoft.com/office/powerpoint/2010/main" val="38804249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B9DB3-38FD-1A42-62B5-9B2EA498D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D32D9-F7B1-1CA4-9B86-2856E8109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F947D-7F2F-B5E7-8199-F9E781CA81D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A92D522-5B48-F2CE-31FE-9EADCB6D3BE4}"/>
              </a:ext>
            </a:extLst>
          </p:cNvPr>
          <p:cNvSpPr>
            <a:spLocks noGrp="1"/>
          </p:cNvSpPr>
          <p:nvPr>
            <p:ph type="sldNum" sz="quarter" idx="5"/>
          </p:nvPr>
        </p:nvSpPr>
        <p:spPr/>
        <p:txBody>
          <a:bodyPr/>
          <a:lstStyle/>
          <a:p>
            <a:fld id="{576FF3D1-0F45-2240-9B47-75654C02E24A}" type="slidenum">
              <a:t>23</a:t>
            </a:fld>
            <a:endParaRPr lang="en-VN"/>
          </a:p>
        </p:txBody>
      </p:sp>
    </p:spTree>
    <p:extLst>
      <p:ext uri="{BB962C8B-B14F-4D97-AF65-F5344CB8AC3E}">
        <p14:creationId xmlns:p14="http://schemas.microsoft.com/office/powerpoint/2010/main" val="23300248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D3FE2-0F78-936C-D6AA-06DB60E21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220C6-50EB-33E8-07D0-553C0112A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D3F71-7630-2CD7-515F-4509557D663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68A8077-7027-4C04-FC01-6884D5BAA34A}"/>
              </a:ext>
            </a:extLst>
          </p:cNvPr>
          <p:cNvSpPr>
            <a:spLocks noGrp="1"/>
          </p:cNvSpPr>
          <p:nvPr>
            <p:ph type="sldNum" sz="quarter" idx="5"/>
          </p:nvPr>
        </p:nvSpPr>
        <p:spPr/>
        <p:txBody>
          <a:bodyPr/>
          <a:lstStyle/>
          <a:p>
            <a:fld id="{576FF3D1-0F45-2240-9B47-75654C02E24A}" type="slidenum">
              <a:t>24</a:t>
            </a:fld>
            <a:endParaRPr lang="en-VN"/>
          </a:p>
        </p:txBody>
      </p:sp>
    </p:spTree>
    <p:extLst>
      <p:ext uri="{BB962C8B-B14F-4D97-AF65-F5344CB8AC3E}">
        <p14:creationId xmlns:p14="http://schemas.microsoft.com/office/powerpoint/2010/main" val="6571877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7EF82-87C4-1266-7EAC-2A12D2F7C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6366C-47AE-133E-960E-281330C16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0E03C-84D8-57C6-39F1-776AF0D0D23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32CA8FB-C931-B6C8-E10C-51A039EDD8C7}"/>
              </a:ext>
            </a:extLst>
          </p:cNvPr>
          <p:cNvSpPr>
            <a:spLocks noGrp="1"/>
          </p:cNvSpPr>
          <p:nvPr>
            <p:ph type="sldNum" sz="quarter" idx="5"/>
          </p:nvPr>
        </p:nvSpPr>
        <p:spPr/>
        <p:txBody>
          <a:bodyPr/>
          <a:lstStyle/>
          <a:p>
            <a:fld id="{576FF3D1-0F45-2240-9B47-75654C02E24A}" type="slidenum">
              <a:t>25</a:t>
            </a:fld>
            <a:endParaRPr lang="en-VN"/>
          </a:p>
        </p:txBody>
      </p:sp>
    </p:spTree>
    <p:extLst>
      <p:ext uri="{BB962C8B-B14F-4D97-AF65-F5344CB8AC3E}">
        <p14:creationId xmlns:p14="http://schemas.microsoft.com/office/powerpoint/2010/main" val="390994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EF531-557C-D324-ABAE-132B04314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E237E-DDA9-3E1A-00EB-8883E15EB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8E80C-9BD4-1CF9-D388-29DC0C7BEE4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36626A5-BC68-2F30-226B-B15ECA1842CF}"/>
              </a:ext>
            </a:extLst>
          </p:cNvPr>
          <p:cNvSpPr>
            <a:spLocks noGrp="1"/>
          </p:cNvSpPr>
          <p:nvPr>
            <p:ph type="sldNum" sz="quarter" idx="5"/>
          </p:nvPr>
        </p:nvSpPr>
        <p:spPr/>
        <p:txBody>
          <a:bodyPr/>
          <a:lstStyle/>
          <a:p>
            <a:fld id="{576FF3D1-0F45-2240-9B47-75654C02E24A}" type="slidenum">
              <a:t>26</a:t>
            </a:fld>
            <a:endParaRPr lang="en-VN"/>
          </a:p>
        </p:txBody>
      </p:sp>
    </p:spTree>
    <p:extLst>
      <p:ext uri="{BB962C8B-B14F-4D97-AF65-F5344CB8AC3E}">
        <p14:creationId xmlns:p14="http://schemas.microsoft.com/office/powerpoint/2010/main" val="3267490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98647-2CF3-34BC-02DD-9D282984A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DB9D4-E1D3-428D-6213-8416A1E60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16900-C42F-7DA7-598C-5F9E3DE488A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07EE92B-DD40-F0F9-CBC2-F0763A8ADB16}"/>
              </a:ext>
            </a:extLst>
          </p:cNvPr>
          <p:cNvSpPr>
            <a:spLocks noGrp="1"/>
          </p:cNvSpPr>
          <p:nvPr>
            <p:ph type="sldNum" sz="quarter" idx="5"/>
          </p:nvPr>
        </p:nvSpPr>
        <p:spPr/>
        <p:txBody>
          <a:bodyPr/>
          <a:lstStyle/>
          <a:p>
            <a:fld id="{576FF3D1-0F45-2240-9B47-75654C02E24A}" type="slidenum">
              <a:t>27</a:t>
            </a:fld>
            <a:endParaRPr lang="en-VN"/>
          </a:p>
        </p:txBody>
      </p:sp>
    </p:spTree>
    <p:extLst>
      <p:ext uri="{BB962C8B-B14F-4D97-AF65-F5344CB8AC3E}">
        <p14:creationId xmlns:p14="http://schemas.microsoft.com/office/powerpoint/2010/main" val="62400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B3B42-5658-9BD4-467A-878ACC3C3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5F506-1C46-DC1D-6CA0-B50AF65C7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80D33-4F7C-EA65-B4B9-5778B1212C4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A5BCD9F-7040-E731-F8B8-0E454F200ECD}"/>
              </a:ext>
            </a:extLst>
          </p:cNvPr>
          <p:cNvSpPr>
            <a:spLocks noGrp="1"/>
          </p:cNvSpPr>
          <p:nvPr>
            <p:ph type="sldNum" sz="quarter" idx="5"/>
          </p:nvPr>
        </p:nvSpPr>
        <p:spPr/>
        <p:txBody>
          <a:bodyPr/>
          <a:lstStyle/>
          <a:p>
            <a:fld id="{576FF3D1-0F45-2240-9B47-75654C02E24A}" type="slidenum">
              <a:t>28</a:t>
            </a:fld>
            <a:endParaRPr lang="en-VN"/>
          </a:p>
        </p:txBody>
      </p:sp>
    </p:spTree>
    <p:extLst>
      <p:ext uri="{BB962C8B-B14F-4D97-AF65-F5344CB8AC3E}">
        <p14:creationId xmlns:p14="http://schemas.microsoft.com/office/powerpoint/2010/main" val="2224487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C8A28-D733-FEA2-4C46-D48FFA2BF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F6B28-A164-EB48-5CAA-B05BEA39D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804FC-3841-1A26-1DF4-696AD454421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8DD3D4E-35EF-AD64-F684-9AFCCB40D4B9}"/>
              </a:ext>
            </a:extLst>
          </p:cNvPr>
          <p:cNvSpPr>
            <a:spLocks noGrp="1"/>
          </p:cNvSpPr>
          <p:nvPr>
            <p:ph type="sldNum" sz="quarter" idx="5"/>
          </p:nvPr>
        </p:nvSpPr>
        <p:spPr/>
        <p:txBody>
          <a:bodyPr/>
          <a:lstStyle/>
          <a:p>
            <a:fld id="{576FF3D1-0F45-2240-9B47-75654C02E24A}" type="slidenum">
              <a:t>29</a:t>
            </a:fld>
            <a:endParaRPr lang="en-VN"/>
          </a:p>
        </p:txBody>
      </p:sp>
    </p:spTree>
    <p:extLst>
      <p:ext uri="{BB962C8B-B14F-4D97-AF65-F5344CB8AC3E}">
        <p14:creationId xmlns:p14="http://schemas.microsoft.com/office/powerpoint/2010/main" val="3592809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6111C-377B-BDC1-F41F-3F680FD69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F2EF6-E7B5-099C-D148-1222EDB1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E6472-9176-F358-88F6-BEC8BF217CC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297A7E8-E52A-8F04-E6A9-AA679EFB609A}"/>
              </a:ext>
            </a:extLst>
          </p:cNvPr>
          <p:cNvSpPr>
            <a:spLocks noGrp="1"/>
          </p:cNvSpPr>
          <p:nvPr>
            <p:ph type="sldNum" sz="quarter" idx="5"/>
          </p:nvPr>
        </p:nvSpPr>
        <p:spPr/>
        <p:txBody>
          <a:bodyPr/>
          <a:lstStyle/>
          <a:p>
            <a:fld id="{576FF3D1-0F45-2240-9B47-75654C02E24A}" type="slidenum">
              <a:t>30</a:t>
            </a:fld>
            <a:endParaRPr lang="en-VN"/>
          </a:p>
        </p:txBody>
      </p:sp>
    </p:spTree>
    <p:extLst>
      <p:ext uri="{BB962C8B-B14F-4D97-AF65-F5344CB8AC3E}">
        <p14:creationId xmlns:p14="http://schemas.microsoft.com/office/powerpoint/2010/main" val="3352711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9B7B0-0EE7-14B2-50D6-C3EFE4A39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33B73-B8F6-AC11-CC1A-24E964EAD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D614E-7FF3-8EBB-B2B3-BF080AAAC75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92029FD-37D5-73C3-AF97-D1514F7FD848}"/>
              </a:ext>
            </a:extLst>
          </p:cNvPr>
          <p:cNvSpPr>
            <a:spLocks noGrp="1"/>
          </p:cNvSpPr>
          <p:nvPr>
            <p:ph type="sldNum" sz="quarter" idx="5"/>
          </p:nvPr>
        </p:nvSpPr>
        <p:spPr/>
        <p:txBody>
          <a:bodyPr/>
          <a:lstStyle/>
          <a:p>
            <a:fld id="{576FF3D1-0F45-2240-9B47-75654C02E24A}" type="slidenum">
              <a:t>31</a:t>
            </a:fld>
            <a:endParaRPr lang="en-VN"/>
          </a:p>
        </p:txBody>
      </p:sp>
    </p:spTree>
    <p:extLst>
      <p:ext uri="{BB962C8B-B14F-4D97-AF65-F5344CB8AC3E}">
        <p14:creationId xmlns:p14="http://schemas.microsoft.com/office/powerpoint/2010/main" val="716085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C402-12BF-A7CB-0996-9814FEC33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BB11C-956B-F936-0DDC-E9145C58F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17B70-14B5-DAF1-7E7B-DBA888AB93A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FF5EB37-7504-6FD7-15CB-D3F857FEC81C}"/>
              </a:ext>
            </a:extLst>
          </p:cNvPr>
          <p:cNvSpPr>
            <a:spLocks noGrp="1"/>
          </p:cNvSpPr>
          <p:nvPr>
            <p:ph type="sldNum" sz="quarter" idx="5"/>
          </p:nvPr>
        </p:nvSpPr>
        <p:spPr/>
        <p:txBody>
          <a:bodyPr/>
          <a:lstStyle/>
          <a:p>
            <a:fld id="{576FF3D1-0F45-2240-9B47-75654C02E24A}" type="slidenum">
              <a:t>32</a:t>
            </a:fld>
            <a:endParaRPr lang="en-VN"/>
          </a:p>
        </p:txBody>
      </p:sp>
    </p:spTree>
    <p:extLst>
      <p:ext uri="{BB962C8B-B14F-4D97-AF65-F5344CB8AC3E}">
        <p14:creationId xmlns:p14="http://schemas.microsoft.com/office/powerpoint/2010/main" val="15934134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45D30-AB7C-9708-E2B9-18FAF771C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DA24B-BD70-83B3-FE24-67A04D903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E0F3A-FD96-0190-C618-2D3C416E45D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48B69B5-4264-CF10-B6CB-EB1ACC1AA299}"/>
              </a:ext>
            </a:extLst>
          </p:cNvPr>
          <p:cNvSpPr>
            <a:spLocks noGrp="1"/>
          </p:cNvSpPr>
          <p:nvPr>
            <p:ph type="sldNum" sz="quarter" idx="5"/>
          </p:nvPr>
        </p:nvSpPr>
        <p:spPr/>
        <p:txBody>
          <a:bodyPr/>
          <a:lstStyle/>
          <a:p>
            <a:fld id="{576FF3D1-0F45-2240-9B47-75654C02E24A}" type="slidenum">
              <a:t>33</a:t>
            </a:fld>
            <a:endParaRPr lang="en-VN"/>
          </a:p>
        </p:txBody>
      </p:sp>
    </p:spTree>
    <p:extLst>
      <p:ext uri="{BB962C8B-B14F-4D97-AF65-F5344CB8AC3E}">
        <p14:creationId xmlns:p14="http://schemas.microsoft.com/office/powerpoint/2010/main" val="1401688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B27D9-2F58-A39F-4F92-83311D2A9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4B0FC-E6A7-03F0-D337-F79C6EC32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A8F80-9686-4CBB-2F6F-125CC28CAFD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B836381-2228-C1EA-A8BA-6BBB1D6013F9}"/>
              </a:ext>
            </a:extLst>
          </p:cNvPr>
          <p:cNvSpPr>
            <a:spLocks noGrp="1"/>
          </p:cNvSpPr>
          <p:nvPr>
            <p:ph type="sldNum" sz="quarter" idx="5"/>
          </p:nvPr>
        </p:nvSpPr>
        <p:spPr/>
        <p:txBody>
          <a:bodyPr/>
          <a:lstStyle/>
          <a:p>
            <a:fld id="{576FF3D1-0F45-2240-9B47-75654C02E24A}" type="slidenum">
              <a:t>34</a:t>
            </a:fld>
            <a:endParaRPr lang="en-VN"/>
          </a:p>
        </p:txBody>
      </p:sp>
    </p:spTree>
    <p:extLst>
      <p:ext uri="{BB962C8B-B14F-4D97-AF65-F5344CB8AC3E}">
        <p14:creationId xmlns:p14="http://schemas.microsoft.com/office/powerpoint/2010/main" val="29158289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BCC2-C779-CC6F-AE87-032DAE2F7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49BA-AF80-933D-48EF-271E6E528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DF559-335D-A467-9778-0FA668773CF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9C0551F-2F42-775F-7B52-23C8B2E1A6F5}"/>
              </a:ext>
            </a:extLst>
          </p:cNvPr>
          <p:cNvSpPr>
            <a:spLocks noGrp="1"/>
          </p:cNvSpPr>
          <p:nvPr>
            <p:ph type="sldNum" sz="quarter" idx="5"/>
          </p:nvPr>
        </p:nvSpPr>
        <p:spPr/>
        <p:txBody>
          <a:bodyPr/>
          <a:lstStyle/>
          <a:p>
            <a:fld id="{576FF3D1-0F45-2240-9B47-75654C02E24A}" type="slidenum">
              <a:t>35</a:t>
            </a:fld>
            <a:endParaRPr lang="en-VN"/>
          </a:p>
        </p:txBody>
      </p:sp>
    </p:spTree>
    <p:extLst>
      <p:ext uri="{BB962C8B-B14F-4D97-AF65-F5344CB8AC3E}">
        <p14:creationId xmlns:p14="http://schemas.microsoft.com/office/powerpoint/2010/main" val="3640287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9F48E-7B9D-BE58-5BDF-1CDD1B2BC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C899A-669F-9A4E-927F-D8136E47C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A248A-9D74-DAEC-A360-852DB2803CD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910CD5-6BFD-F885-C136-742F580B0B79}"/>
              </a:ext>
            </a:extLst>
          </p:cNvPr>
          <p:cNvSpPr>
            <a:spLocks noGrp="1"/>
          </p:cNvSpPr>
          <p:nvPr>
            <p:ph type="sldNum" sz="quarter" idx="5"/>
          </p:nvPr>
        </p:nvSpPr>
        <p:spPr/>
        <p:txBody>
          <a:bodyPr/>
          <a:lstStyle/>
          <a:p>
            <a:fld id="{576FF3D1-0F45-2240-9B47-75654C02E24A}" type="slidenum">
              <a:t>36</a:t>
            </a:fld>
            <a:endParaRPr lang="en-VN"/>
          </a:p>
        </p:txBody>
      </p:sp>
    </p:spTree>
    <p:extLst>
      <p:ext uri="{BB962C8B-B14F-4D97-AF65-F5344CB8AC3E}">
        <p14:creationId xmlns:p14="http://schemas.microsoft.com/office/powerpoint/2010/main" val="8263068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E5B95-C7E0-0481-68EA-54DCEB767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6883B-DB90-4F3D-D741-DBD0018E1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F7A84-BCA9-0F8F-9EB4-AF086715F1F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8F5BDC2-AC19-DAC2-BD49-B5A8E803545D}"/>
              </a:ext>
            </a:extLst>
          </p:cNvPr>
          <p:cNvSpPr>
            <a:spLocks noGrp="1"/>
          </p:cNvSpPr>
          <p:nvPr>
            <p:ph type="sldNum" sz="quarter" idx="5"/>
          </p:nvPr>
        </p:nvSpPr>
        <p:spPr/>
        <p:txBody>
          <a:bodyPr/>
          <a:lstStyle/>
          <a:p>
            <a:fld id="{576FF3D1-0F45-2240-9B47-75654C02E24A}" type="slidenum">
              <a:t>37</a:t>
            </a:fld>
            <a:endParaRPr lang="en-VN"/>
          </a:p>
        </p:txBody>
      </p:sp>
    </p:spTree>
    <p:extLst>
      <p:ext uri="{BB962C8B-B14F-4D97-AF65-F5344CB8AC3E}">
        <p14:creationId xmlns:p14="http://schemas.microsoft.com/office/powerpoint/2010/main" val="38802457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502E7-4D2D-0499-186C-DF8B6E055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EB02C-509C-5AF4-3F5D-887CAD623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F6BA-43D1-2DB1-4252-CB57482E0D5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C5F52C5-9882-FDE8-A6AE-1260E15DC574}"/>
              </a:ext>
            </a:extLst>
          </p:cNvPr>
          <p:cNvSpPr>
            <a:spLocks noGrp="1"/>
          </p:cNvSpPr>
          <p:nvPr>
            <p:ph type="sldNum" sz="quarter" idx="5"/>
          </p:nvPr>
        </p:nvSpPr>
        <p:spPr/>
        <p:txBody>
          <a:bodyPr/>
          <a:lstStyle/>
          <a:p>
            <a:fld id="{576FF3D1-0F45-2240-9B47-75654C02E24A}" type="slidenum">
              <a:t>38</a:t>
            </a:fld>
            <a:endParaRPr lang="en-VN"/>
          </a:p>
        </p:txBody>
      </p:sp>
    </p:spTree>
    <p:extLst>
      <p:ext uri="{BB962C8B-B14F-4D97-AF65-F5344CB8AC3E}">
        <p14:creationId xmlns:p14="http://schemas.microsoft.com/office/powerpoint/2010/main" val="2856888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B79C-AF72-89BA-7B20-0F9817FDF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FAB9B-C3CA-1EB2-C529-21888BDD3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291EC-7A18-73E2-7A0C-15B5C84B2D7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4641ABF-54DE-143E-927D-CB5DF315D38D}"/>
              </a:ext>
            </a:extLst>
          </p:cNvPr>
          <p:cNvSpPr>
            <a:spLocks noGrp="1"/>
          </p:cNvSpPr>
          <p:nvPr>
            <p:ph type="sldNum" sz="quarter" idx="5"/>
          </p:nvPr>
        </p:nvSpPr>
        <p:spPr/>
        <p:txBody>
          <a:bodyPr/>
          <a:lstStyle/>
          <a:p>
            <a:fld id="{576FF3D1-0F45-2240-9B47-75654C02E24A}" type="slidenum">
              <a:t>39</a:t>
            </a:fld>
            <a:endParaRPr lang="en-VN"/>
          </a:p>
        </p:txBody>
      </p:sp>
    </p:spTree>
    <p:extLst>
      <p:ext uri="{BB962C8B-B14F-4D97-AF65-F5344CB8AC3E}">
        <p14:creationId xmlns:p14="http://schemas.microsoft.com/office/powerpoint/2010/main" val="42527781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BE034-E95D-B6EE-540A-6B10CDB81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C6ED-C24F-AC4D-CB11-CAC4933B1C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DA126-EBB2-F023-E11F-473535FDB50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05F9784-C796-E4AF-B1F3-33DAD25ABD56}"/>
              </a:ext>
            </a:extLst>
          </p:cNvPr>
          <p:cNvSpPr>
            <a:spLocks noGrp="1"/>
          </p:cNvSpPr>
          <p:nvPr>
            <p:ph type="sldNum" sz="quarter" idx="5"/>
          </p:nvPr>
        </p:nvSpPr>
        <p:spPr/>
        <p:txBody>
          <a:bodyPr/>
          <a:lstStyle/>
          <a:p>
            <a:fld id="{576FF3D1-0F45-2240-9B47-75654C02E24A}" type="slidenum">
              <a:t>40</a:t>
            </a:fld>
            <a:endParaRPr lang="en-VN"/>
          </a:p>
        </p:txBody>
      </p:sp>
    </p:spTree>
    <p:extLst>
      <p:ext uri="{BB962C8B-B14F-4D97-AF65-F5344CB8AC3E}">
        <p14:creationId xmlns:p14="http://schemas.microsoft.com/office/powerpoint/2010/main" val="1339790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1/24/26</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Chapter 15 -JDBC</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AB38-D48E-0EE4-3D3B-5EA15FFD2C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044ECB-DB4F-474E-E686-B7BB6006BE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2D7D3C87-23C8-5412-EC56-7DDC7DDE941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For an experienced Developer</a:t>
            </a:r>
          </a:p>
          <a:p>
            <a:pPr algn="l"/>
            <a:r>
              <a:rPr lang="en-US" sz="1800">
                <a:sym typeface="Wingdings" pitchFamily="2" charset="2"/>
              </a:rPr>
              <a:t>- There are ... topics that will be covered in the exam</a:t>
            </a:r>
          </a:p>
          <a:p>
            <a:pPr algn="l"/>
            <a:r>
              <a:rPr lang="en-US" sz="1800">
                <a:sym typeface="Wingdings" pitchFamily="2" charset="2"/>
              </a:rPr>
              <a:t>+) How to setup a ... and understand what ... </a:t>
            </a:r>
          </a:p>
          <a:p>
            <a:pPr algn="l"/>
            <a:r>
              <a:rPr lang="en-US" sz="1800">
                <a:sym typeface="Wingdings" pitchFamily="2" charset="2"/>
              </a:rPr>
              <a:t>+) Understand what is ...</a:t>
            </a:r>
          </a:p>
          <a:p>
            <a:pPr algn="l"/>
            <a:r>
              <a:rPr lang="en-US" sz="1800" b="1">
                <a:sym typeface="Wingdings" pitchFamily="2" charset="2"/>
              </a:rPr>
              <a:t>Introducing Relational Databases and SQL</a:t>
            </a:r>
          </a:p>
          <a:p>
            <a:pPr algn="l"/>
            <a:r>
              <a:rPr lang="en-US" sz="1800">
                <a:sym typeface="Wingdings" pitchFamily="2" charset="2"/>
              </a:rPr>
              <a:t>- ... is information. Each ... facts (for example, your first name)</a:t>
            </a:r>
          </a:p>
          <a:p>
            <a:pPr algn="l"/>
            <a:r>
              <a:rPr lang="en-US" sz="1800">
                <a:sym typeface="Wingdings" pitchFamily="2" charset="2"/>
              </a:rPr>
              <a:t>- Database is a ... order of data. In real life, a ... cabinet is a form of ..., it has files ..., each ... stores ...</a:t>
            </a:r>
          </a:p>
          <a:p>
            <a:pPr algn="l"/>
            <a:r>
              <a:rPr lang="en-US" sz="1800">
                <a:sym typeface="Wingdings" pitchFamily="2" charset="2"/>
              </a:rPr>
              <a:t>– Each folder ... in some way (usually ABC...). Each .... in the folder is like a piece of ... Same like that, ... on our computer is like a form of ... that provides order to ..., the ... is the data</a:t>
            </a:r>
          </a:p>
          <a:p>
            <a:pPr algn="l"/>
            <a:r>
              <a:rPr lang="en-US" sz="1800">
                <a:sym typeface="Wingdings" pitchFamily="2" charset="2"/>
              </a:rPr>
              <a:t>- .... is a database that ... data into ... (the ... includes ... and ...) We can ... spreadsheet. There are ... ways to access a ... from Java</a:t>
            </a:r>
          </a:p>
          <a:p>
            <a:pPr algn="l"/>
            <a:r>
              <a:rPr lang="en-US" sz="1800">
                <a:sym typeface="Wingdings" pitchFamily="2" charset="2"/>
              </a:rPr>
              <a:t>+) ...: Accessing the ... as ... and .... (this is what we ..._</a:t>
            </a:r>
          </a:p>
          <a:p>
            <a:pPr algn="l"/>
            <a:r>
              <a:rPr lang="en-US" sz="1800">
                <a:sym typeface="Wingdings" pitchFamily="2" charset="2"/>
              </a:rPr>
              <a:t>+) ...: Accessing data through Java ... using a concept called ... The idea is that we don't have to ... too much ... and still can get the ... through Java ... (this is what we ...)</a:t>
            </a:r>
          </a:p>
          <a:p>
            <a:pPr algn="l"/>
            <a:r>
              <a:rPr lang="en-US" sz="1800">
                <a:sym typeface="Wingdings" pitchFamily="2" charset="2"/>
              </a:rPr>
              <a:t>- Relational Database is accessed through something called ... (...). ... is a programming ... designed to interact with ... '</a:t>
            </a:r>
          </a:p>
          <a:p>
            <a:pPr algn="l"/>
            <a:r>
              <a:rPr lang="en-US" sz="1800">
                <a:sym typeface="Wingdings" pitchFamily="2" charset="2"/>
              </a:rPr>
              <a:t>- JDBC works as sending ... and handling ....</a:t>
            </a:r>
          </a:p>
        </p:txBody>
      </p:sp>
    </p:spTree>
    <p:extLst>
      <p:ext uri="{BB962C8B-B14F-4D97-AF65-F5344CB8AC3E}">
        <p14:creationId xmlns:p14="http://schemas.microsoft.com/office/powerpoint/2010/main" val="2709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F683E-3A4F-0D89-50CA-94152919FA4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3556293-BF37-4DA4-9634-E6A0844967D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4AF0F877-CCF3-D03D-A34C-BEB606944E6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Other than ..., we still have other type of ... called .... These ... stores ... in another way like ...,...,...(... is out of scope)</a:t>
            </a:r>
          </a:p>
          <a:p>
            <a:pPr algn="l"/>
            <a:r>
              <a:rPr lang="en-US" sz="1800">
                <a:sym typeface="Wingdings" pitchFamily="2" charset="2"/>
              </a:rPr>
              <a:t>- In the next part, we willl introduce a ... that will be used for the entire chapter</a:t>
            </a:r>
          </a:p>
          <a:p>
            <a:pPr algn="l"/>
            <a:r>
              <a:rPr lang="en-US" sz="1800">
                <a:sym typeface="Wingdings" pitchFamily="2" charset="2"/>
              </a:rPr>
              <a:t>- Although the exam is ..., we still need a ... to ... =&gt; We choose ... instead of ... like in the book</a:t>
            </a:r>
          </a:p>
          <a:p>
            <a:pPr algn="l"/>
            <a:r>
              <a:rPr lang="en-US" sz="1800" b="1">
                <a:sym typeface="Wingdings" pitchFamily="2" charset="2"/>
              </a:rPr>
              <a:t>Identifying the Structure of a Relational Database</a:t>
            </a:r>
          </a:p>
          <a:p>
            <a:pPr algn="l"/>
            <a:r>
              <a:rPr lang="en-US" sz="1800">
                <a:sym typeface="Wingdings" pitchFamily="2" charset="2"/>
              </a:rPr>
              <a:t>- Our ... has 2 ... A table has ... and a table has ... These ... related because ... each ... needs ... =&gt; We call this as ... database</a:t>
            </a:r>
          </a:p>
          <a:p>
            <a:pPr algn="l"/>
            <a:r>
              <a:rPr lang="en-US" sz="1800">
                <a:sym typeface="Wingdings" pitchFamily="2" charset="2"/>
              </a:rPr>
              <a:t>(code illustration snippet 1)</a:t>
            </a:r>
          </a:p>
          <a:p>
            <a:pPr algn="l"/>
            <a:endParaRPr lang="en-US" sz="1800">
              <a:sym typeface="Wingdings" pitchFamily="2" charset="2"/>
            </a:endParaRPr>
          </a:p>
        </p:txBody>
      </p:sp>
    </p:spTree>
    <p:extLst>
      <p:ext uri="{BB962C8B-B14F-4D97-AF65-F5344CB8AC3E}">
        <p14:creationId xmlns:p14="http://schemas.microsoft.com/office/powerpoint/2010/main" val="349620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3E2B-8678-CE0A-CD96-13FCD228370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F7F0F3-1A8D-69AF-2F02-E3A11F20DCB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CCE16B73-E620-C7EA-F4BB-6FB01A1B9B4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FC9A8BC9-FD4E-89DC-E035-30711EA8ABEC}"/>
              </a:ext>
            </a:extLst>
          </p:cNvPr>
          <p:cNvPicPr>
            <a:picLocks noChangeAspect="1"/>
          </p:cNvPicPr>
          <p:nvPr/>
        </p:nvPicPr>
        <p:blipFill>
          <a:blip r:embed="rId3"/>
          <a:stretch>
            <a:fillRect/>
          </a:stretch>
        </p:blipFill>
        <p:spPr>
          <a:xfrm>
            <a:off x="2209800" y="520700"/>
            <a:ext cx="7772400" cy="5961450"/>
          </a:xfrm>
          <a:prstGeom prst="rect">
            <a:avLst/>
          </a:prstGeom>
        </p:spPr>
      </p:pic>
    </p:spTree>
    <p:extLst>
      <p:ext uri="{BB962C8B-B14F-4D97-AF65-F5344CB8AC3E}">
        <p14:creationId xmlns:p14="http://schemas.microsoft.com/office/powerpoint/2010/main" val="286124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E0A35-21F6-6E3B-4BF5-3D5015B812C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F5F52B7-4B07-411F-4AB8-DC9F42D55AC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8C749263-902B-06F7-05DA-F5FFC700976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Writing Basic SQL Statements</a:t>
            </a:r>
          </a:p>
          <a:p>
            <a:pPr algn="l"/>
            <a:r>
              <a:rPr lang="en-US" sz="1800">
                <a:sym typeface="Wingdings" pitchFamily="2" charset="2"/>
              </a:rPr>
              <a:t>- The most important thing ... for the exam is the ... type of ... in SQL when working with data in ..., we call this as ... (stand for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540EB70E-F35C-EEB5-4BCB-C7587BA4E0EB}"/>
              </a:ext>
            </a:extLst>
          </p:cNvPr>
          <p:cNvPicPr>
            <a:picLocks noChangeAspect="1"/>
          </p:cNvPicPr>
          <p:nvPr/>
        </p:nvPicPr>
        <p:blipFill>
          <a:blip r:embed="rId3"/>
          <a:stretch>
            <a:fillRect/>
          </a:stretch>
        </p:blipFill>
        <p:spPr>
          <a:xfrm>
            <a:off x="1460197" y="2071858"/>
            <a:ext cx="9271606" cy="2995442"/>
          </a:xfrm>
          <a:prstGeom prst="rect">
            <a:avLst/>
          </a:prstGeom>
        </p:spPr>
      </p:pic>
    </p:spTree>
    <p:extLst>
      <p:ext uri="{BB962C8B-B14F-4D97-AF65-F5344CB8AC3E}">
        <p14:creationId xmlns:p14="http://schemas.microsoft.com/office/powerpoint/2010/main" val="94888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D64D8-27E7-81C8-E994-2BAEF6ACB55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F11D43B-8AEC-9761-05A0-8EAD00DB3BC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9905B8CE-3A98-E377-FC6B-B6A5042F195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the exam, we dont need to know which ... is ..., we dont need to find ..., and we dont need to write a ....</a:t>
            </a:r>
          </a:p>
          <a:p>
            <a:pPr algn="l"/>
            <a:r>
              <a:rPr lang="en-US" sz="1800">
                <a:sym typeface="Wingdings" pitchFamily="2" charset="2"/>
              </a:rPr>
              <a:t>– Unlike Java, ... is case-... which mean ...,...,... are all the same. Like Java, which has primitive ..., ... also have ... such as INTEGER for ..., DOUBLE...</a:t>
            </a:r>
          </a:p>
          <a:p>
            <a:pPr algn="l"/>
            <a:r>
              <a:rPr lang="en-US" sz="1800">
                <a:sym typeface="Wingdings" pitchFamily="2" charset="2"/>
              </a:rPr>
              <a:t>– The strangest of them are VARCHAR, which essentially ... (the VAR means ... which indicates that the ... should use ... it needed to store ...)</a:t>
            </a:r>
          </a:p>
          <a:p>
            <a:pPr algn="l"/>
            <a:r>
              <a:rPr lang="en-US" sz="1800">
                <a:sym typeface="Wingdings" pitchFamily="2" charset="2"/>
              </a:rPr>
              <a:t>(code illustration snippet 2,3,4,5)</a:t>
            </a:r>
          </a:p>
          <a:p>
            <a:pPr algn="l"/>
            <a:r>
              <a:rPr lang="en-US" sz="1800" b="1">
                <a:sym typeface="Wingdings" pitchFamily="2" charset="2"/>
              </a:rPr>
              <a:t>Introducing the Interfaces of JDBC</a:t>
            </a:r>
          </a:p>
          <a:p>
            <a:pPr algn="l"/>
            <a:r>
              <a:rPr lang="en-US" sz="1800">
                <a:sym typeface="Wingdings" pitchFamily="2" charset="2"/>
              </a:rPr>
              <a:t>- For the exam, we must know the ... of JDBC. These ... are declared in ... It just the same .../... we studied before (like ... and ...)</a:t>
            </a:r>
          </a:p>
          <a:p>
            <a:pPr algn="l"/>
            <a:r>
              <a:rPr lang="en-US" sz="1800">
                <a:sym typeface="Wingdings" pitchFamily="2" charset="2"/>
              </a:rPr>
              <a:t>- With JDBC, all ... classes will come from the JDBC ... Each ... will have a different ... file. For example, PostgresSQL's ... will look like this:</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2846F3E1-41DB-94DC-0177-CFDDEE4A68FF}"/>
              </a:ext>
            </a:extLst>
          </p:cNvPr>
          <p:cNvPicPr>
            <a:picLocks noChangeAspect="1"/>
          </p:cNvPicPr>
          <p:nvPr/>
        </p:nvPicPr>
        <p:blipFill>
          <a:blip r:embed="rId3"/>
          <a:stretch>
            <a:fillRect/>
          </a:stretch>
        </p:blipFill>
        <p:spPr>
          <a:xfrm>
            <a:off x="3759200" y="4552950"/>
            <a:ext cx="4673600" cy="469900"/>
          </a:xfrm>
          <a:prstGeom prst="rect">
            <a:avLst/>
          </a:prstGeom>
        </p:spPr>
      </p:pic>
    </p:spTree>
    <p:extLst>
      <p:ext uri="{BB962C8B-B14F-4D97-AF65-F5344CB8AC3E}">
        <p14:creationId xmlns:p14="http://schemas.microsoft.com/office/powerpoint/2010/main" val="172860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80F3E-FDC4-E806-866A-920FD6743A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65A69E0-D9BE-EE5F-881B-858E5A7D542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0C007740-7C35-5893-0222-290272C20E7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For MySQL's ..., it will look like this: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14C8E288-63FE-6010-96C1-DAD20F731F93}"/>
              </a:ext>
            </a:extLst>
          </p:cNvPr>
          <p:cNvPicPr>
            <a:picLocks noChangeAspect="1"/>
          </p:cNvPicPr>
          <p:nvPr/>
        </p:nvPicPr>
        <p:blipFill>
          <a:blip r:embed="rId3"/>
          <a:stretch>
            <a:fillRect/>
          </a:stretch>
        </p:blipFill>
        <p:spPr>
          <a:xfrm>
            <a:off x="3594100" y="1651000"/>
            <a:ext cx="5003800" cy="406400"/>
          </a:xfrm>
          <a:prstGeom prst="rect">
            <a:avLst/>
          </a:prstGeom>
        </p:spPr>
      </p:pic>
    </p:spTree>
    <p:extLst>
      <p:ext uri="{BB962C8B-B14F-4D97-AF65-F5344CB8AC3E}">
        <p14:creationId xmlns:p14="http://schemas.microsoft.com/office/powerpoint/2010/main" val="58197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1B81-B0E4-AD28-CAFC-A0602BD5A6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2D3156-1660-AACF-2527-D82A1B61416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6BEBEB89-9826-F93C-0984-AF8FFA75D67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exact ... of ... file will depend on the ... we use ...</a:t>
            </a:r>
          </a:p>
          <a:p>
            <a:pPr algn="l"/>
            <a:r>
              <a:rPr lang="en-US" sz="1800">
                <a:sym typeface="Wingdings" pitchFamily="2" charset="2"/>
              </a:rPr>
              <a:t>- ... JARs usually contain the ... of the core interfaces along with some other ... too. The pinpoint here is that these ... can communicate with ... We have a lot of databases ... but we won't ... about them ...</a:t>
            </a:r>
          </a:p>
          <a:p>
            <a:pPr algn="l"/>
            <a:r>
              <a:rPr lang="en-US" sz="1800">
                <a:sym typeface="Wingdings" pitchFamily="2" charset="2"/>
              </a:rPr>
              <a:t>– The following pictures are the core ... that we need to know ... and these ... are coming from an imaginary ... called "foo"</a:t>
            </a:r>
          </a:p>
          <a:p>
            <a:pPr algn="l"/>
            <a:r>
              <a:rPr lang="en-US" sz="1800">
                <a:sym typeface="Wingdings" pitchFamily="2" charset="2"/>
              </a:rPr>
              <a:t>- We can notice that we havent mention about the exact ... of the implementation ..., it is because we don't ... For JDBC, we just need to use the ... in JDK and not use ... directly</a:t>
            </a:r>
          </a:p>
          <a:p>
            <a:pPr algn="l"/>
            <a:r>
              <a:rPr lang="en-US" sz="1800">
                <a:sym typeface="Wingdings" pitchFamily="2" charset="2"/>
              </a:rPr>
              <a:t>- Here are the ... interfaces that we need to know</a:t>
            </a:r>
          </a:p>
          <a:p>
            <a:pPr algn="l"/>
            <a:r>
              <a:rPr lang="en-US" sz="1800" b="1">
                <a:sym typeface="Wingdings" pitchFamily="2" charset="2"/>
              </a:rPr>
              <a:t>Driver</a:t>
            </a:r>
          </a:p>
          <a:p>
            <a:pPr algn="l"/>
            <a:endParaRPr lang="en-US" sz="1800" b="1">
              <a:sym typeface="Wingdings" pitchFamily="2" charset="2"/>
            </a:endParaRPr>
          </a:p>
          <a:p>
            <a:pPr algn="l"/>
            <a:r>
              <a:rPr lang="en-US" sz="1800" b="1">
                <a:sym typeface="Wingdings" pitchFamily="2" charset="2"/>
              </a:rPr>
              <a:t>Connection</a:t>
            </a:r>
          </a:p>
          <a:p>
            <a:pPr algn="l"/>
            <a:endParaRPr lang="en-US" sz="1800" b="1">
              <a:sym typeface="Wingdings" pitchFamily="2" charset="2"/>
            </a:endParaRPr>
          </a:p>
          <a:p>
            <a:pPr algn="l"/>
            <a:r>
              <a:rPr lang="en-US" sz="1800" b="1">
                <a:sym typeface="Wingdings" pitchFamily="2" charset="2"/>
              </a:rPr>
              <a:t>PreparedStatement</a:t>
            </a:r>
          </a:p>
          <a:p>
            <a:pPr algn="l"/>
            <a:endParaRPr lang="en-US" sz="1800" b="1">
              <a:sym typeface="Wingdings" pitchFamily="2" charset="2"/>
            </a:endParaRPr>
          </a:p>
          <a:p>
            <a:pPr algn="l"/>
            <a:r>
              <a:rPr lang="en-US" sz="1800" b="1">
                <a:sym typeface="Wingdings" pitchFamily="2" charset="2"/>
              </a:rPr>
              <a:t>CallableStatement</a:t>
            </a:r>
          </a:p>
          <a:p>
            <a:pPr algn="l"/>
            <a:endParaRPr lang="en-US" sz="1800" b="1">
              <a:sym typeface="Wingdings" pitchFamily="2" charset="2"/>
            </a:endParaRPr>
          </a:p>
          <a:p>
            <a:pPr algn="l"/>
            <a:r>
              <a:rPr lang="en-US" sz="1800" b="1">
                <a:sym typeface="Wingdings" pitchFamily="2" charset="2"/>
              </a:rPr>
              <a:t>ResultSet</a:t>
            </a:r>
          </a:p>
        </p:txBody>
      </p:sp>
    </p:spTree>
    <p:extLst>
      <p:ext uri="{BB962C8B-B14F-4D97-AF65-F5344CB8AC3E}">
        <p14:creationId xmlns:p14="http://schemas.microsoft.com/office/powerpoint/2010/main" val="383891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06E8C-18EE-8A1C-5019-503F44FF634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AC5F86D-C273-A519-A236-0F272783D5C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87EDDF32-13BC-1B28-A7BC-20AB729823C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pic>
        <p:nvPicPr>
          <p:cNvPr id="2" name="Picture 1">
            <a:extLst>
              <a:ext uri="{FF2B5EF4-FFF2-40B4-BE49-F238E27FC236}">
                <a16:creationId xmlns:a16="http://schemas.microsoft.com/office/drawing/2014/main" id="{389FB0C0-F166-ED3C-376E-84FF8FB6AA41}"/>
              </a:ext>
            </a:extLst>
          </p:cNvPr>
          <p:cNvPicPr>
            <a:picLocks noChangeAspect="1"/>
          </p:cNvPicPr>
          <p:nvPr/>
        </p:nvPicPr>
        <p:blipFill>
          <a:blip r:embed="rId3"/>
          <a:stretch>
            <a:fillRect/>
          </a:stretch>
        </p:blipFill>
        <p:spPr>
          <a:xfrm>
            <a:off x="2209800" y="1414255"/>
            <a:ext cx="7772400" cy="4029490"/>
          </a:xfrm>
          <a:prstGeom prst="rect">
            <a:avLst/>
          </a:prstGeom>
        </p:spPr>
      </p:pic>
    </p:spTree>
    <p:extLst>
      <p:ext uri="{BB962C8B-B14F-4D97-AF65-F5344CB8AC3E}">
        <p14:creationId xmlns:p14="http://schemas.microsoft.com/office/powerpoint/2010/main" val="391422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DCB32-6E8C-E3BA-A230-26A05DAF47F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8F26C5D-80C9-765B-92ED-0501BFD55BD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16269C29-414F-3381-2A1E-7EE541B9B5D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All ... we use are inside the ... package</a:t>
            </a:r>
          </a:p>
          <a:p>
            <a:pPr algn="l"/>
            <a:r>
              <a:rPr lang="en-US" sz="1800">
                <a:sym typeface="Wingdings" pitchFamily="2" charset="2"/>
              </a:rPr>
              <a:t>– If we are new to JDBC then you only need to understand that we need ... only and if we have used JDBC before then we need to understand that the exam uses ... instead of DataSource</a:t>
            </a:r>
          </a:p>
          <a:p>
            <a:pPr algn="l"/>
            <a:r>
              <a:rPr lang="en-US" sz="1800">
                <a:sym typeface="Wingdings" pitchFamily="2" charset="2"/>
              </a:rPr>
              <a:t>(code illustration snippet 6)</a:t>
            </a:r>
          </a:p>
          <a:p>
            <a:pPr algn="l"/>
            <a:r>
              <a:rPr lang="en-US" sz="1800">
                <a:sym typeface="Wingdings" pitchFamily="2" charset="2"/>
              </a:rPr>
              <a:t>- For example if we use ...Driver then it will return a ... instance, ... will return a ..., .... will return a ... (if we use different ... then it will use the same ...)</a:t>
            </a:r>
          </a:p>
          <a:p>
            <a:pPr algn="l"/>
            <a:r>
              <a:rPr lang="en-US" sz="1800" b="1">
                <a:sym typeface="Wingdings" pitchFamily="2" charset="2"/>
              </a:rPr>
              <a:t>Compiling with Modules</a:t>
            </a:r>
          </a:p>
          <a:p>
            <a:pPr algn="l"/>
            <a:r>
              <a:rPr lang="en-US" sz="1800">
                <a:sym typeface="Wingdings" pitchFamily="2" charset="2"/>
              </a:rPr>
              <a:t>- All packages in exam are in ... module, which will be ... automatically ... in ... file</a:t>
            </a:r>
          </a:p>
          <a:p>
            <a:pPr algn="l"/>
            <a:r>
              <a:rPr lang="en-US" sz="1800">
                <a:sym typeface="Wingdings" pitchFamily="2" charset="2"/>
              </a:rPr>
              <a:t>– However, all ... in JDBC are inside the ... package, which ... module. When working with ..., we need the ... module and a ... statement to ... the package </a:t>
            </a:r>
          </a:p>
          <a:p>
            <a:pPr algn="l"/>
            <a:r>
              <a:rPr lang="en-US" sz="1800">
                <a:sym typeface="Wingdings" pitchFamily="2" charset="2"/>
              </a:rPr>
              <a:t>- The book recommends us to separate the ... and the ... and they should be ... independently ... (JDBC for ... path and module for ... path)</a:t>
            </a:r>
          </a:p>
          <a:p>
            <a:pPr algn="l"/>
            <a:r>
              <a:rPr lang="en-US" sz="1800">
                <a:sym typeface="Wingdings" pitchFamily="2" charset="2"/>
              </a:rPr>
              <a:t>- Despite that, if we still want to use ..., then we need to update the ... file properly ...</a:t>
            </a:r>
          </a:p>
          <a:p>
            <a:pPr algn="l"/>
            <a:r>
              <a:rPr lang="en-US" sz="1800" b="1">
                <a:sym typeface="Wingdings" pitchFamily="2" charset="2"/>
              </a:rPr>
              <a:t>Connecting to a Database</a:t>
            </a:r>
          </a:p>
          <a:p>
            <a:pPr algn="l"/>
            <a:r>
              <a:rPr lang="en-US" sz="1800">
                <a:sym typeface="Wingdings" pitchFamily="2" charset="2"/>
              </a:rPr>
              <a:t>- The first step in using the ... connect to it ... We will begin by building a ... and then ... a ... instance to database</a:t>
            </a:r>
          </a:p>
          <a:p>
            <a:pPr algn="l"/>
            <a:endParaRPr lang="en-US" sz="1800" b="1">
              <a:sym typeface="Wingdings" pitchFamily="2" charset="2"/>
            </a:endParaRPr>
          </a:p>
        </p:txBody>
      </p:sp>
    </p:spTree>
    <p:extLst>
      <p:ext uri="{BB962C8B-B14F-4D97-AF65-F5344CB8AC3E}">
        <p14:creationId xmlns:p14="http://schemas.microsoft.com/office/powerpoint/2010/main" val="395164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F35D8-48D9-507B-2632-65F5BF883BA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4FAEBC-3A35-0469-4D19-E958E0BEE9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9CBF2D85-8428-6184-9BC2-526304E72D8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Building a JDBC URL</a:t>
            </a:r>
          </a:p>
          <a:p>
            <a:pPr algn="l"/>
            <a:r>
              <a:rPr lang="en-US" sz="1800">
                <a:sym typeface="Wingdings" pitchFamily="2" charset="2"/>
              </a:rPr>
              <a:t>- To access to a website, we need to know what is its ... To access to email, we need to ... and ... JDBC is not an exception, we need to know ...</a:t>
            </a:r>
          </a:p>
          <a:p>
            <a:pPr algn="l"/>
            <a:r>
              <a:rPr lang="en-US" sz="1800">
                <a:sym typeface="Wingdings" pitchFamily="2" charset="2"/>
              </a:rPr>
              <a:t>- Differ from web ..., JDBC ... has a lot of ..., but they have the same ... parts</a:t>
            </a:r>
          </a:p>
          <a:p>
            <a:pPr algn="l"/>
            <a:r>
              <a:rPr lang="en-US" sz="1800">
                <a:sym typeface="Wingdings" pitchFamily="2" charset="2"/>
              </a:rPr>
              <a:t>+) the ..., it is always ...</a:t>
            </a:r>
          </a:p>
          <a:p>
            <a:pPr algn="l"/>
            <a:r>
              <a:rPr lang="en-US" sz="1800">
                <a:sym typeface="Wingdings" pitchFamily="2" charset="2"/>
              </a:rPr>
              <a:t>+) the sub..., it is the ... of the database(for example ...) </a:t>
            </a:r>
          </a:p>
          <a:p>
            <a:pPr algn="l"/>
            <a:r>
              <a:rPr lang="en-US" sz="1800">
                <a:sym typeface="Wingdings" pitchFamily="2" charset="2"/>
              </a:rPr>
              <a:t>+) the sub..., this is the ...-specific format ...</a:t>
            </a:r>
          </a:p>
          <a:p>
            <a:pPr algn="l"/>
            <a:r>
              <a:rPr lang="en-US" sz="1800">
                <a:sym typeface="Wingdings" pitchFamily="2" charset="2"/>
              </a:rPr>
              <a:t>– These 3 ... are separated using "..."</a:t>
            </a:r>
          </a:p>
          <a:p>
            <a:pPr algn="l"/>
            <a:r>
              <a:rPr lang="en-US" sz="1800">
                <a:sym typeface="Wingdings" pitchFamily="2" charset="2"/>
              </a:rPr>
              <a:t>- The sub... part usually contain the ... of the database such as its ..., location. The syntax for this part is usually ..., and we only need to understand ..., we dont need to remember ...</a:t>
            </a:r>
          </a:p>
          <a:p>
            <a:pPr algn="l"/>
            <a:endParaRPr lang="en-US" sz="1800">
              <a:sym typeface="Wingdings" pitchFamily="2" charset="2"/>
            </a:endParaRPr>
          </a:p>
        </p:txBody>
      </p:sp>
    </p:spTree>
    <p:extLst>
      <p:ext uri="{BB962C8B-B14F-4D97-AF65-F5344CB8AC3E}">
        <p14:creationId xmlns:p14="http://schemas.microsoft.com/office/powerpoint/2010/main" val="51463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FAD8-6B88-185F-34B4-3A5615ADCA6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1C52034-C588-5FFB-C66E-65A9061DD73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52ABBD9D-343B-928D-3D1A-32B5C1AA40A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EE54558E-74DA-1452-701F-097EB4E112D2}"/>
              </a:ext>
            </a:extLst>
          </p:cNvPr>
          <p:cNvPicPr>
            <a:picLocks noChangeAspect="1"/>
          </p:cNvPicPr>
          <p:nvPr/>
        </p:nvPicPr>
        <p:blipFill>
          <a:blip r:embed="rId3"/>
          <a:stretch>
            <a:fillRect/>
          </a:stretch>
        </p:blipFill>
        <p:spPr>
          <a:xfrm>
            <a:off x="2324100" y="1631950"/>
            <a:ext cx="7543800" cy="3594100"/>
          </a:xfrm>
          <a:prstGeom prst="rect">
            <a:avLst/>
          </a:prstGeom>
        </p:spPr>
      </p:pic>
      <p:sp>
        <p:nvSpPr>
          <p:cNvPr id="5" name="Rectangle 4">
            <a:extLst>
              <a:ext uri="{FF2B5EF4-FFF2-40B4-BE49-F238E27FC236}">
                <a16:creationId xmlns:a16="http://schemas.microsoft.com/office/drawing/2014/main" id="{64EDE642-BD8E-5DE6-DA1C-79202ECE619A}"/>
              </a:ext>
            </a:extLst>
          </p:cNvPr>
          <p:cNvSpPr/>
          <p:nvPr/>
        </p:nvSpPr>
        <p:spPr>
          <a:xfrm>
            <a:off x="3276600" y="1625600"/>
            <a:ext cx="2908300" cy="927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Rectangle 5">
            <a:extLst>
              <a:ext uri="{FF2B5EF4-FFF2-40B4-BE49-F238E27FC236}">
                <a16:creationId xmlns:a16="http://schemas.microsoft.com/office/drawing/2014/main" id="{94C7C815-5F51-8150-7376-F93658173845}"/>
              </a:ext>
            </a:extLst>
          </p:cNvPr>
          <p:cNvSpPr/>
          <p:nvPr/>
        </p:nvSpPr>
        <p:spPr>
          <a:xfrm>
            <a:off x="3124200" y="2794000"/>
            <a:ext cx="10795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97F58418-3F29-1442-DF11-71E120DE2E41}"/>
              </a:ext>
            </a:extLst>
          </p:cNvPr>
          <p:cNvSpPr/>
          <p:nvPr/>
        </p:nvSpPr>
        <p:spPr>
          <a:xfrm>
            <a:off x="5334000" y="2349500"/>
            <a:ext cx="4356100" cy="939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63274E28-78E0-54FC-B827-EF707DF1ACB5}"/>
              </a:ext>
            </a:extLst>
          </p:cNvPr>
          <p:cNvSpPr/>
          <p:nvPr/>
        </p:nvSpPr>
        <p:spPr>
          <a:xfrm>
            <a:off x="2679700" y="4419600"/>
            <a:ext cx="2108200" cy="806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51908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3979-4A40-84C1-1A03-00787A263C6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740CDC-A345-7041-9957-6C1DC8C0006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F5002BCD-2CCA-E8D8-248D-83FC2F31B8B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Here are some specific examples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005646BA-8CE7-EB7E-BBC0-E9D6FAF73DB7}"/>
              </a:ext>
            </a:extLst>
          </p:cNvPr>
          <p:cNvPicPr>
            <a:picLocks noChangeAspect="1"/>
          </p:cNvPicPr>
          <p:nvPr/>
        </p:nvPicPr>
        <p:blipFill>
          <a:blip r:embed="rId3"/>
          <a:stretch>
            <a:fillRect/>
          </a:stretch>
        </p:blipFill>
        <p:spPr>
          <a:xfrm>
            <a:off x="1566489" y="2032000"/>
            <a:ext cx="9059022" cy="2260600"/>
          </a:xfrm>
          <a:prstGeom prst="rect">
            <a:avLst/>
          </a:prstGeom>
        </p:spPr>
      </p:pic>
    </p:spTree>
    <p:extLst>
      <p:ext uri="{BB962C8B-B14F-4D97-AF65-F5344CB8AC3E}">
        <p14:creationId xmlns:p14="http://schemas.microsoft.com/office/powerpoint/2010/main" val="272458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ADADA-F290-E275-E457-9B17E5B9D20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4245787-0CD8-32EA-E25A-1EBA5B2E6C0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ED38A016-58E1-DFA9-9C15-5179A0ECDE0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see that the sub... of the URL signifies the ... of the database (...,...,...). Moreover, we also have the optional ... when using the default ...</a:t>
            </a:r>
          </a:p>
          <a:p>
            <a:pPr algn="l"/>
            <a:r>
              <a:rPr lang="en-US" sz="1800" b="1">
                <a:sym typeface="Wingdings" pitchFamily="2" charset="2"/>
              </a:rPr>
              <a:t>Getting a Database Connection</a:t>
            </a:r>
          </a:p>
          <a:p>
            <a:pPr algn="l"/>
            <a:r>
              <a:rPr lang="en-US" sz="1800">
                <a:sym typeface="Wingdings" pitchFamily="2" charset="2"/>
              </a:rPr>
              <a:t>- There are ... ways to get the ... instance ... and ... </a:t>
            </a:r>
          </a:p>
          <a:p>
            <a:pPr algn="l"/>
            <a:r>
              <a:rPr lang="en-US" sz="1800">
                <a:sym typeface="Wingdings" pitchFamily="2" charset="2"/>
              </a:rPr>
              <a:t>- ... will be asked in the exam. Never use ... when ... We should use DataSource instead since it has more ... (create a ... pool, storing ... outside of the application)</a:t>
            </a:r>
          </a:p>
          <a:p>
            <a:pPr algn="l"/>
            <a:r>
              <a:rPr lang="en-US" sz="1800">
                <a:sym typeface="Wingdings" pitchFamily="2" charset="2"/>
              </a:rPr>
              <a:t>- The ... class is ... JDK, it is an API that goes with Java. It use ... pattern, which means we use ... methods to get ... instead of ..., this method named ...</a:t>
            </a:r>
          </a:p>
          <a:p>
            <a:pPr algn="l"/>
            <a:r>
              <a:rPr lang="en-US" sz="1800">
                <a:sym typeface="Wingdings" pitchFamily="2" charset="2"/>
              </a:rPr>
              <a:t>(code illustration snippet 7)</a:t>
            </a:r>
          </a:p>
          <a:p>
            <a:pPr algn="l"/>
            <a:r>
              <a:rPr lang="en-US" sz="1800">
                <a:sym typeface="Wingdings" pitchFamily="2" charset="2"/>
              </a:rPr>
              <a:t>- We can notice that the class name isn't ... but it is ... =&gt; This is a ...-specific ... of the ... interface </a:t>
            </a:r>
          </a:p>
          <a:p>
            <a:pPr algn="l"/>
            <a:r>
              <a:rPr lang="en-US" sz="1800">
                <a:sym typeface="Wingdings" pitchFamily="2" charset="2"/>
              </a:rPr>
              <a:t>- The ... method also have another version which receives ... without ... (however ...)</a:t>
            </a:r>
          </a:p>
          <a:p>
            <a:pPr algn="l"/>
            <a:r>
              <a:rPr lang="en-US" sz="1800">
                <a:sym typeface="Wingdings" pitchFamily="2" charset="2"/>
              </a:rPr>
              <a:t>(code illustration snippet 8)</a:t>
            </a:r>
          </a:p>
          <a:p>
            <a:pPr algn="l"/>
            <a:r>
              <a:rPr lang="en-US" sz="1800">
                <a:sym typeface="Wingdings" pitchFamily="2" charset="2"/>
              </a:rPr>
              <a:t>- In real life, we should never put ... in the plain ..., always load it from some ... file which keeps the password ...</a:t>
            </a:r>
          </a:p>
          <a:p>
            <a:pPr algn="l"/>
            <a:r>
              <a:rPr lang="en-US" sz="1800">
                <a:sym typeface="Wingdings" pitchFamily="2" charset="2"/>
              </a:rPr>
              <a:t>– Unless the exam force us to ... on cmd ..., we can assume that the ... is on the classpath and it is the correct driver. Exam will only ask about ... if they really want ... </a:t>
            </a:r>
          </a:p>
          <a:p>
            <a:pPr algn="l"/>
            <a:r>
              <a:rPr lang="en-US" sz="1800">
                <a:sym typeface="Wingdings" pitchFamily="2" charset="2"/>
              </a:rPr>
              <a:t>- The good side of using ... pattern is that this method will ... creating ... implementation ... We dont need to know the ... Connection interface and we dont need to know how ...</a:t>
            </a:r>
          </a:p>
        </p:txBody>
      </p:sp>
    </p:spTree>
    <p:extLst>
      <p:ext uri="{BB962C8B-B14F-4D97-AF65-F5344CB8AC3E}">
        <p14:creationId xmlns:p14="http://schemas.microsoft.com/office/powerpoint/2010/main" val="117916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2DF3-C67A-39D8-4403-69B419A9CAC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F7552F0-C8FD-BB21-3301-25E9F2631AC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E7A828AC-3C76-E3C7-9D8E-0EA6CB92AD4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 class will find any ... that can ... a URL. If it is found, then it will create a ... instance to use with that ... found. If it can't ... then ..</a:t>
            </a:r>
          </a:p>
          <a:p>
            <a:pPr algn="l"/>
            <a:r>
              <a:rPr lang="en-US" sz="1800">
                <a:sym typeface="Wingdings" pitchFamily="2" charset="2"/>
              </a:rPr>
              <a:t>– We might see Class.forName() in doe, it is used for older ... used for older JDBC before we get the ... instance</a:t>
            </a:r>
          </a:p>
          <a:p>
            <a:pPr algn="l"/>
            <a:r>
              <a:rPr lang="en-US" sz="1800" b="1">
                <a:sym typeface="Wingdings" pitchFamily="2" charset="2"/>
              </a:rPr>
              <a:t>Working with a PreparedStatement</a:t>
            </a:r>
          </a:p>
          <a:p>
            <a:pPr algn="l"/>
            <a:r>
              <a:rPr lang="en-US" sz="1800">
                <a:sym typeface="Wingdings" pitchFamily="2" charset="2"/>
              </a:rPr>
              <a:t>- In Java, we can choose to work with ...,... or .... The 2 other ... are the ... of the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9B02C6D1-ACE3-4181-FE4D-6570E294E822}"/>
              </a:ext>
            </a:extLst>
          </p:cNvPr>
          <p:cNvPicPr>
            <a:picLocks noChangeAspect="1"/>
          </p:cNvPicPr>
          <p:nvPr/>
        </p:nvPicPr>
        <p:blipFill>
          <a:blip r:embed="rId3"/>
          <a:stretch>
            <a:fillRect/>
          </a:stretch>
        </p:blipFill>
        <p:spPr>
          <a:xfrm>
            <a:off x="2209800" y="2718216"/>
            <a:ext cx="7772400" cy="3631367"/>
          </a:xfrm>
          <a:prstGeom prst="rect">
            <a:avLst/>
          </a:prstGeom>
        </p:spPr>
      </p:pic>
    </p:spTree>
    <p:extLst>
      <p:ext uri="{BB962C8B-B14F-4D97-AF65-F5344CB8AC3E}">
        <p14:creationId xmlns:p14="http://schemas.microsoft.com/office/powerpoint/2010/main" val="123282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CB08-0C96-C95D-29F0-6200837249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4833EB5-72DB-8061-73DA-8C84E0F3588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3CB6AA7F-C747-948E-CA64-A39CF77F47F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the next part of the chapter, we will learn how to use ... for ... stored in the database. In this part, we will study about ...</a:t>
            </a:r>
          </a:p>
          <a:p>
            <a:pPr algn="l"/>
            <a:r>
              <a:rPr lang="en-US" sz="1800">
                <a:sym typeface="Wingdings" pitchFamily="2" charset="2"/>
              </a:rPr>
              <a:t>- So, what is ... ? It is the ... which the 2 other are ... </a:t>
            </a:r>
          </a:p>
          <a:p>
            <a:pPr algn="l"/>
            <a:r>
              <a:rPr lang="en-US" sz="1800">
                <a:sym typeface="Wingdings" pitchFamily="2" charset="2"/>
              </a:rPr>
              <a:t>- ... and ... are pretty same except that the ... accept ... while ... will execute any ... we put in ...</a:t>
            </a:r>
          </a:p>
          <a:p>
            <a:pPr algn="l"/>
            <a:r>
              <a:rPr lang="en-US" sz="1800">
                <a:sym typeface="Wingdings" pitchFamily="2" charset="2"/>
              </a:rPr>
              <a:t>– Although we can run ... using ... we shouldn't do it because of the following reasons ...</a:t>
            </a:r>
          </a:p>
          <a:p>
            <a:pPr algn="l"/>
            <a:r>
              <a:rPr lang="en-US" sz="1800">
                <a:sym typeface="Wingdings" pitchFamily="2" charset="2"/>
              </a:rPr>
              <a:t>+) ...: In most program, we will ... the same ... times. When we use ..., the database software will ... a plan to run ... and remember ...</a:t>
            </a:r>
          </a:p>
          <a:p>
            <a:pPr algn="l"/>
            <a:r>
              <a:rPr lang="en-US" sz="1800">
                <a:sym typeface="Wingdings" pitchFamily="2" charset="2"/>
              </a:rPr>
              <a:t>+) ....: ... </a:t>
            </a:r>
          </a:p>
          <a:p>
            <a:pPr algn="l"/>
            <a:r>
              <a:rPr lang="en-US" sz="1800">
                <a:sym typeface="Wingdings" pitchFamily="2" charset="2"/>
              </a:rPr>
              <a:t>+) ...: It is great for us that we dont have to deal with String ... in building a ... with all kinds of ...</a:t>
            </a:r>
          </a:p>
          <a:p>
            <a:pPr algn="l"/>
            <a:r>
              <a:rPr lang="en-US" sz="1800">
                <a:sym typeface="Wingdings" pitchFamily="2" charset="2"/>
              </a:rPr>
              <a:t>+) ...: Even if this ... only once or it doesnt have any .., we should use .... By this way, any ... cant add a ... or dont need to migrate ...</a:t>
            </a:r>
          </a:p>
        </p:txBody>
      </p:sp>
    </p:spTree>
    <p:extLst>
      <p:ext uri="{BB962C8B-B14F-4D97-AF65-F5344CB8AC3E}">
        <p14:creationId xmlns:p14="http://schemas.microsoft.com/office/powerpoint/2010/main" val="124153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A7D3E-1546-E981-5EF6-95842376396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BE28C59-2514-296E-BBF9-5FEB946F0BE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4AD49677-06FC-9597-0757-8ACB8786F83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Little Bobby Tables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54F07509-E6EF-AF25-1400-5D2CFEEA7385}"/>
              </a:ext>
            </a:extLst>
          </p:cNvPr>
          <p:cNvPicPr>
            <a:picLocks noChangeAspect="1"/>
          </p:cNvPicPr>
          <p:nvPr/>
        </p:nvPicPr>
        <p:blipFill>
          <a:blip r:embed="rId3"/>
          <a:stretch>
            <a:fillRect/>
          </a:stretch>
        </p:blipFill>
        <p:spPr>
          <a:xfrm>
            <a:off x="1349132" y="1414172"/>
            <a:ext cx="9493735" cy="3246728"/>
          </a:xfrm>
          <a:prstGeom prst="rect">
            <a:avLst/>
          </a:prstGeom>
        </p:spPr>
      </p:pic>
    </p:spTree>
    <p:extLst>
      <p:ext uri="{BB962C8B-B14F-4D97-AF65-F5344CB8AC3E}">
        <p14:creationId xmlns:p14="http://schemas.microsoft.com/office/powerpoint/2010/main" val="278300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74E7-E4A0-1DDF-968F-CCD971B7DC5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CF2B535-CFE2-8F9B-4E34-2DE05125742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9D7CE877-E505-35A6-AAF8-C27546C4466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the previous example, we should use a ... and pass a ... as a ... into the ... If we use this way, then the entire ... will be ... and saved into the ...</a:t>
            </a:r>
          </a:p>
          <a:p>
            <a:pPr algn="l"/>
            <a:r>
              <a:rPr lang="en-US" sz="1800">
                <a:sym typeface="Wingdings" pitchFamily="2" charset="2"/>
              </a:rPr>
              <a:t>- The usage of .. interface is not in the exam. In the next part, we will talk about how to execute .../... PreparedStatement including working with ... parameters</a:t>
            </a:r>
          </a:p>
          <a:p>
            <a:pPr algn="l"/>
            <a:r>
              <a:rPr lang="en-US" sz="1800" b="1">
                <a:sym typeface="Wingdings" pitchFamily="2" charset="2"/>
              </a:rPr>
              <a:t>Obtaining a PreparedStatement</a:t>
            </a:r>
          </a:p>
          <a:p>
            <a:pPr algn="l"/>
            <a:r>
              <a:rPr lang="en-US" sz="1800">
                <a:sym typeface="Wingdings" pitchFamily="2" charset="2"/>
              </a:rPr>
              <a:t>- To run a ..., we need to ... PreparedStatement. To get a ..., we need to ... from a ... instance, which is pretty easy</a:t>
            </a:r>
          </a:p>
          <a:p>
            <a:pPr algn="l"/>
            <a:r>
              <a:rPr lang="en-US" sz="1800">
                <a:sym typeface="Wingdings" pitchFamily="2" charset="2"/>
              </a:rPr>
              <a:t>(code illustration snippet 9)</a:t>
            </a:r>
          </a:p>
          <a:p>
            <a:pPr algn="l"/>
            <a:r>
              <a:rPr lang="en-US" sz="1800">
                <a:sym typeface="Wingdings" pitchFamily="2" charset="2"/>
              </a:rPr>
              <a:t>- An instance of ... represents a ... that we want to ... using Connection. However, it wont ... yet2</a:t>
            </a:r>
          </a:p>
          <a:p>
            <a:pPr algn="l"/>
            <a:r>
              <a:rPr lang="en-US" sz="1800">
                <a:sym typeface="Wingdings" pitchFamily="2" charset="2"/>
              </a:rPr>
              <a:t>- Passing a valid ... into the ... is compulsoryu</a:t>
            </a:r>
          </a:p>
          <a:p>
            <a:pPr algn="l"/>
            <a:r>
              <a:rPr lang="en-US" sz="1800">
                <a:sym typeface="Wingdings" pitchFamily="2" charset="2"/>
              </a:rPr>
              <a:t>(code illustration snippet 10)</a:t>
            </a:r>
          </a:p>
          <a:p>
            <a:pPr algn="l"/>
            <a:r>
              <a:rPr lang="en-US" sz="1800">
                <a:sym typeface="Wingdings" pitchFamily="2" charset="2"/>
              </a:rPr>
              <a:t>– We can see that the previous example also use ... keyword. We will use ... and ... interchangably so that we can get familiarized with this ...</a:t>
            </a:r>
          </a:p>
          <a:p>
            <a:pPr algn="l"/>
            <a:r>
              <a:rPr lang="en-US" sz="1800">
                <a:sym typeface="Wingdings" pitchFamily="2" charset="2"/>
              </a:rPr>
              <a:t>- The method ... also have a ... version that ... ResultSet and ... mode ... In the exam, we only need to know how to use ... option</a:t>
            </a:r>
          </a:p>
          <a:p>
            <a:pPr algn="l"/>
            <a:r>
              <a:rPr lang="en-US" sz="1800">
                <a:sym typeface="Wingdings" pitchFamily="2" charset="2"/>
              </a:rPr>
              <a:t>– Now we have obtained a ..., it is time to run a ... The method used to run ... depends on ... its ...</a:t>
            </a:r>
          </a:p>
          <a:p>
            <a:pPr algn="l"/>
            <a:endParaRPr lang="en-US" sz="1800">
              <a:sym typeface="Wingdings" pitchFamily="2" charset="2"/>
            </a:endParaRPr>
          </a:p>
          <a:p>
            <a:pPr algn="l"/>
            <a:endParaRPr lang="en-US" sz="1800">
              <a:sym typeface="Wingdings" pitchFamily="2" charset="2"/>
            </a:endParaRPr>
          </a:p>
        </p:txBody>
      </p:sp>
    </p:spTree>
    <p:extLst>
      <p:ext uri="{BB962C8B-B14F-4D97-AF65-F5344CB8AC3E}">
        <p14:creationId xmlns:p14="http://schemas.microsoft.com/office/powerpoint/2010/main" val="42208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776A-A8C7-003E-E483-CD5B0E81E9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69584B5-9C83-6DBB-15B0-857B5CCED2F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F0057E81-1AE3-7BC1-14C8-36C44C4D0D7C}"/>
              </a:ext>
            </a:extLst>
          </p:cNvPr>
          <p:cNvSpPr txBox="1">
            <a:spLocks/>
          </p:cNvSpPr>
          <p:nvPr/>
        </p:nvSpPr>
        <p:spPr>
          <a:xfrm>
            <a:off x="0" y="820738"/>
            <a:ext cx="12192000" cy="60372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Executing a PreparedStatement</a:t>
            </a:r>
          </a:p>
          <a:p>
            <a:pPr algn="l"/>
            <a:r>
              <a:rPr lang="en-US" sz="1800">
                <a:sym typeface="Wingdings" pitchFamily="2" charset="2"/>
              </a:rPr>
              <a:t>- Let's start with the ... that mutuate data in ... These are ...,...,... These 3 ... uses ...() method to ... The name sounds like only ...., but no, it is ...</a:t>
            </a:r>
          </a:p>
          <a:p>
            <a:pPr algn="l"/>
            <a:r>
              <a:rPr lang="en-US" sz="1800" b="1">
                <a:sym typeface="Wingdings" pitchFamily="2" charset="2"/>
              </a:rPr>
              <a:t>Modifying Data with executeUpdate() </a:t>
            </a:r>
            <a:endParaRPr lang="en-US" sz="1800">
              <a:sym typeface="Wingdings" pitchFamily="2" charset="2"/>
            </a:endParaRPr>
          </a:p>
          <a:p>
            <a:pPr algn="l"/>
            <a:r>
              <a:rPr lang="en-US" sz="1800">
                <a:sym typeface="Wingdings" pitchFamily="2" charset="2"/>
              </a:rPr>
              <a:t>- This method accept a ... as a parameter and it will return ... signifies the ... changed (changed here means ...,...)</a:t>
            </a:r>
          </a:p>
          <a:p>
            <a:pPr algn="l"/>
            <a:r>
              <a:rPr lang="en-US" sz="1800">
                <a:sym typeface="Wingdings" pitchFamily="2" charset="2"/>
              </a:rPr>
              <a:t>(code illustration snippet 11)</a:t>
            </a:r>
          </a:p>
          <a:p>
            <a:pPr algn="l"/>
            <a:r>
              <a:rPr lang="en-US" sz="1800" b="1">
                <a:sym typeface="Wingdings" pitchFamily="2" charset="2"/>
              </a:rPr>
              <a:t>Reading Data with executeQuery()</a:t>
            </a:r>
          </a:p>
          <a:p>
            <a:pPr algn="l"/>
            <a:r>
              <a:rPr lang="en-US" sz="1800">
                <a:sym typeface="Wingdings" pitchFamily="2" charset="2"/>
              </a:rPr>
              <a:t>- Next, we will talk about ... start with ... keyword</a:t>
            </a:r>
          </a:p>
          <a:p>
            <a:pPr algn="l"/>
            <a:r>
              <a:rPr lang="en-US" sz="1800">
                <a:sym typeface="Wingdings" pitchFamily="2" charset="2"/>
              </a:rPr>
              <a:t>(code illustration snippet 12)</a:t>
            </a:r>
          </a:p>
          <a:p>
            <a:pPr algn="l"/>
            <a:r>
              <a:rPr lang="en-US" sz="1800" b="1">
                <a:sym typeface="Wingdings" pitchFamily="2" charset="2"/>
              </a:rPr>
              <a:t>Processing Data with execute()</a:t>
            </a:r>
          </a:p>
          <a:p>
            <a:pPr algn="l"/>
            <a:r>
              <a:rPr lang="en-US" sz="1800">
                <a:sym typeface="Wingdings" pitchFamily="2" charset="2"/>
              </a:rPr>
              <a:t>- This is the 3rd method named ... that can be used to run a .../... It return a ..., signifies that whether a .... is exist or not ... By this way, we can use appropriate ... to get more ... (note: update here means .../.../...)</a:t>
            </a:r>
          </a:p>
          <a:p>
            <a:pPr algn="l"/>
            <a:r>
              <a:rPr lang="en-US" sz="1800">
                <a:sym typeface="Wingdings" pitchFamily="2" charset="2"/>
              </a:rPr>
              <a:t>(code illustration snippet 13)</a:t>
            </a:r>
          </a:p>
          <a:p>
            <a:pPr algn="l"/>
            <a:r>
              <a:rPr lang="en-US" sz="1800">
                <a:sym typeface="Wingdings" pitchFamily="2" charset="2"/>
              </a:rPr>
              <a:t>- If the PreparedStaement is a ... then the ... is ... otherwise, it will be ... =&gt; We can get the number of ... changed ...</a:t>
            </a:r>
          </a:p>
          <a:p>
            <a:pPr algn="l"/>
            <a:r>
              <a:rPr lang="en-US" sz="1800" b="1">
                <a:sym typeface="Wingdings" pitchFamily="2" charset="2"/>
              </a:rPr>
              <a:t>Using the correct method</a:t>
            </a:r>
          </a:p>
          <a:p>
            <a:pPr algn="l"/>
            <a:r>
              <a:rPr lang="en-US" sz="1800">
                <a:sym typeface="Wingdings" pitchFamily="2" charset="2"/>
              </a:rPr>
              <a:t>- What will happen if we use wrong ... for a ... </a:t>
            </a:r>
          </a:p>
          <a:p>
            <a:pPr algn="l"/>
            <a:r>
              <a:rPr lang="en-US" sz="1800">
                <a:sym typeface="Wingdings" pitchFamily="2" charset="2"/>
              </a:rPr>
              <a:t>(code illustration snippet 14)</a:t>
            </a:r>
          </a:p>
        </p:txBody>
      </p:sp>
    </p:spTree>
    <p:extLst>
      <p:ext uri="{BB962C8B-B14F-4D97-AF65-F5344CB8AC3E}">
        <p14:creationId xmlns:p14="http://schemas.microsoft.com/office/powerpoint/2010/main" val="374628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AE5F0-A014-8CA9-3F3C-298DADFD02B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5AEEC47-6306-1BB6-2902-D0E081694C8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5FA737FB-5F11-3921-A322-FA8536AE078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Although we won't get a ..., we will get a ... at runtime. We can also get ... if we ... executeQuery() with ... change the ...</a:t>
            </a:r>
          </a:p>
          <a:p>
            <a:pPr algn="l"/>
            <a:r>
              <a:rPr lang="en-US" sz="1800" b="1">
                <a:sym typeface="Wingdings" pitchFamily="2" charset="2"/>
              </a:rPr>
              <a:t>Reviewing PreparedStatement methods</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18868C03-21C6-B913-A6C7-40F13539802F}"/>
              </a:ext>
            </a:extLst>
          </p:cNvPr>
          <p:cNvPicPr>
            <a:picLocks noChangeAspect="1"/>
          </p:cNvPicPr>
          <p:nvPr/>
        </p:nvPicPr>
        <p:blipFill>
          <a:blip r:embed="rId3"/>
          <a:stretch>
            <a:fillRect/>
          </a:stretch>
        </p:blipFill>
        <p:spPr>
          <a:xfrm>
            <a:off x="2209800" y="2226824"/>
            <a:ext cx="7772400" cy="2404351"/>
          </a:xfrm>
          <a:prstGeom prst="rect">
            <a:avLst/>
          </a:prstGeom>
        </p:spPr>
      </p:pic>
      <p:sp>
        <p:nvSpPr>
          <p:cNvPr id="5" name="Rectangle 4">
            <a:extLst>
              <a:ext uri="{FF2B5EF4-FFF2-40B4-BE49-F238E27FC236}">
                <a16:creationId xmlns:a16="http://schemas.microsoft.com/office/drawing/2014/main" id="{4A8B852A-5AE9-FE1E-B35C-B40E56062A24}"/>
              </a:ext>
            </a:extLst>
          </p:cNvPr>
          <p:cNvSpPr/>
          <p:nvPr/>
        </p:nvSpPr>
        <p:spPr>
          <a:xfrm>
            <a:off x="4419600" y="3136900"/>
            <a:ext cx="4356100" cy="1257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4483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FC8A-E3C4-35AA-736D-B46EFCCB871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FBC76FD-2F34-C68C-7C9F-E359C91298F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30CCC94A-5C83-3C7F-066E-A79F51BAAFF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pic>
        <p:nvPicPr>
          <p:cNvPr id="6" name="Picture 5">
            <a:extLst>
              <a:ext uri="{FF2B5EF4-FFF2-40B4-BE49-F238E27FC236}">
                <a16:creationId xmlns:a16="http://schemas.microsoft.com/office/drawing/2014/main" id="{D64D582C-3697-AC5C-1472-884296AE6074}"/>
              </a:ext>
            </a:extLst>
          </p:cNvPr>
          <p:cNvPicPr>
            <a:picLocks noChangeAspect="1"/>
          </p:cNvPicPr>
          <p:nvPr/>
        </p:nvPicPr>
        <p:blipFill>
          <a:blip r:embed="rId3"/>
          <a:stretch>
            <a:fillRect/>
          </a:stretch>
        </p:blipFill>
        <p:spPr>
          <a:xfrm>
            <a:off x="2209800" y="2070340"/>
            <a:ext cx="7772400" cy="2717320"/>
          </a:xfrm>
          <a:prstGeom prst="rect">
            <a:avLst/>
          </a:prstGeom>
        </p:spPr>
      </p:pic>
      <p:sp>
        <p:nvSpPr>
          <p:cNvPr id="7" name="Rectangle 6">
            <a:extLst>
              <a:ext uri="{FF2B5EF4-FFF2-40B4-BE49-F238E27FC236}">
                <a16:creationId xmlns:a16="http://schemas.microsoft.com/office/drawing/2014/main" id="{6A6ADC6E-E891-9D8F-3FB8-7421A14E1D74}"/>
              </a:ext>
            </a:extLst>
          </p:cNvPr>
          <p:cNvSpPr/>
          <p:nvPr/>
        </p:nvSpPr>
        <p:spPr>
          <a:xfrm>
            <a:off x="4394200" y="2959100"/>
            <a:ext cx="5257800" cy="157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96513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BB7E-A1C2-F515-6CC5-12C4FF8364D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6109E27-62DB-A73B-5B83-240F8ACCADB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E3A063E9-EB97-62FE-3AE5-15BBD5127CB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Working with Parameters</a:t>
            </a:r>
          </a:p>
          <a:p>
            <a:pPr algn="l"/>
            <a:r>
              <a:rPr lang="en-US" sz="1800">
                <a:sym typeface="Wingdings" pitchFamily="2" charset="2"/>
              </a:rPr>
              <a:t>- Assume that we want to add more ... and more rows to the "names" table =&gt; we use ...</a:t>
            </a:r>
          </a:p>
          <a:p>
            <a:pPr algn="l"/>
            <a:r>
              <a:rPr lang="en-US" sz="1800">
                <a:sym typeface="Wingdings" pitchFamily="2" charset="2"/>
              </a:rPr>
              <a:t>(code illustration snippet 15)</a:t>
            </a:r>
          </a:p>
          <a:p>
            <a:pPr algn="l"/>
            <a:r>
              <a:rPr lang="en-US" sz="1800">
                <a:sym typeface="Wingdings" pitchFamily="2" charset="2"/>
              </a:rPr>
              <a:t>- However, everything is ... We want to pass ... just like a ... into the ... Luckily, a PreparedStatement allows us to set ... instead of passing ... in the SQL. We will use the ... ?</a:t>
            </a:r>
          </a:p>
          <a:p>
            <a:pPr algn="l"/>
            <a:r>
              <a:rPr lang="en-US" sz="1800">
                <a:sym typeface="Wingdings" pitchFamily="2" charset="2"/>
              </a:rPr>
              <a:t>– The question mark is called ..., ... is a placeholder allow us to specify ... runtime. ... is like a parameter and we will see that ... is treated as parameter and local ... =&gt; we can rewrite ... using ...</a:t>
            </a:r>
          </a:p>
          <a:p>
            <a:pPr algn="l"/>
            <a:endParaRPr lang="en-US" sz="1800">
              <a:sym typeface="Wingdings" pitchFamily="2" charset="2"/>
            </a:endParaRPr>
          </a:p>
        </p:txBody>
      </p:sp>
      <p:pic>
        <p:nvPicPr>
          <p:cNvPr id="6" name="Picture 5">
            <a:extLst>
              <a:ext uri="{FF2B5EF4-FFF2-40B4-BE49-F238E27FC236}">
                <a16:creationId xmlns:a16="http://schemas.microsoft.com/office/drawing/2014/main" id="{C0A12A4C-1531-E6F6-C50F-C27D9CB79E72}"/>
              </a:ext>
            </a:extLst>
          </p:cNvPr>
          <p:cNvPicPr>
            <a:picLocks noChangeAspect="1"/>
          </p:cNvPicPr>
          <p:nvPr/>
        </p:nvPicPr>
        <p:blipFill>
          <a:blip r:embed="rId3"/>
          <a:stretch>
            <a:fillRect/>
          </a:stretch>
        </p:blipFill>
        <p:spPr>
          <a:xfrm>
            <a:off x="2444750" y="3429000"/>
            <a:ext cx="7302500" cy="495300"/>
          </a:xfrm>
          <a:prstGeom prst="rect">
            <a:avLst/>
          </a:prstGeom>
        </p:spPr>
      </p:pic>
    </p:spTree>
    <p:extLst>
      <p:ext uri="{BB962C8B-B14F-4D97-AF65-F5344CB8AC3E}">
        <p14:creationId xmlns:p14="http://schemas.microsoft.com/office/powerpoint/2010/main" val="420794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641D-83A2-D595-BED3-89EEA10052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08A62F1-324D-4993-0434-75119A0CB46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B8C28552-CEC0-6B8F-ABD3-5576AE38074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Bind variable makes the ... much more easier to ... because we dont need to ... String value ... '' inside the ... =&gt; we can now pass ... immediately</a:t>
            </a:r>
          </a:p>
          <a:p>
            <a:pPr algn="l"/>
            <a:r>
              <a:rPr lang="en-US" sz="1800">
                <a:sym typeface="Wingdings" pitchFamily="2" charset="2"/>
              </a:rPr>
              <a:t>(code illustration snippet 16)</a:t>
            </a:r>
          </a:p>
          <a:p>
            <a:pPr algn="l"/>
            <a:r>
              <a:rPr lang="en-US" sz="1800">
                <a:sym typeface="Wingdings" pitchFamily="2" charset="2"/>
              </a:rPr>
              <a:t>- Notice that the ... index start from ... (instead of ...)</a:t>
            </a:r>
          </a:p>
          <a:p>
            <a:pPr algn="l"/>
            <a:r>
              <a:rPr lang="en-US" sz="1800">
                <a:sym typeface="Wingdings" pitchFamily="2" charset="2"/>
              </a:rPr>
              <a:t>- We always need to remember that ... column starts from ... instead of ...</a:t>
            </a:r>
          </a:p>
          <a:p>
            <a:pPr algn="l"/>
            <a:r>
              <a:rPr lang="en-US" sz="1800">
                <a:sym typeface="Wingdings" pitchFamily="2" charset="2"/>
              </a:rPr>
              <a:t>– In the previous example, we call ... not in order =&gt; we can do it because ... The rule is that ... must be ... before execution =&gt; what happen if we ...</a:t>
            </a:r>
          </a:p>
          <a:p>
            <a:pPr algn="l"/>
            <a:r>
              <a:rPr lang="en-US" sz="1800">
                <a:sym typeface="Wingdings" pitchFamily="2" charset="2"/>
              </a:rPr>
              <a:t>(code illustration snippet 17, 18)</a:t>
            </a:r>
          </a:p>
          <a:p>
            <a:pPr algn="l"/>
            <a:r>
              <a:rPr lang="en-US" sz="1800">
                <a:sym typeface="Wingdings" pitchFamily="2" charset="2"/>
              </a:rPr>
              <a:t>- The following tables shows necessary ... to assign ... variable</a:t>
            </a:r>
          </a:p>
        </p:txBody>
      </p:sp>
    </p:spTree>
    <p:extLst>
      <p:ext uri="{BB962C8B-B14F-4D97-AF65-F5344CB8AC3E}">
        <p14:creationId xmlns:p14="http://schemas.microsoft.com/office/powerpoint/2010/main" val="410609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A8B8F-979D-7625-65A5-2EBD56885B6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84172FF-719E-1F0F-0D05-ACC2580D805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73B46A06-7B8D-0B88-B39F-08789599D83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683CCC98-A6E0-2B7C-808F-200CF9565B93}"/>
              </a:ext>
            </a:extLst>
          </p:cNvPr>
          <p:cNvPicPr>
            <a:picLocks noChangeAspect="1"/>
          </p:cNvPicPr>
          <p:nvPr/>
        </p:nvPicPr>
        <p:blipFill>
          <a:blip r:embed="rId3"/>
          <a:stretch>
            <a:fillRect/>
          </a:stretch>
        </p:blipFill>
        <p:spPr>
          <a:xfrm>
            <a:off x="2209800" y="1545038"/>
            <a:ext cx="7772400" cy="3767924"/>
          </a:xfrm>
          <a:prstGeom prst="rect">
            <a:avLst/>
          </a:prstGeom>
        </p:spPr>
      </p:pic>
      <p:sp>
        <p:nvSpPr>
          <p:cNvPr id="5" name="Rectangle 4">
            <a:extLst>
              <a:ext uri="{FF2B5EF4-FFF2-40B4-BE49-F238E27FC236}">
                <a16:creationId xmlns:a16="http://schemas.microsoft.com/office/drawing/2014/main" id="{B9DAA0FB-E11D-94D1-48FE-D8134C8ADFC5}"/>
              </a:ext>
            </a:extLst>
          </p:cNvPr>
          <p:cNvSpPr/>
          <p:nvPr/>
        </p:nvSpPr>
        <p:spPr>
          <a:xfrm>
            <a:off x="4292600" y="2146300"/>
            <a:ext cx="4406900" cy="2933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20931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E6BB6-7C15-44D2-1BA5-AEC1582434F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40A6C9F-D55F-0176-4BB0-93A4057DF11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C9738ABF-ED2D-BFD7-5832-3A77B60A54E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Please be advised that the ...() method works with ... type too (it will box...)</a:t>
            </a:r>
          </a:p>
          <a:p>
            <a:pPr algn="l"/>
            <a:r>
              <a:rPr lang="en-US" sz="1800">
                <a:sym typeface="Wingdings" pitchFamily="2" charset="2"/>
              </a:rPr>
              <a:t>(code illustration snippet 19)</a:t>
            </a:r>
          </a:p>
          <a:p>
            <a:pPr algn="l"/>
            <a:r>
              <a:rPr lang="en-US" sz="1800">
                <a:sym typeface="Wingdings" pitchFamily="2" charset="2"/>
              </a:rPr>
              <a:t>- ...() method will ... primitive too and after that it is the ... job to determine ... to pass into the .... However, we should still use separate ... type ... because you will recieve ... error when ... wrong instead of ... </a:t>
            </a:r>
          </a:p>
          <a:p>
            <a:pPr algn="l"/>
            <a:r>
              <a:rPr lang="en-US" sz="1800" b="1">
                <a:sym typeface="Wingdings" pitchFamily="2" charset="2"/>
              </a:rPr>
              <a:t>Updating Multiple Records</a:t>
            </a:r>
          </a:p>
          <a:p>
            <a:pPr algn="l"/>
            <a:r>
              <a:rPr lang="en-US" sz="1800">
                <a:sym typeface="Wingdings" pitchFamily="2" charset="2"/>
              </a:rPr>
              <a:t>- Assume that we have 2 new ... and we want to ... both ...</a:t>
            </a:r>
          </a:p>
          <a:p>
            <a:pPr algn="l"/>
            <a:r>
              <a:rPr lang="en-US" sz="1800">
                <a:sym typeface="Wingdings" pitchFamily="2" charset="2"/>
              </a:rPr>
              <a:t>(code illustration snippet 20)</a:t>
            </a:r>
          </a:p>
          <a:p>
            <a:pPr algn="l"/>
            <a:r>
              <a:rPr lang="en-US" sz="1800">
                <a:sym typeface="Wingdings" pitchFamily="2" charset="2"/>
              </a:rPr>
              <a:t>- Notice that we set ... parameters for ... but not for ... The problem is that ... is smart enough to ... and our job is just need to change the ... we need to ...</a:t>
            </a:r>
          </a:p>
          <a:p>
            <a:pPr algn="l"/>
            <a:r>
              <a:rPr lang="en-US" sz="1800" b="1">
                <a:sym typeface="Wingdings" pitchFamily="2" charset="2"/>
              </a:rPr>
              <a:t>Batching Statements</a:t>
            </a:r>
          </a:p>
          <a:p>
            <a:pPr algn="l"/>
            <a:r>
              <a:rPr lang="en-US" sz="1800">
                <a:sym typeface="Wingdings" pitchFamily="2" charset="2"/>
              </a:rPr>
              <a:t>- JDBC supports ... feature, allowing us to ... multiple ... at once without ... much on the database. Usually, the database is ... different from the machine we ... the code. Reducing the amount of ... to database will save ... because each ... consumes a lot of ... (for example, if we need to ... 1000 ... on database then ... at once will be ... instead of 1000 ....) much ... </a:t>
            </a:r>
          </a:p>
          <a:p>
            <a:pPr algn="l"/>
            <a:r>
              <a:rPr lang="en-US" sz="1800">
                <a:sym typeface="Wingdings" pitchFamily="2" charset="2"/>
              </a:rPr>
              <a:t>- We dont need to know about addBatch() and executeBatch() in exam, but it is useful in real life</a:t>
            </a:r>
          </a:p>
          <a:p>
            <a:pPr algn="l"/>
            <a:r>
              <a:rPr lang="en-US" sz="1800">
                <a:sym typeface="Wingdings" pitchFamily="2" charset="2"/>
              </a:rPr>
              <a:t>(code illustration snippet 21)</a:t>
            </a:r>
          </a:p>
        </p:txBody>
      </p:sp>
    </p:spTree>
    <p:extLst>
      <p:ext uri="{BB962C8B-B14F-4D97-AF65-F5344CB8AC3E}">
        <p14:creationId xmlns:p14="http://schemas.microsoft.com/office/powerpoint/2010/main" val="238871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6787-DBB7-0C26-F8D8-ECCCDA73EA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4A643D3-F7E0-446D-749B-84F46712D1C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61D94E39-EC1F-F426-F1A0-DC083CFCA58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use ... to fragment large ... (such as ... 10M ... into 100 ... to database). In reality, determining the ... size is pretty complex, but in general, the efficiency of using ... much better than ... one by one or ... at once in to the database</a:t>
            </a:r>
          </a:p>
          <a:p>
            <a:pPr algn="l"/>
            <a:r>
              <a:rPr lang="en-US" sz="1800" b="1">
                <a:sym typeface="Wingdings" pitchFamily="2" charset="2"/>
              </a:rPr>
              <a:t>Getting Data from a ResultSet</a:t>
            </a:r>
          </a:p>
          <a:p>
            <a:pPr algn="l"/>
            <a:r>
              <a:rPr lang="en-US" sz="1800">
                <a:sym typeface="Wingdings" pitchFamily="2" charset="2"/>
              </a:rPr>
              <a:t>- Database wont be useful if we cant .... We will start this section by showing how to ... ResultSet. After that, we will go through ... how to get ... based on type ...</a:t>
            </a:r>
          </a:p>
          <a:p>
            <a:pPr algn="l"/>
            <a:r>
              <a:rPr lang="en-US" sz="1800" b="1">
                <a:sym typeface="Wingdings" pitchFamily="2" charset="2"/>
              </a:rPr>
              <a:t>Reading a ResultSet</a:t>
            </a:r>
          </a:p>
          <a:p>
            <a:pPr algn="l"/>
            <a:r>
              <a:rPr lang="en-US" sz="1800">
                <a:sym typeface="Wingdings" pitchFamily="2" charset="2"/>
              </a:rPr>
              <a:t>- When working with ..., most of the time we will write ... one by one</a:t>
            </a:r>
          </a:p>
          <a:p>
            <a:pPr algn="l"/>
            <a:r>
              <a:rPr lang="en-US" sz="1800">
                <a:sym typeface="Wingdings" pitchFamily="2" charset="2"/>
              </a:rPr>
              <a:t>(code illustration snippet 22)</a:t>
            </a:r>
          </a:p>
          <a:p>
            <a:pPr algn="l"/>
            <a:r>
              <a:rPr lang="en-US" sz="1800">
                <a:sym typeface="Wingdings" pitchFamily="2" charset="2"/>
              </a:rPr>
              <a:t>- Each ResultSet has a ... the current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4FCADF8C-6B95-C7C5-D972-881CE06056D2}"/>
              </a:ext>
            </a:extLst>
          </p:cNvPr>
          <p:cNvPicPr>
            <a:picLocks noChangeAspect="1"/>
          </p:cNvPicPr>
          <p:nvPr/>
        </p:nvPicPr>
        <p:blipFill>
          <a:blip r:embed="rId3"/>
          <a:stretch>
            <a:fillRect/>
          </a:stretch>
        </p:blipFill>
        <p:spPr>
          <a:xfrm>
            <a:off x="2482850" y="3949700"/>
            <a:ext cx="7505700" cy="2908300"/>
          </a:xfrm>
          <a:prstGeom prst="rect">
            <a:avLst/>
          </a:prstGeom>
        </p:spPr>
      </p:pic>
    </p:spTree>
    <p:extLst>
      <p:ext uri="{BB962C8B-B14F-4D97-AF65-F5344CB8AC3E}">
        <p14:creationId xmlns:p14="http://schemas.microsoft.com/office/powerpoint/2010/main" val="328036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9B99-20DF-0CF9-5DD1-F384F516F19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1791888-5533-75DA-F2D1-3F83EFB3B89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EF1003CF-4F01-5FB2-2E0E-FBFB0E8F81A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said before that the best way ... ResultSet .. is ... type ... Now we will show you another way ..., is ... index ... (from ... instead of ...)</a:t>
            </a:r>
          </a:p>
          <a:p>
            <a:pPr algn="l"/>
            <a:r>
              <a:rPr lang="en-US" sz="1800">
                <a:sym typeface="Wingdings" pitchFamily="2" charset="2"/>
              </a:rPr>
              <a:t>(code illustration snippet 23)</a:t>
            </a:r>
          </a:p>
          <a:p>
            <a:pPr algn="l"/>
            <a:r>
              <a:rPr lang="en-US" sz="1800">
                <a:sym typeface="Wingdings" pitchFamily="2" charset="2"/>
              </a:rPr>
              <a:t>- Get the ... through name is much better because it is ... and we ... what happening ... It also allows us to switch ... position ...</a:t>
            </a:r>
          </a:p>
          <a:p>
            <a:pPr algn="l"/>
            <a:r>
              <a:rPr lang="en-US" sz="1800">
                <a:sym typeface="Wingdings" pitchFamily="2" charset="2"/>
              </a:rPr>
              <a:t>– In the exam, either we will be asked with the name of ... or we can assume that all .. are correct. Same as that, we can assume that all ... are correct too</a:t>
            </a:r>
          </a:p>
          <a:p>
            <a:pPr algn="l"/>
            <a:r>
              <a:rPr lang="en-US" sz="1800">
                <a:sym typeface="Wingdings" pitchFamily="2" charset="2"/>
              </a:rPr>
              <a:t>– Sometime, we only need to take 1 ... out of ... or we just need a few ... or our SQL query only return the ... of row that ... When we need only ..., we can use ... instead of while loop</a:t>
            </a:r>
          </a:p>
          <a:p>
            <a:pPr algn="l"/>
            <a:r>
              <a:rPr lang="en-US" sz="1800">
                <a:sym typeface="Wingdings" pitchFamily="2" charset="2"/>
              </a:rPr>
              <a:t>(code illustration snippet 24)</a:t>
            </a:r>
          </a:p>
          <a:p>
            <a:pPr algn="l"/>
            <a:r>
              <a:rPr lang="en-US" sz="1800">
                <a:sym typeface="Wingdings" pitchFamily="2" charset="2"/>
              </a:rPr>
              <a:t>- An important thing to remember is that we always need to check ... to see if it returns ... or ... before calling ... on ... If ... returns ... and we still call ... =&gt; ...</a:t>
            </a:r>
          </a:p>
          <a:p>
            <a:pPr algn="l"/>
            <a:r>
              <a:rPr lang="en-US" sz="1800">
                <a:sym typeface="Wingdings" pitchFamily="2" charset="2"/>
              </a:rPr>
              <a:t>- What happen if we try to read ... not exist ?</a:t>
            </a:r>
          </a:p>
          <a:p>
            <a:pPr algn="l"/>
            <a:r>
              <a:rPr lang="en-US" sz="1800">
                <a:sym typeface="Wingdings" pitchFamily="2" charset="2"/>
              </a:rPr>
              <a:t>(code illustration snippet 25)</a:t>
            </a:r>
          </a:p>
          <a:p>
            <a:pPr algn="l"/>
            <a:r>
              <a:rPr lang="en-US" sz="1800">
                <a:sym typeface="Wingdings" pitchFamily="2" charset="2"/>
              </a:rPr>
              <a:t>- If we try to ... data when ResultSet is ... invalid ...</a:t>
            </a:r>
          </a:p>
          <a:p>
            <a:pPr algn="l"/>
            <a:r>
              <a:rPr lang="en-US" sz="1800">
                <a:sym typeface="Wingdings" pitchFamily="2" charset="2"/>
              </a:rPr>
              <a:t>(code illustration snippet 26, 27)</a:t>
            </a:r>
          </a:p>
          <a:p>
            <a:pPr algn="l"/>
            <a:r>
              <a:rPr lang="en-US" sz="1800">
                <a:sym typeface="Wingdings" pitchFamily="2" charset="2"/>
              </a:rPr>
              <a:t>- Some rules we need to remeber when working with ...</a:t>
            </a:r>
          </a:p>
          <a:p>
            <a:pPr algn="l"/>
            <a:endParaRPr lang="en-US" sz="1800">
              <a:sym typeface="Wingdings" pitchFamily="2" charset="2"/>
            </a:endParaRPr>
          </a:p>
        </p:txBody>
      </p:sp>
    </p:spTree>
    <p:extLst>
      <p:ext uri="{BB962C8B-B14F-4D97-AF65-F5344CB8AC3E}">
        <p14:creationId xmlns:p14="http://schemas.microsoft.com/office/powerpoint/2010/main" val="4639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1E4F-4E6A-CE39-880D-2F53B06A5C7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5FDE123-E971-977E-4FF1-1B47A12BD3B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505F8397-209C-F8C1-C6B5-AF912440B57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Always use .../... for rs....</a:t>
            </a:r>
          </a:p>
          <a:p>
            <a:pPr algn="l"/>
            <a:r>
              <a:rPr lang="en-US" sz="1800">
                <a:sym typeface="Wingdings" pitchFamily="2" charset="2"/>
              </a:rPr>
              <a:t>+) ... index starts ...</a:t>
            </a:r>
          </a:p>
          <a:p>
            <a:pPr algn="l"/>
            <a:r>
              <a:rPr lang="en-US" sz="1800" b="1">
                <a:sym typeface="Wingdings" pitchFamily="2" charset="2"/>
              </a:rPr>
              <a:t>Getting Data for a column</a:t>
            </a:r>
            <a:endParaRPr lang="en-US" sz="1800">
              <a:sym typeface="Wingdings" pitchFamily="2" charset="2"/>
            </a:endParaRPr>
          </a:p>
          <a:p>
            <a:pPr algn="l"/>
            <a:endParaRPr lang="en-US" sz="1800" b="1">
              <a:sym typeface="Wingdings" pitchFamily="2" charset="2"/>
            </a:endParaRPr>
          </a:p>
        </p:txBody>
      </p:sp>
      <p:pic>
        <p:nvPicPr>
          <p:cNvPr id="2" name="Picture 1">
            <a:extLst>
              <a:ext uri="{FF2B5EF4-FFF2-40B4-BE49-F238E27FC236}">
                <a16:creationId xmlns:a16="http://schemas.microsoft.com/office/drawing/2014/main" id="{9FA6CC6B-E9CC-701C-6353-E62B92668BC8}"/>
              </a:ext>
            </a:extLst>
          </p:cNvPr>
          <p:cNvPicPr>
            <a:picLocks noChangeAspect="1"/>
          </p:cNvPicPr>
          <p:nvPr/>
        </p:nvPicPr>
        <p:blipFill>
          <a:blip r:embed="rId3"/>
          <a:stretch>
            <a:fillRect/>
          </a:stretch>
        </p:blipFill>
        <p:spPr>
          <a:xfrm>
            <a:off x="2209800" y="1964757"/>
            <a:ext cx="7772400" cy="3436486"/>
          </a:xfrm>
          <a:prstGeom prst="rect">
            <a:avLst/>
          </a:prstGeom>
        </p:spPr>
      </p:pic>
      <p:sp>
        <p:nvSpPr>
          <p:cNvPr id="5" name="Rectangle 4">
            <a:extLst>
              <a:ext uri="{FF2B5EF4-FFF2-40B4-BE49-F238E27FC236}">
                <a16:creationId xmlns:a16="http://schemas.microsoft.com/office/drawing/2014/main" id="{CB1803A6-6B68-2266-AADB-77874FDCD649}"/>
              </a:ext>
            </a:extLst>
          </p:cNvPr>
          <p:cNvSpPr/>
          <p:nvPr/>
        </p:nvSpPr>
        <p:spPr>
          <a:xfrm>
            <a:off x="5943600" y="2667000"/>
            <a:ext cx="1066800" cy="2425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8432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58893-8DDB-13A1-0FCB-E3B86B70A20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DD1F69E-05AF-E5E9-0629-197D4C0CDB2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56402165-20A8-1F00-1841-8AE3A473D2E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notice that there are not enough ... for all ... type. We got ...() and ...() methods too but we don't ... Moreover, we also dont have ...()</a:t>
            </a:r>
          </a:p>
          <a:p>
            <a:pPr algn="l"/>
            <a:r>
              <a:rPr lang="en-US" sz="1800">
                <a:sym typeface="Wingdings" pitchFamily="2" charset="2"/>
              </a:rPr>
              <a:t>– The exam wont trick us with non-existent ...</a:t>
            </a:r>
          </a:p>
          <a:p>
            <a:pPr algn="l"/>
            <a:r>
              <a:rPr lang="en-US" sz="1800">
                <a:sym typeface="Wingdings" pitchFamily="2" charset="2"/>
              </a:rPr>
              <a:t>- The ...() method will return any ... (if it is ..., it will use ... class)</a:t>
            </a:r>
          </a:p>
          <a:p>
            <a:pPr algn="l"/>
            <a:r>
              <a:rPr lang="en-US" sz="1800">
                <a:sym typeface="Wingdings" pitchFamily="2" charset="2"/>
              </a:rPr>
              <a:t>(code illustration snippet 28)</a:t>
            </a:r>
          </a:p>
          <a:p>
            <a:pPr algn="l"/>
            <a:r>
              <a:rPr lang="en-US" sz="1800" b="1">
                <a:sym typeface="Wingdings" pitchFamily="2" charset="2"/>
              </a:rPr>
              <a:t>Using Bind Variables</a:t>
            </a:r>
          </a:p>
          <a:p>
            <a:pPr algn="l"/>
            <a:r>
              <a:rPr lang="en-US" sz="1800">
                <a:sym typeface="Wingdings" pitchFamily="2" charset="2"/>
              </a:rPr>
              <a:t>- Because the book use the method that ... both ... and ... inside try with resource =&gt; ...</a:t>
            </a:r>
          </a:p>
          <a:p>
            <a:pPr algn="l"/>
            <a:r>
              <a:rPr lang="en-US" sz="1800">
                <a:sym typeface="Wingdings" pitchFamily="2" charset="2"/>
              </a:rPr>
              <a:t>(code illustration snippet 29)</a:t>
            </a:r>
          </a:p>
          <a:p>
            <a:pPr algn="l"/>
            <a:r>
              <a:rPr lang="en-US" sz="1800" b="1">
                <a:sym typeface="Wingdings" pitchFamily="2" charset="2"/>
              </a:rPr>
              <a:t>Calling a CallableStatement</a:t>
            </a:r>
          </a:p>
          <a:p>
            <a:pPr algn="l"/>
            <a:r>
              <a:rPr lang="en-US" sz="1800">
                <a:sym typeface="Wingdings" pitchFamily="2" charset="2"/>
              </a:rPr>
              <a:t>- In some cases, storing the ... in the database instead of ... code is pretty useful. This even makes more sense with complex .... </a:t>
            </a:r>
          </a:p>
          <a:p>
            <a:pPr algn="l"/>
            <a:r>
              <a:rPr lang="en-US" sz="1800">
                <a:sym typeface="Wingdings" pitchFamily="2" charset="2"/>
              </a:rPr>
              <a:t>- ... is the code that is ... in advanced and ... in the database. ... is usually written in database-specific ...</a:t>
            </a:r>
          </a:p>
          <a:p>
            <a:pPr algn="l"/>
            <a:r>
              <a:rPr lang="en-US" sz="1800">
                <a:sym typeface="Wingdings" pitchFamily="2" charset="2"/>
              </a:rPr>
              <a:t>- Using a stored procedure will reduce ... in the network. It even allows database expert to ... that code. However, ... is database-specific and increase ... for our app (in the exam, we only need to know how to ... and not when to ...)</a:t>
            </a:r>
          </a:p>
          <a:p>
            <a:pPr algn="l"/>
            <a:r>
              <a:rPr lang="en-US" sz="1800">
                <a:sym typeface="Wingdings" pitchFamily="2" charset="2"/>
              </a:rPr>
              <a:t>- We also dont need to how how to .../... a stored procedure and the books wont mention about it</a:t>
            </a:r>
          </a:p>
          <a:p>
            <a:pPr algn="l"/>
            <a:r>
              <a:rPr lang="en-US" sz="1800">
                <a:sym typeface="Wingdings" pitchFamily="2" charset="2"/>
              </a:rPr>
              <a:t>- We dont need to know anything that is database-specific. ... is a complex topic and we are recommended to study about ... only in this book</a:t>
            </a:r>
          </a:p>
        </p:txBody>
      </p:sp>
    </p:spTree>
    <p:extLst>
      <p:ext uri="{BB962C8B-B14F-4D97-AF65-F5344CB8AC3E}">
        <p14:creationId xmlns:p14="http://schemas.microsoft.com/office/powerpoint/2010/main" val="3972571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0508-CDD8-F795-09D2-F9949436192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079D8D1-C51F-7A25-151F-A974D0B7D15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F7425C8C-3A37-2559-9700-D786E872E89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D3399D92-E785-B0DD-E6FB-F041BBAB60D3}"/>
              </a:ext>
            </a:extLst>
          </p:cNvPr>
          <p:cNvPicPr>
            <a:picLocks noChangeAspect="1"/>
          </p:cNvPicPr>
          <p:nvPr/>
        </p:nvPicPr>
        <p:blipFill>
          <a:blip r:embed="rId3"/>
          <a:stretch>
            <a:fillRect/>
          </a:stretch>
        </p:blipFill>
        <p:spPr>
          <a:xfrm>
            <a:off x="1516074" y="1344449"/>
            <a:ext cx="9159852" cy="4169101"/>
          </a:xfrm>
          <a:prstGeom prst="rect">
            <a:avLst/>
          </a:prstGeom>
        </p:spPr>
      </p:pic>
    </p:spTree>
    <p:extLst>
      <p:ext uri="{BB962C8B-B14F-4D97-AF65-F5344CB8AC3E}">
        <p14:creationId xmlns:p14="http://schemas.microsoft.com/office/powerpoint/2010/main" val="370350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74B65-6B77-D904-95A4-683C1E32A0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CAB15AA-F823-7980-C74E-CA7BF6C3FE0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FED2D406-A2E3-9013-908F-8FA4C289363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Calling a Procedure without Parameters</a:t>
            </a:r>
          </a:p>
          <a:p>
            <a:pPr algn="l"/>
            <a:r>
              <a:rPr lang="en-US" sz="1800">
                <a:sym typeface="Wingdings" pitchFamily="2" charset="2"/>
              </a:rPr>
              <a:t>- read_e_names() ... wont accept any ... and return a ...</a:t>
            </a:r>
          </a:p>
          <a:p>
            <a:pPr algn="l"/>
            <a:r>
              <a:rPr lang="en-US" sz="1800">
                <a:sym typeface="Wingdings" pitchFamily="2" charset="2"/>
              </a:rPr>
              <a:t>(code illustration snippet 30)</a:t>
            </a:r>
          </a:p>
          <a:p>
            <a:pPr algn="l"/>
            <a:r>
              <a:rPr lang="en-US" sz="1800" b="1">
                <a:sym typeface="Wingdings" pitchFamily="2" charset="2"/>
              </a:rPr>
              <a:t>Passing an IN parameter</a:t>
            </a:r>
          </a:p>
          <a:p>
            <a:pPr algn="l"/>
            <a:r>
              <a:rPr lang="en-US" sz="1800">
                <a:sym typeface="Wingdings" pitchFamily="2" charset="2"/>
              </a:rPr>
              <a:t>- ... that only returns ... all time will only be partially useful =&gt; we have created a new ... that is more ... which is read_names_by_letter(). This ... will accept ... which is the prefix (the first ... of the name). The type of ... for this ... is ... parameter</a:t>
            </a:r>
          </a:p>
          <a:p>
            <a:pPr algn="l"/>
            <a:r>
              <a:rPr lang="en-US" sz="1800">
                <a:sym typeface="Wingdings" pitchFamily="2" charset="2"/>
              </a:rPr>
              <a:t>- Calling this ... will be ... with the previous one</a:t>
            </a:r>
          </a:p>
          <a:p>
            <a:pPr algn="l"/>
            <a:r>
              <a:rPr lang="en-US" sz="1800">
                <a:sym typeface="Wingdings" pitchFamily="2" charset="2"/>
              </a:rPr>
              <a:t>(code illustration snippet 31)</a:t>
            </a:r>
          </a:p>
          <a:p>
            <a:pPr algn="l"/>
            <a:r>
              <a:rPr lang="en-US" sz="1800">
                <a:sym typeface="Wingdings" pitchFamily="2" charset="2"/>
              </a:rPr>
              <a:t>- The setString() method can be ... like this: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66C58166-9241-4B13-46AD-9C084DA9D819}"/>
              </a:ext>
            </a:extLst>
          </p:cNvPr>
          <p:cNvPicPr>
            <a:picLocks noChangeAspect="1"/>
          </p:cNvPicPr>
          <p:nvPr/>
        </p:nvPicPr>
        <p:blipFill>
          <a:blip r:embed="rId3"/>
          <a:stretch>
            <a:fillRect/>
          </a:stretch>
        </p:blipFill>
        <p:spPr>
          <a:xfrm>
            <a:off x="3943350" y="4476750"/>
            <a:ext cx="4305300" cy="977900"/>
          </a:xfrm>
          <a:prstGeom prst="rect">
            <a:avLst/>
          </a:prstGeom>
        </p:spPr>
      </p:pic>
    </p:spTree>
    <p:extLst>
      <p:ext uri="{BB962C8B-B14F-4D97-AF65-F5344CB8AC3E}">
        <p14:creationId xmlns:p14="http://schemas.microsoft.com/office/powerpoint/2010/main" val="141154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C879-C238-8D8D-630E-6153CFF966B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C4B6DF3-D41E-5859-3ED3-0220BA28EEB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6AD43DB5-05D7-766A-5302-418629C7950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Returning an OUT parameter</a:t>
            </a:r>
          </a:p>
          <a:p>
            <a:pPr algn="l"/>
            <a:r>
              <a:rPr lang="en-US" sz="1800">
                <a:sym typeface="Wingdings" pitchFamily="2" charset="2"/>
              </a:rPr>
              <a:t>- In our previous example, we have returned an ... However, there are some ... procedures that can return other ... Luckily, ... has another type of parameter called ... </a:t>
            </a:r>
          </a:p>
          <a:p>
            <a:pPr algn="l"/>
            <a:r>
              <a:rPr lang="en-US" sz="1800">
                <a:sym typeface="Wingdings" pitchFamily="2" charset="2"/>
              </a:rPr>
              <a:t>- The magic_number() ... will set this ... into the number 42. The way we call this ... will be different than the ... </a:t>
            </a:r>
          </a:p>
          <a:p>
            <a:pPr algn="l"/>
            <a:r>
              <a:rPr lang="en-US" sz="1800">
                <a:sym typeface="Wingdings" pitchFamily="2" charset="2"/>
              </a:rPr>
              <a:t>(code illustration snippet 32)</a:t>
            </a:r>
          </a:p>
          <a:p>
            <a:pPr algn="l"/>
            <a:r>
              <a:rPr lang="en-US" sz="1800">
                <a:sym typeface="Wingdings" pitchFamily="2" charset="2"/>
              </a:rPr>
              <a:t>- We can notice that there is a step that we ... the parameter. This is a really important step because it allows JDBC to ... using the method ...(). We always need to remember to call ...() for each ... and ... parameter (which we will mention later on)</a:t>
            </a:r>
          </a:p>
          <a:p>
            <a:pPr algn="l"/>
            <a:r>
              <a:rPr lang="en-US" sz="1800" b="1">
                <a:sym typeface="Wingdings" pitchFamily="2" charset="2"/>
              </a:rPr>
              <a:t>Database-specific behaviour</a:t>
            </a:r>
          </a:p>
          <a:p>
            <a:pPr algn="l"/>
            <a:r>
              <a:rPr lang="en-US" sz="1800">
                <a:sym typeface="Wingdings" pitchFamily="2" charset="2"/>
              </a:rPr>
              <a:t>- There are some ... type that is pretty chill about ... in the book, which told us that this is necessary. These types of ... allow us to remove ...</a:t>
            </a:r>
          </a:p>
          <a:p>
            <a:pPr algn="l"/>
            <a:r>
              <a:rPr lang="en-US" sz="1800">
                <a:sym typeface="Wingdings" pitchFamily="2" charset="2"/>
              </a:rPr>
              <a:t>+) {}</a:t>
            </a:r>
          </a:p>
          <a:p>
            <a:pPr algn="l"/>
            <a:r>
              <a:rPr lang="en-US" sz="1800">
                <a:sym typeface="Wingdings" pitchFamily="2" charset="2"/>
              </a:rPr>
              <a:t>+) ... variable</a:t>
            </a:r>
          </a:p>
          <a:p>
            <a:pPr algn="l"/>
            <a:r>
              <a:rPr lang="en-US" sz="1800">
                <a:sym typeface="Wingdings" pitchFamily="2" charset="2"/>
              </a:rPr>
              <a:t>+) call to ...()</a:t>
            </a:r>
          </a:p>
          <a:p>
            <a:pPr algn="l"/>
            <a:r>
              <a:rPr lang="en-US" sz="1800" b="1">
                <a:sym typeface="Wingdings" pitchFamily="2" charset="2"/>
              </a:rPr>
              <a:t>Working with an INOUT Parameter</a:t>
            </a:r>
          </a:p>
          <a:p>
            <a:pPr algn="l"/>
            <a:r>
              <a:rPr lang="en-US" sz="1800">
                <a:sym typeface="Wingdings" pitchFamily="2" charset="2"/>
              </a:rPr>
              <a:t>- Finallym we can use both .../... parameter at the same time</a:t>
            </a:r>
          </a:p>
          <a:p>
            <a:pPr algn="l"/>
            <a:r>
              <a:rPr lang="en-US" sz="1800">
                <a:sym typeface="Wingdings" pitchFamily="2" charset="2"/>
              </a:rPr>
              <a:t>(code illustration snippet 33)</a:t>
            </a:r>
          </a:p>
        </p:txBody>
      </p:sp>
    </p:spTree>
    <p:extLst>
      <p:ext uri="{BB962C8B-B14F-4D97-AF65-F5344CB8AC3E}">
        <p14:creationId xmlns:p14="http://schemas.microsoft.com/office/powerpoint/2010/main" val="337091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74522-D6D4-F2CB-BECB-B67224CEE4D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4162EF8-8AF5-A2B8-2E98-94447763040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84A8643D-E2FE-C73F-EE00-7E049E97081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always need to remember that ... parameter works just like both ... and ... parameters =&gt; we must satisfy ...</a:t>
            </a:r>
          </a:p>
          <a:p>
            <a:pPr algn="l"/>
            <a:r>
              <a:rPr lang="en-US" sz="1800" b="1">
                <a:sym typeface="Wingdings" pitchFamily="2" charset="2"/>
              </a:rPr>
              <a:t>Comparing Callable Statement Parameters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28AEAE42-ED22-D88E-E331-5AA14AAFABC0}"/>
              </a:ext>
            </a:extLst>
          </p:cNvPr>
          <p:cNvPicPr>
            <a:picLocks noChangeAspect="1"/>
          </p:cNvPicPr>
          <p:nvPr/>
        </p:nvPicPr>
        <p:blipFill>
          <a:blip r:embed="rId3"/>
          <a:stretch>
            <a:fillRect/>
          </a:stretch>
        </p:blipFill>
        <p:spPr>
          <a:xfrm>
            <a:off x="2209800" y="1937586"/>
            <a:ext cx="7772400" cy="2982828"/>
          </a:xfrm>
          <a:prstGeom prst="rect">
            <a:avLst/>
          </a:prstGeom>
        </p:spPr>
      </p:pic>
      <p:sp>
        <p:nvSpPr>
          <p:cNvPr id="5" name="Rectangle 4">
            <a:extLst>
              <a:ext uri="{FF2B5EF4-FFF2-40B4-BE49-F238E27FC236}">
                <a16:creationId xmlns:a16="http://schemas.microsoft.com/office/drawing/2014/main" id="{BF893DB8-91FB-D52D-F969-0223D6FDCCE7}"/>
              </a:ext>
            </a:extLst>
          </p:cNvPr>
          <p:cNvSpPr/>
          <p:nvPr/>
        </p:nvSpPr>
        <p:spPr>
          <a:xfrm>
            <a:off x="5763984" y="2616200"/>
            <a:ext cx="3316516" cy="2120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26399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4992F-B268-AFEC-B714-DD198FC6B2A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0ABE2CE-246D-09EC-9B8B-80D23526CE8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06F1F129-17EB-1D50-D60A-8578A2B9B1C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Using Additional Options</a:t>
            </a:r>
          </a:p>
          <a:p>
            <a:pPr algn="l"/>
            <a:r>
              <a:rPr lang="en-US" sz="1800">
                <a:sym typeface="Wingdings" pitchFamily="2" charset="2"/>
              </a:rPr>
              <a:t>- Up until now, we have created both ... and ... using default option. Both of them supports supplying a ... and a ... mode. However, not all ... are supporte by the .... =&gt; We just need to know that they do exist in exam</a:t>
            </a:r>
          </a:p>
          <a:p>
            <a:pPr algn="l"/>
            <a:r>
              <a:rPr lang="en-US" sz="1800" b="1">
                <a:sym typeface="Wingdings" pitchFamily="2" charset="2"/>
              </a:rPr>
              <a:t>ResultSet.TYPE_FORWARD_ONLY</a:t>
            </a:r>
          </a:p>
          <a:p>
            <a:pPr algn="l"/>
            <a:endParaRPr lang="en-US" sz="1800" b="1">
              <a:sym typeface="Wingdings" pitchFamily="2" charset="2"/>
            </a:endParaRPr>
          </a:p>
          <a:p>
            <a:pPr algn="l"/>
            <a:r>
              <a:rPr lang="en-US" sz="1800" b="1">
                <a:sym typeface="Wingdings" pitchFamily="2" charset="2"/>
              </a:rPr>
              <a:t>ResultSet.TYPE_SCROLL_INSENSITIVE</a:t>
            </a:r>
          </a:p>
          <a:p>
            <a:pPr algn="l"/>
            <a:endParaRPr lang="en-US" sz="1800" b="1">
              <a:sym typeface="Wingdings" pitchFamily="2" charset="2"/>
            </a:endParaRPr>
          </a:p>
          <a:p>
            <a:pPr algn="l"/>
            <a:r>
              <a:rPr lang="en-US" sz="1800" b="1">
                <a:sym typeface="Wingdings" pitchFamily="2" charset="2"/>
              </a:rPr>
              <a:t>ResultSet.TYPE_SCROLL_SENSITIVE</a:t>
            </a:r>
          </a:p>
          <a:p>
            <a:pPr algn="l"/>
            <a:endParaRPr lang="en-US" sz="1800" b="1">
              <a:sym typeface="Wingdings" pitchFamily="2" charset="2"/>
            </a:endParaRPr>
          </a:p>
          <a:p>
            <a:pPr algn="l"/>
            <a:r>
              <a:rPr lang="en-US" sz="1800" b="1">
                <a:sym typeface="Wingdings" pitchFamily="2" charset="2"/>
              </a:rPr>
              <a:t>ResultSet.CONCUR_READ_ONLY</a:t>
            </a:r>
          </a:p>
          <a:p>
            <a:pPr algn="l"/>
            <a:endParaRPr lang="en-US" sz="1800" b="1">
              <a:sym typeface="Wingdings" pitchFamily="2" charset="2"/>
            </a:endParaRPr>
          </a:p>
          <a:p>
            <a:pPr algn="l"/>
            <a:r>
              <a:rPr lang="en-US" sz="1800" b="1">
                <a:sym typeface="Wingdings" pitchFamily="2" charset="2"/>
              </a:rPr>
              <a:t>ResultSet.CONCUR_UPDATABLE</a:t>
            </a:r>
          </a:p>
          <a:p>
            <a:pPr algn="l"/>
            <a:r>
              <a:rPr lang="en-US" sz="1800">
                <a:sym typeface="Wingdings" pitchFamily="2" charset="2"/>
              </a:rPr>
              <a:t>- These options are ... not ... value =&gt; we can pass both ... time</a:t>
            </a:r>
          </a:p>
          <a:p>
            <a:pPr algn="l"/>
            <a:endParaRPr lang="en-US" sz="1800" b="1">
              <a:sym typeface="Wingdings" pitchFamily="2" charset="2"/>
            </a:endParaRPr>
          </a:p>
        </p:txBody>
      </p:sp>
    </p:spTree>
    <p:extLst>
      <p:ext uri="{BB962C8B-B14F-4D97-AF65-F5344CB8AC3E}">
        <p14:creationId xmlns:p14="http://schemas.microsoft.com/office/powerpoint/2010/main" val="227772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57F29-AD52-32A0-97FD-B0DB2BB24CA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490A63-AB22-66D4-D22A-CAC24B927C5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9E014851-07A0-D86E-427E-C0BE23E8BCD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pic>
        <p:nvPicPr>
          <p:cNvPr id="2" name="Picture 1">
            <a:extLst>
              <a:ext uri="{FF2B5EF4-FFF2-40B4-BE49-F238E27FC236}">
                <a16:creationId xmlns:a16="http://schemas.microsoft.com/office/drawing/2014/main" id="{DE5C3F32-3593-0C16-7E2A-DC229D6268D9}"/>
              </a:ext>
            </a:extLst>
          </p:cNvPr>
          <p:cNvPicPr>
            <a:picLocks noChangeAspect="1"/>
          </p:cNvPicPr>
          <p:nvPr/>
        </p:nvPicPr>
        <p:blipFill>
          <a:blip r:embed="rId3"/>
          <a:stretch>
            <a:fillRect/>
          </a:stretch>
        </p:blipFill>
        <p:spPr>
          <a:xfrm>
            <a:off x="2209800" y="2424404"/>
            <a:ext cx="7772400" cy="2009191"/>
          </a:xfrm>
          <a:prstGeom prst="rect">
            <a:avLst/>
          </a:prstGeom>
        </p:spPr>
      </p:pic>
    </p:spTree>
    <p:extLst>
      <p:ext uri="{BB962C8B-B14F-4D97-AF65-F5344CB8AC3E}">
        <p14:creationId xmlns:p14="http://schemas.microsoft.com/office/powerpoint/2010/main" val="47614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F1E78-6355-FF6B-B74B-3E084A86125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F03ADF6-279F-924A-52DB-1BC56508324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69861A8F-D720-3634-245A-C21486FBCF9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If we see these ... used in exam, always remember that the ... must be the first ... and if that method accept ... option =&gt; it always recieve ... option too</a:t>
            </a:r>
          </a:p>
          <a:p>
            <a:pPr algn="l"/>
            <a:r>
              <a:rPr lang="en-US" sz="1800" b="1">
                <a:sym typeface="Wingdings" pitchFamily="2" charset="2"/>
              </a:rPr>
              <a:t>Controlling Data with Transactions</a:t>
            </a:r>
          </a:p>
          <a:p>
            <a:pPr algn="l"/>
            <a:r>
              <a:rPr lang="en-US" sz="1800">
                <a:sym typeface="Wingdings" pitchFamily="2" charset="2"/>
              </a:rPr>
              <a:t>- Up until now, any ... to the database are ... immediately. ... is just like we save a file. In exam, all ... will be "..." automatically unless we specify. However, we can change this behavior to control the ... </a:t>
            </a:r>
          </a:p>
          <a:p>
            <a:pPr algn="l"/>
            <a:r>
              <a:rPr lang="en-US" sz="1800">
                <a:sym typeface="Wingdings" pitchFamily="2" charset="2"/>
              </a:rPr>
              <a:t>- ... is a group of ... executed with the final result being ... or ... </a:t>
            </a:r>
          </a:p>
          <a:p>
            <a:pPr algn="l"/>
            <a:r>
              <a:rPr lang="en-US" sz="1800">
                <a:sym typeface="Wingdings" pitchFamily="2" charset="2"/>
              </a:rPr>
              <a:t>- ... is like closing a file but not ... All changes from the beginning of ... to ... are ...</a:t>
            </a:r>
          </a:p>
          <a:p>
            <a:pPr algn="l"/>
            <a:r>
              <a:rPr lang="en-US" sz="1800">
                <a:sym typeface="Wingdings" pitchFamily="2" charset="2"/>
              </a:rPr>
              <a:t>– First, we will write the code to ... and ... and then we will control the ... point</a:t>
            </a:r>
          </a:p>
          <a:p>
            <a:pPr algn="l"/>
            <a:r>
              <a:rPr lang="en-US" sz="1800" b="1">
                <a:sym typeface="Wingdings" pitchFamily="2" charset="2"/>
              </a:rPr>
              <a:t>Commiting and Rolling back</a:t>
            </a:r>
          </a:p>
          <a:p>
            <a:pPr algn="l"/>
            <a:r>
              <a:rPr lang="en-US" sz="1800">
                <a:sym typeface="Wingdings" pitchFamily="2" charset="2"/>
              </a:rPr>
              <a:t>- Assume that we are renovating a ... and we want ...Elephant to ... spaces. However, we have to ... Zebra ... space ... =&gt; We do this so that the overall .... doesnt ...</a:t>
            </a:r>
          </a:p>
          <a:p>
            <a:pPr algn="l"/>
            <a:r>
              <a:rPr lang="en-US" sz="1800">
                <a:sym typeface="Wingdings" pitchFamily="2" charset="2"/>
              </a:rPr>
              <a:t>– If either we add or remove ..., then we want ... rollback ... We also assume that our ... before running ... is ...</a:t>
            </a:r>
          </a:p>
          <a:p>
            <a:pPr algn="l"/>
            <a:r>
              <a:rPr lang="en-US" sz="1800">
                <a:sym typeface="Wingdings" pitchFamily="2" charset="2"/>
              </a:rPr>
              <a:t>(code illustration snippet 34)</a:t>
            </a:r>
          </a:p>
          <a:p>
            <a:pPr algn="l"/>
            <a:endParaRPr lang="en-US" sz="1800">
              <a:sym typeface="Wingdings" pitchFamily="2" charset="2"/>
            </a:endParaRPr>
          </a:p>
        </p:txBody>
      </p:sp>
    </p:spTree>
    <p:extLst>
      <p:ext uri="{BB962C8B-B14F-4D97-AF65-F5344CB8AC3E}">
        <p14:creationId xmlns:p14="http://schemas.microsoft.com/office/powerpoint/2010/main" val="392841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1EC0E-C9BF-ABC4-61F7-9891EA40C9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914BF3E-28FB-A77D-CC91-189E74738F1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676E30F0-B364-E776-A722-E363DAA8114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Autocommit Edge cases</a:t>
            </a:r>
          </a:p>
          <a:p>
            <a:pPr algn="l"/>
            <a:r>
              <a:rPr lang="en-US" sz="1800">
                <a:sym typeface="Wingdings" pitchFamily="2" charset="2"/>
              </a:rPr>
              <a:t>- When we call ...(), it will automatically trigger a ... if we are not in the ... mode. After that, the mode ... will be ... and each ... after that will be automatically</a:t>
            </a:r>
          </a:p>
          <a:p>
            <a:pPr algn="l"/>
            <a:r>
              <a:rPr lang="en-US" sz="1800">
                <a:sym typeface="Wingdings" pitchFamily="2" charset="2"/>
              </a:rPr>
              <a:t>– The 2nd case is when we set the ...() to false and close ... immediately without ... or ... In this case, the behavior is undefined. It can ... or ... depending on the driver =&gt; Dont be dependent on this behavior, instead, always remember to ... or ... before ... transaction</a:t>
            </a:r>
          </a:p>
          <a:p>
            <a:pPr algn="l"/>
            <a:r>
              <a:rPr lang="en-US" sz="1800" b="1">
                <a:sym typeface="Wingdings" pitchFamily="2" charset="2"/>
              </a:rPr>
              <a:t>Bookmarking with Savepoints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322BDC39-6FA1-EE56-BC84-EB7E8105FE88}"/>
              </a:ext>
            </a:extLst>
          </p:cNvPr>
          <p:cNvPicPr>
            <a:picLocks noChangeAspect="1"/>
          </p:cNvPicPr>
          <p:nvPr/>
        </p:nvPicPr>
        <p:blipFill>
          <a:blip r:embed="rId3"/>
          <a:stretch>
            <a:fillRect/>
          </a:stretch>
        </p:blipFill>
        <p:spPr>
          <a:xfrm>
            <a:off x="2978150" y="3244850"/>
            <a:ext cx="6235700" cy="2400300"/>
          </a:xfrm>
          <a:prstGeom prst="rect">
            <a:avLst/>
          </a:prstGeom>
        </p:spPr>
      </p:pic>
    </p:spTree>
    <p:extLst>
      <p:ext uri="{BB962C8B-B14F-4D97-AF65-F5344CB8AC3E}">
        <p14:creationId xmlns:p14="http://schemas.microsoft.com/office/powerpoint/2010/main" val="178651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5CC1F-9A7B-51DF-0AF2-1730ABE3270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3EFD3E1-593D-7CFD-C3BB-578D0D6E808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A5BDE114-86B8-D17F-BEE9-0437561B73A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name for ... is ...., it will be put in the method ...() if we print out the ...</a:t>
            </a:r>
          </a:p>
          <a:p>
            <a:pPr algn="l"/>
            <a:r>
              <a:rPr lang="en-US" sz="1800">
                <a:sym typeface="Wingdings" pitchFamily="2" charset="2"/>
              </a:rPr>
              <a:t>– The order of ... is very importatn, if we switch the line 25 and 27, we will get ... (rollback to SP1 will ... after SP1, including ...)</a:t>
            </a:r>
          </a:p>
          <a:p>
            <a:pPr algn="l"/>
            <a:r>
              <a:rPr lang="en-US" sz="1800">
                <a:sym typeface="Wingdings" pitchFamily="2" charset="2"/>
              </a:rPr>
              <a:t>- If we call conn.rollback() without passing ... at line 25, all 2 ... voided and the line 27 will ...</a:t>
            </a:r>
          </a:p>
          <a:p>
            <a:pPr algn="l"/>
            <a:r>
              <a:rPr lang="en-US" sz="1800" b="1">
                <a:sym typeface="Wingdings" pitchFamily="2" charset="2"/>
              </a:rPr>
              <a:t>Reviewing Transaction APIs</a:t>
            </a:r>
          </a:p>
          <a:p>
            <a:pPr algn="l"/>
            <a:endParaRPr lang="en-US" sz="1800" b="1">
              <a:sym typeface="Wingdings" pitchFamily="2" charset="2"/>
            </a:endParaRPr>
          </a:p>
        </p:txBody>
      </p:sp>
      <p:pic>
        <p:nvPicPr>
          <p:cNvPr id="5" name="Picture 4">
            <a:extLst>
              <a:ext uri="{FF2B5EF4-FFF2-40B4-BE49-F238E27FC236}">
                <a16:creationId xmlns:a16="http://schemas.microsoft.com/office/drawing/2014/main" id="{08686292-EBFD-D69B-3DB9-DC42DEC5F07F}"/>
              </a:ext>
            </a:extLst>
          </p:cNvPr>
          <p:cNvPicPr>
            <a:picLocks noChangeAspect="1"/>
          </p:cNvPicPr>
          <p:nvPr/>
        </p:nvPicPr>
        <p:blipFill>
          <a:blip r:embed="rId3"/>
          <a:stretch>
            <a:fillRect/>
          </a:stretch>
        </p:blipFill>
        <p:spPr>
          <a:xfrm>
            <a:off x="2209800" y="2754715"/>
            <a:ext cx="7772400" cy="3761569"/>
          </a:xfrm>
          <a:prstGeom prst="rect">
            <a:avLst/>
          </a:prstGeom>
        </p:spPr>
      </p:pic>
      <p:sp>
        <p:nvSpPr>
          <p:cNvPr id="6" name="Rectangle 5">
            <a:extLst>
              <a:ext uri="{FF2B5EF4-FFF2-40B4-BE49-F238E27FC236}">
                <a16:creationId xmlns:a16="http://schemas.microsoft.com/office/drawing/2014/main" id="{A577459F-B70B-900F-1298-292945DF8618}"/>
              </a:ext>
            </a:extLst>
          </p:cNvPr>
          <p:cNvSpPr/>
          <p:nvPr/>
        </p:nvSpPr>
        <p:spPr>
          <a:xfrm>
            <a:off x="5219700" y="3746500"/>
            <a:ext cx="3759200" cy="2438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43564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961FC-4940-9BDC-2DB9-0ADD6AA3C2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287F17F-F517-2A04-A0FB-FB783454DCD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217244F0-3FFA-2552-FB8C-2E433E3521D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Closing Database Resources</a:t>
            </a:r>
          </a:p>
          <a:p>
            <a:pPr algn="l"/>
            <a:r>
              <a:rPr lang="en-US" sz="1800">
                <a:sym typeface="Wingdings" pitchFamily="2" charset="2"/>
              </a:rPr>
              <a:t>- As we have seen in chapter 14, closing ... after ... is very important. JDBC is not an exception. Such JDBC ... like Connection ... expensive to ... =&gt; If we dont close them, then ... event and slowdown the entire application</a:t>
            </a:r>
          </a:p>
          <a:p>
            <a:pPr algn="l"/>
            <a:r>
              <a:rPr lang="en-US" sz="1800">
                <a:sym typeface="Wingdings" pitchFamily="2" charset="2"/>
              </a:rPr>
              <a:t>– Throughout this chapter, we have used try... JDBC ... must be closed ... order. The first one is ... then ... then ...</a:t>
            </a:r>
          </a:p>
          <a:p>
            <a:pPr algn="l"/>
            <a:r>
              <a:rPr lang="en-US" sz="1800">
                <a:sym typeface="Wingdings" pitchFamily="2" charset="2"/>
              </a:rPr>
              <a:t>– Closing all 3 ... good but it is not entirely ... Closing 1 JDBC ... will ... the other ... </a:t>
            </a:r>
          </a:p>
          <a:p>
            <a:pPr algn="l"/>
            <a:r>
              <a:rPr lang="en-US" sz="1800">
                <a:sym typeface="Wingdings" pitchFamily="2" charset="2"/>
              </a:rPr>
              <a:t>+) Closing Connection will ... </a:t>
            </a:r>
          </a:p>
          <a:p>
            <a:pPr algn="l"/>
            <a:r>
              <a:rPr lang="en-US" sz="1800">
                <a:sym typeface="Wingdings" pitchFamily="2" charset="2"/>
              </a:rPr>
              <a:t>+) Closing .../... will ...</a:t>
            </a:r>
          </a:p>
          <a:p>
            <a:pPr algn="l"/>
            <a:r>
              <a:rPr lang="en-US" sz="1800">
                <a:sym typeface="Wingdings" pitchFamily="2" charset="2"/>
              </a:rPr>
              <a:t>– Closing ... in order is very important, it prevents us from ... and ...</a:t>
            </a:r>
          </a:p>
          <a:p>
            <a:pPr algn="l"/>
            <a:r>
              <a:rPr lang="en-US" sz="1800" b="1">
                <a:sym typeface="Wingdings" pitchFamily="2" charset="2"/>
              </a:rPr>
              <a:t>Writing a Resource Leak</a:t>
            </a:r>
          </a:p>
          <a:p>
            <a:pPr algn="l"/>
            <a:r>
              <a:rPr lang="en-US" sz="1800">
                <a:sym typeface="Wingdings" pitchFamily="2" charset="2"/>
              </a:rPr>
              <a:t>(code illustration snippet 35)</a:t>
            </a:r>
          </a:p>
          <a:p>
            <a:pPr algn="l"/>
            <a:r>
              <a:rPr lang="en-US" sz="1800" b="1">
                <a:sym typeface="Wingdings" pitchFamily="2" charset="2"/>
              </a:rPr>
              <a:t>Dealing with Exceptions</a:t>
            </a:r>
          </a:p>
          <a:p>
            <a:pPr algn="l"/>
            <a:r>
              <a:rPr lang="en-US" sz="1800">
                <a:sym typeface="Wingdings" pitchFamily="2" charset="2"/>
              </a:rPr>
              <a:t>- In this chapter we haven't talking about catching ..., now ... </a:t>
            </a:r>
          </a:p>
          <a:p>
            <a:pPr algn="l"/>
            <a:r>
              <a:rPr lang="en-US" sz="1800">
                <a:sym typeface="Wingdings" pitchFamily="2" charset="2"/>
              </a:rPr>
              <a:t>(code illustration snippet 36)</a:t>
            </a:r>
          </a:p>
        </p:txBody>
      </p:sp>
    </p:spTree>
    <p:extLst>
      <p:ext uri="{BB962C8B-B14F-4D97-AF65-F5344CB8AC3E}">
        <p14:creationId xmlns:p14="http://schemas.microsoft.com/office/powerpoint/2010/main" val="290443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27F5-3398-5603-33DB-321F6B47D82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3E9E1E1-3EA6-5178-FA4E-068064C1538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15 – JDBC</a:t>
            </a:r>
          </a:p>
        </p:txBody>
      </p:sp>
      <p:sp>
        <p:nvSpPr>
          <p:cNvPr id="4" name="Subtitle 2">
            <a:extLst>
              <a:ext uri="{FF2B5EF4-FFF2-40B4-BE49-F238E27FC236}">
                <a16:creationId xmlns:a16="http://schemas.microsoft.com/office/drawing/2014/main" id="{D8CEF74B-B6EE-84AA-BD0C-BF8ADD11C15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These 3 methods will .. different ...</a:t>
            </a:r>
          </a:p>
          <a:p>
            <a:pPr algn="l"/>
            <a:r>
              <a:rPr lang="en-US" sz="1800" b="1">
                <a:sym typeface="Wingdings" pitchFamily="2" charset="2"/>
              </a:rPr>
              <a:t>getMessage()</a:t>
            </a:r>
          </a:p>
          <a:p>
            <a:pPr algn="l"/>
            <a:endParaRPr lang="en-US" sz="1800" b="1">
              <a:sym typeface="Wingdings" pitchFamily="2" charset="2"/>
            </a:endParaRPr>
          </a:p>
          <a:p>
            <a:pPr algn="l"/>
            <a:r>
              <a:rPr lang="en-US" sz="1800" b="1">
                <a:sym typeface="Wingdings" pitchFamily="2" charset="2"/>
              </a:rPr>
              <a:t>getSQLState()</a:t>
            </a:r>
          </a:p>
          <a:p>
            <a:pPr algn="l"/>
            <a:endParaRPr lang="en-US" sz="1800" b="1">
              <a:sym typeface="Wingdings" pitchFamily="2" charset="2"/>
            </a:endParaRPr>
          </a:p>
          <a:p>
            <a:pPr algn="l"/>
            <a:r>
              <a:rPr lang="en-US" sz="1800" b="1">
                <a:sym typeface="Wingdings" pitchFamily="2" charset="2"/>
              </a:rPr>
              <a:t>getErrorCode()</a:t>
            </a:r>
            <a:endParaRPr lang="en-US" sz="1800">
              <a:sym typeface="Wingdings" pitchFamily="2" charset="2"/>
            </a:endParaRPr>
          </a:p>
          <a:p>
            <a:pPr algn="l"/>
            <a:r>
              <a:rPr lang="en-US" sz="1800">
                <a:sym typeface="Wingdings" pitchFamily="2" charset="2"/>
              </a:rPr>
              <a:t>(Note: getSQLState() will ... according to the standard ... while getErrorCode() ... actual database ... depending on ...)</a:t>
            </a:r>
          </a:p>
        </p:txBody>
      </p:sp>
    </p:spTree>
    <p:extLst>
      <p:ext uri="{BB962C8B-B14F-4D97-AF65-F5344CB8AC3E}">
        <p14:creationId xmlns:p14="http://schemas.microsoft.com/office/powerpoint/2010/main" val="366708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22646</TotalTime>
  <Words>4452</Words>
  <Application>Microsoft Macintosh PowerPoint</Application>
  <PresentationFormat>Widescreen</PresentationFormat>
  <Paragraphs>326</Paragraphs>
  <Slides>40</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Dinh Vinh Mai</dc:creator>
  <cp:keywords/>
  <dc:description/>
  <cp:lastModifiedBy>Mai Dinh Vinh  (S.CECS)</cp:lastModifiedBy>
  <cp:revision>70</cp:revision>
  <dcterms:created xsi:type="dcterms:W3CDTF">2024-07-05T03:43:45Z</dcterms:created>
  <dcterms:modified xsi:type="dcterms:W3CDTF">2026-01-24T08:58:57Z</dcterms:modified>
  <cp:category/>
</cp:coreProperties>
</file>