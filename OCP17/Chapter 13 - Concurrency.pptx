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CD2C29-6869-4EB9-A262-397E95AA9D5D}">
          <p14:sldIdLst>
            <p14:sldId id="256"/>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F12651-E492-4749-A948-8FB040B70964}" v="10997" dt="2024-07-11T23:31:06.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307" autoAdjust="0"/>
    <p:restoredTop sz="92164"/>
  </p:normalViewPr>
  <p:slideViewPr>
    <p:cSldViewPr snapToGrid="0">
      <p:cViewPr varScale="1">
        <p:scale>
          <a:sx n="105" d="100"/>
          <a:sy n="105" d="100"/>
        </p:scale>
        <p:origin x="216"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h Vinh Mai" userId="b8e4a559-41e0-4141-8dc1-330451d69615" providerId="ADAL" clId="{9AF12651-E492-4749-A948-8FB040B70964}"/>
    <pc:docChg chg="undo custSel addSld delSld modSld sldOrd addSection delSection modSection">
      <pc:chgData name="Dinh Vinh Mai" userId="b8e4a559-41e0-4141-8dc1-330451d69615" providerId="ADAL" clId="{9AF12651-E492-4749-A948-8FB040B70964}" dt="2024-07-11T23:31:06.508" v="15304" actId="20577"/>
      <pc:docMkLst>
        <pc:docMk/>
      </pc:docMkLst>
      <pc:sldChg chg="del">
        <pc:chgData name="Dinh Vinh Mai" userId="b8e4a559-41e0-4141-8dc1-330451d69615" providerId="ADAL" clId="{9AF12651-E492-4749-A948-8FB040B70964}" dt="2024-07-11T01:41:42.792" v="0" actId="47"/>
        <pc:sldMkLst>
          <pc:docMk/>
          <pc:sldMk cId="217268900" sldId="256"/>
        </pc:sldMkLst>
      </pc:sldChg>
      <pc:sldChg chg="modSp new mod">
        <pc:chgData name="Dinh Vinh Mai" userId="b8e4a559-41e0-4141-8dc1-330451d69615" providerId="ADAL" clId="{9AF12651-E492-4749-A948-8FB040B70964}" dt="2024-07-11T01:42:31.374" v="77" actId="20577"/>
        <pc:sldMkLst>
          <pc:docMk/>
          <pc:sldMk cId="2437323191" sldId="256"/>
        </pc:sldMkLst>
        <pc:spChg chg="mod">
          <ac:chgData name="Dinh Vinh Mai" userId="b8e4a559-41e0-4141-8dc1-330451d69615" providerId="ADAL" clId="{9AF12651-E492-4749-A948-8FB040B70964}" dt="2024-07-11T01:41:58.931" v="44" actId="20577"/>
          <ac:spMkLst>
            <pc:docMk/>
            <pc:sldMk cId="2437323191" sldId="256"/>
            <ac:spMk id="2" creationId="{5F432DBD-CB83-55BD-128C-2C66E47798F8}"/>
          </ac:spMkLst>
        </pc:spChg>
        <pc:spChg chg="mod">
          <ac:chgData name="Dinh Vinh Mai" userId="b8e4a559-41e0-4141-8dc1-330451d69615" providerId="ADAL" clId="{9AF12651-E492-4749-A948-8FB040B70964}" dt="2024-07-11T01:42:31.374" v="77" actId="20577"/>
          <ac:spMkLst>
            <pc:docMk/>
            <pc:sldMk cId="2437323191" sldId="256"/>
            <ac:spMk id="3" creationId="{96DD8BC4-D539-661E-8A88-53AF6C208F93}"/>
          </ac:spMkLst>
        </pc:spChg>
      </pc:sldChg>
      <pc:sldChg chg="addSp delSp modSp add del mod">
        <pc:chgData name="Dinh Vinh Mai" userId="b8e4a559-41e0-4141-8dc1-330451d69615" providerId="ADAL" clId="{9AF12651-E492-4749-A948-8FB040B70964}" dt="2024-07-11T01:48:04.827" v="216" actId="47"/>
        <pc:sldMkLst>
          <pc:docMk/>
          <pc:sldMk cId="1145363845" sldId="257"/>
        </pc:sldMkLst>
        <pc:spChg chg="del mod">
          <ac:chgData name="Dinh Vinh Mai" userId="b8e4a559-41e0-4141-8dc1-330451d69615" providerId="ADAL" clId="{9AF12651-E492-4749-A948-8FB040B70964}" dt="2024-07-11T01:44:11.394" v="80" actId="478"/>
          <ac:spMkLst>
            <pc:docMk/>
            <pc:sldMk cId="1145363845" sldId="257"/>
            <ac:spMk id="2" creationId="{5F432DBD-CB83-55BD-128C-2C66E47798F8}"/>
          </ac:spMkLst>
        </pc:spChg>
        <pc:spChg chg="mod">
          <ac:chgData name="Dinh Vinh Mai" userId="b8e4a559-41e0-4141-8dc1-330451d69615" providerId="ADAL" clId="{9AF12651-E492-4749-A948-8FB040B70964}" dt="2024-07-11T01:46:05.600" v="116" actId="1076"/>
          <ac:spMkLst>
            <pc:docMk/>
            <pc:sldMk cId="1145363845" sldId="257"/>
            <ac:spMk id="3" creationId="{96DD8BC4-D539-661E-8A88-53AF6C208F93}"/>
          </ac:spMkLst>
        </pc:spChg>
        <pc:spChg chg="add del mod">
          <ac:chgData name="Dinh Vinh Mai" userId="b8e4a559-41e0-4141-8dc1-330451d69615" providerId="ADAL" clId="{9AF12651-E492-4749-A948-8FB040B70964}" dt="2024-07-11T01:47:56.554" v="215" actId="478"/>
          <ac:spMkLst>
            <pc:docMk/>
            <pc:sldMk cId="1145363845" sldId="257"/>
            <ac:spMk id="4" creationId="{BBA13038-CAB8-FCA0-CDE8-65E40C2F10A3}"/>
          </ac:spMkLst>
        </pc:spChg>
      </pc:sldChg>
      <pc:sldChg chg="del">
        <pc:chgData name="Dinh Vinh Mai" userId="b8e4a559-41e0-4141-8dc1-330451d69615" providerId="ADAL" clId="{9AF12651-E492-4749-A948-8FB040B70964}" dt="2024-07-11T01:41:42.792" v="0" actId="47"/>
        <pc:sldMkLst>
          <pc:docMk/>
          <pc:sldMk cId="3564134708" sldId="257"/>
        </pc:sldMkLst>
      </pc:sldChg>
      <pc:sldChg chg="modSp add mod modAnim">
        <pc:chgData name="Dinh Vinh Mai" userId="b8e4a559-41e0-4141-8dc1-330451d69615" providerId="ADAL" clId="{9AF12651-E492-4749-A948-8FB040B70964}" dt="2024-07-11T02:13:51.984" v="3027"/>
        <pc:sldMkLst>
          <pc:docMk/>
          <pc:sldMk cId="715447292" sldId="258"/>
        </pc:sldMkLst>
        <pc:spChg chg="mod">
          <ac:chgData name="Dinh Vinh Mai" userId="b8e4a559-41e0-4141-8dc1-330451d69615" providerId="ADAL" clId="{9AF12651-E492-4749-A948-8FB040B70964}" dt="2024-07-11T02:13:26.874" v="3021" actId="20577"/>
          <ac:spMkLst>
            <pc:docMk/>
            <pc:sldMk cId="715447292" sldId="258"/>
            <ac:spMk id="4" creationId="{BBA13038-CAB8-FCA0-CDE8-65E40C2F10A3}"/>
          </ac:spMkLst>
        </pc:spChg>
      </pc:sldChg>
      <pc:sldChg chg="del">
        <pc:chgData name="Dinh Vinh Mai" userId="b8e4a559-41e0-4141-8dc1-330451d69615" providerId="ADAL" clId="{9AF12651-E492-4749-A948-8FB040B70964}" dt="2024-07-11T01:41:42.792" v="0" actId="47"/>
        <pc:sldMkLst>
          <pc:docMk/>
          <pc:sldMk cId="1315607852" sldId="258"/>
        </pc:sldMkLst>
      </pc:sldChg>
      <pc:sldChg chg="del">
        <pc:chgData name="Dinh Vinh Mai" userId="b8e4a559-41e0-4141-8dc1-330451d69615" providerId="ADAL" clId="{9AF12651-E492-4749-A948-8FB040B70964}" dt="2024-07-11T01:41:42.792" v="0" actId="47"/>
        <pc:sldMkLst>
          <pc:docMk/>
          <pc:sldMk cId="1400435694" sldId="259"/>
        </pc:sldMkLst>
      </pc:sldChg>
      <pc:sldChg chg="modSp add modAnim">
        <pc:chgData name="Dinh Vinh Mai" userId="b8e4a559-41e0-4141-8dc1-330451d69615" providerId="ADAL" clId="{9AF12651-E492-4749-A948-8FB040B70964}" dt="2024-07-11T08:30:39.020" v="5812"/>
        <pc:sldMkLst>
          <pc:docMk/>
          <pc:sldMk cId="2078495021" sldId="259"/>
        </pc:sldMkLst>
        <pc:spChg chg="mod">
          <ac:chgData name="Dinh Vinh Mai" userId="b8e4a559-41e0-4141-8dc1-330451d69615" providerId="ADAL" clId="{9AF12651-E492-4749-A948-8FB040B70964}" dt="2024-07-11T08:30:19.371" v="5808" actId="20577"/>
          <ac:spMkLst>
            <pc:docMk/>
            <pc:sldMk cId="2078495021" sldId="259"/>
            <ac:spMk id="4" creationId="{BBA13038-CAB8-FCA0-CDE8-65E40C2F10A3}"/>
          </ac:spMkLst>
        </pc:spChg>
      </pc:sldChg>
      <pc:sldChg chg="addSp modSp add mod modAnim">
        <pc:chgData name="Dinh Vinh Mai" userId="b8e4a559-41e0-4141-8dc1-330451d69615" providerId="ADAL" clId="{9AF12651-E492-4749-A948-8FB040B70964}" dt="2024-07-11T08:44:30.109" v="6044" actId="14100"/>
        <pc:sldMkLst>
          <pc:docMk/>
          <pc:sldMk cId="114777668" sldId="260"/>
        </pc:sldMkLst>
        <pc:spChg chg="mod">
          <ac:chgData name="Dinh Vinh Mai" userId="b8e4a559-41e0-4141-8dc1-330451d69615" providerId="ADAL" clId="{9AF12651-E492-4749-A948-8FB040B70964}" dt="2024-07-11T08:33:51.742" v="5824" actId="1076"/>
          <ac:spMkLst>
            <pc:docMk/>
            <pc:sldMk cId="114777668" sldId="260"/>
            <ac:spMk id="3" creationId="{96DD8BC4-D539-661E-8A88-53AF6C208F93}"/>
          </ac:spMkLst>
        </pc:spChg>
        <pc:spChg chg="mod">
          <ac:chgData name="Dinh Vinh Mai" userId="b8e4a559-41e0-4141-8dc1-330451d69615" providerId="ADAL" clId="{9AF12651-E492-4749-A948-8FB040B70964}" dt="2024-07-11T08:32:24.252" v="5814" actId="20577"/>
          <ac:spMkLst>
            <pc:docMk/>
            <pc:sldMk cId="114777668" sldId="260"/>
            <ac:spMk id="4" creationId="{BBA13038-CAB8-FCA0-CDE8-65E40C2F10A3}"/>
          </ac:spMkLst>
        </pc:spChg>
        <pc:spChg chg="add mod">
          <ac:chgData name="Dinh Vinh Mai" userId="b8e4a559-41e0-4141-8dc1-330451d69615" providerId="ADAL" clId="{9AF12651-E492-4749-A948-8FB040B70964}" dt="2024-07-11T08:44:24.609" v="6040" actId="14100"/>
          <ac:spMkLst>
            <pc:docMk/>
            <pc:sldMk cId="114777668" sldId="260"/>
            <ac:spMk id="6" creationId="{4914E028-BBB3-509D-27BD-0D7E14D586F4}"/>
          </ac:spMkLst>
        </pc:spChg>
        <pc:picChg chg="add mod">
          <ac:chgData name="Dinh Vinh Mai" userId="b8e4a559-41e0-4141-8dc1-330451d69615" providerId="ADAL" clId="{9AF12651-E492-4749-A948-8FB040B70964}" dt="2024-07-11T08:44:30.109" v="6044" actId="14100"/>
          <ac:picMkLst>
            <pc:docMk/>
            <pc:sldMk cId="114777668" sldId="260"/>
            <ac:picMk id="5" creationId="{85C0B44A-39CB-36E8-9FE5-05418ECC25C9}"/>
          </ac:picMkLst>
        </pc:picChg>
      </pc:sldChg>
      <pc:sldChg chg="del">
        <pc:chgData name="Dinh Vinh Mai" userId="b8e4a559-41e0-4141-8dc1-330451d69615" providerId="ADAL" clId="{9AF12651-E492-4749-A948-8FB040B70964}" dt="2024-07-11T01:41:42.792" v="0" actId="47"/>
        <pc:sldMkLst>
          <pc:docMk/>
          <pc:sldMk cId="1028437802" sldId="260"/>
        </pc:sldMkLst>
      </pc:sldChg>
      <pc:sldChg chg="del">
        <pc:chgData name="Dinh Vinh Mai" userId="b8e4a559-41e0-4141-8dc1-330451d69615" providerId="ADAL" clId="{9AF12651-E492-4749-A948-8FB040B70964}" dt="2024-07-11T01:41:42.792" v="0" actId="47"/>
        <pc:sldMkLst>
          <pc:docMk/>
          <pc:sldMk cId="315264614" sldId="261"/>
        </pc:sldMkLst>
      </pc:sldChg>
      <pc:sldChg chg="addSp delSp modSp add mod">
        <pc:chgData name="Dinh Vinh Mai" userId="b8e4a559-41e0-4141-8dc1-330451d69615" providerId="ADAL" clId="{9AF12651-E492-4749-A948-8FB040B70964}" dt="2024-07-11T08:56:12.775" v="7015" actId="5793"/>
        <pc:sldMkLst>
          <pc:docMk/>
          <pc:sldMk cId="646613574" sldId="261"/>
        </pc:sldMkLst>
        <pc:spChg chg="mod">
          <ac:chgData name="Dinh Vinh Mai" userId="b8e4a559-41e0-4141-8dc1-330451d69615" providerId="ADAL" clId="{9AF12651-E492-4749-A948-8FB040B70964}" dt="2024-07-11T08:56:12.775" v="7015" actId="5793"/>
          <ac:spMkLst>
            <pc:docMk/>
            <pc:sldMk cId="646613574" sldId="261"/>
            <ac:spMk id="6" creationId="{4914E028-BBB3-509D-27BD-0D7E14D586F4}"/>
          </ac:spMkLst>
        </pc:spChg>
        <pc:picChg chg="del">
          <ac:chgData name="Dinh Vinh Mai" userId="b8e4a559-41e0-4141-8dc1-330451d69615" providerId="ADAL" clId="{9AF12651-E492-4749-A948-8FB040B70964}" dt="2024-07-11T08:44:57.780" v="6049" actId="478"/>
          <ac:picMkLst>
            <pc:docMk/>
            <pc:sldMk cId="646613574" sldId="261"/>
            <ac:picMk id="5" creationId="{85C0B44A-39CB-36E8-9FE5-05418ECC25C9}"/>
          </ac:picMkLst>
        </pc:picChg>
        <pc:picChg chg="add mod">
          <ac:chgData name="Dinh Vinh Mai" userId="b8e4a559-41e0-4141-8dc1-330451d69615" providerId="ADAL" clId="{9AF12651-E492-4749-A948-8FB040B70964}" dt="2024-07-11T08:45:06.295" v="6054" actId="1076"/>
          <ac:picMkLst>
            <pc:docMk/>
            <pc:sldMk cId="646613574" sldId="261"/>
            <ac:picMk id="7" creationId="{DEB481D6-5356-0DD2-3F6F-3A03A44D641A}"/>
          </ac:picMkLst>
        </pc:picChg>
      </pc:sldChg>
      <pc:sldChg chg="del">
        <pc:chgData name="Dinh Vinh Mai" userId="b8e4a559-41e0-4141-8dc1-330451d69615" providerId="ADAL" clId="{9AF12651-E492-4749-A948-8FB040B70964}" dt="2024-07-11T01:41:42.792" v="0" actId="47"/>
        <pc:sldMkLst>
          <pc:docMk/>
          <pc:sldMk cId="2377540471" sldId="262"/>
        </pc:sldMkLst>
      </pc:sldChg>
      <pc:sldChg chg="addSp modSp add mod ord modAnim">
        <pc:chgData name="Dinh Vinh Mai" userId="b8e4a559-41e0-4141-8dc1-330451d69615" providerId="ADAL" clId="{9AF12651-E492-4749-A948-8FB040B70964}" dt="2024-07-11T22:49:23.115" v="11711" actId="20577"/>
        <pc:sldMkLst>
          <pc:docMk/>
          <pc:sldMk cId="2729605296" sldId="262"/>
        </pc:sldMkLst>
        <pc:spChg chg="add mod">
          <ac:chgData name="Dinh Vinh Mai" userId="b8e4a559-41e0-4141-8dc1-330451d69615" providerId="ADAL" clId="{9AF12651-E492-4749-A948-8FB040B70964}" dt="2024-07-11T22:49:23.115" v="11711" actId="20577"/>
          <ac:spMkLst>
            <pc:docMk/>
            <pc:sldMk cId="2729605296" sldId="262"/>
            <ac:spMk id="2" creationId="{98D47709-0A78-AACC-5CCE-FD59A7D17E27}"/>
          </ac:spMkLst>
        </pc:spChg>
        <pc:spChg chg="mod">
          <ac:chgData name="Dinh Vinh Mai" userId="b8e4a559-41e0-4141-8dc1-330451d69615" providerId="ADAL" clId="{9AF12651-E492-4749-A948-8FB040B70964}" dt="2024-07-11T09:05:22.824" v="7310" actId="20577"/>
          <ac:spMkLst>
            <pc:docMk/>
            <pc:sldMk cId="2729605296" sldId="262"/>
            <ac:spMk id="3" creationId="{96DD8BC4-D539-661E-8A88-53AF6C208F93}"/>
          </ac:spMkLst>
        </pc:spChg>
        <pc:spChg chg="mod">
          <ac:chgData name="Dinh Vinh Mai" userId="b8e4a559-41e0-4141-8dc1-330451d69615" providerId="ADAL" clId="{9AF12651-E492-4749-A948-8FB040B70964}" dt="2024-07-11T09:05:04.583" v="7283" actId="20577"/>
          <ac:spMkLst>
            <pc:docMk/>
            <pc:sldMk cId="2729605296" sldId="262"/>
            <ac:spMk id="4" creationId="{BBA13038-CAB8-FCA0-CDE8-65E40C2F10A3}"/>
          </ac:spMkLst>
        </pc:spChg>
      </pc:sldChg>
      <pc:sldChg chg="del">
        <pc:chgData name="Dinh Vinh Mai" userId="b8e4a559-41e0-4141-8dc1-330451d69615" providerId="ADAL" clId="{9AF12651-E492-4749-A948-8FB040B70964}" dt="2024-07-11T01:41:42.792" v="0" actId="47"/>
        <pc:sldMkLst>
          <pc:docMk/>
          <pc:sldMk cId="1501040282" sldId="263"/>
        </pc:sldMkLst>
      </pc:sldChg>
      <pc:sldChg chg="add ord">
        <pc:chgData name="Dinh Vinh Mai" userId="b8e4a559-41e0-4141-8dc1-330451d69615" providerId="ADAL" clId="{9AF12651-E492-4749-A948-8FB040B70964}" dt="2024-07-11T22:49:33.159" v="11713"/>
        <pc:sldMkLst>
          <pc:docMk/>
          <pc:sldMk cId="2236708295" sldId="263"/>
        </pc:sldMkLst>
      </pc:sldChg>
      <pc:sldChg chg="add del ord">
        <pc:chgData name="Dinh Vinh Mai" userId="b8e4a559-41e0-4141-8dc1-330451d69615" providerId="ADAL" clId="{9AF12651-E492-4749-A948-8FB040B70964}" dt="2024-07-11T09:05:35.894" v="7314" actId="47"/>
        <pc:sldMkLst>
          <pc:docMk/>
          <pc:sldMk cId="2960663922" sldId="263"/>
        </pc:sldMkLst>
      </pc:sldChg>
      <pc:sldChg chg="modSp add modAnim">
        <pc:chgData name="Dinh Vinh Mai" userId="b8e4a559-41e0-4141-8dc1-330451d69615" providerId="ADAL" clId="{9AF12651-E492-4749-A948-8FB040B70964}" dt="2024-07-11T23:16:27.961" v="14529" actId="207"/>
        <pc:sldMkLst>
          <pc:docMk/>
          <pc:sldMk cId="193709571" sldId="264"/>
        </pc:sldMkLst>
        <pc:spChg chg="mod">
          <ac:chgData name="Dinh Vinh Mai" userId="b8e4a559-41e0-4141-8dc1-330451d69615" providerId="ADAL" clId="{9AF12651-E492-4749-A948-8FB040B70964}" dt="2024-07-11T23:16:27.961" v="14529" actId="207"/>
          <ac:spMkLst>
            <pc:docMk/>
            <pc:sldMk cId="193709571" sldId="264"/>
            <ac:spMk id="2" creationId="{98D47709-0A78-AACC-5CCE-FD59A7D17E27}"/>
          </ac:spMkLst>
        </pc:spChg>
      </pc:sldChg>
      <pc:sldChg chg="del">
        <pc:chgData name="Dinh Vinh Mai" userId="b8e4a559-41e0-4141-8dc1-330451d69615" providerId="ADAL" clId="{9AF12651-E492-4749-A948-8FB040B70964}" dt="2024-07-11T01:41:42.792" v="0" actId="47"/>
        <pc:sldMkLst>
          <pc:docMk/>
          <pc:sldMk cId="364621379" sldId="264"/>
        </pc:sldMkLst>
      </pc:sldChg>
      <pc:sldChg chg="modSp add mod modAnim">
        <pc:chgData name="Dinh Vinh Mai" userId="b8e4a559-41e0-4141-8dc1-330451d69615" providerId="ADAL" clId="{9AF12651-E492-4749-A948-8FB040B70964}" dt="2024-07-11T23:31:06.508" v="15304" actId="20577"/>
        <pc:sldMkLst>
          <pc:docMk/>
          <pc:sldMk cId="3978505155" sldId="265"/>
        </pc:sldMkLst>
        <pc:spChg chg="mod">
          <ac:chgData name="Dinh Vinh Mai" userId="b8e4a559-41e0-4141-8dc1-330451d69615" providerId="ADAL" clId="{9AF12651-E492-4749-A948-8FB040B70964}" dt="2024-07-11T23:31:06.508" v="15304" actId="20577"/>
          <ac:spMkLst>
            <pc:docMk/>
            <pc:sldMk cId="3978505155" sldId="265"/>
            <ac:spMk id="2" creationId="{98D47709-0A78-AACC-5CCE-FD59A7D17E27}"/>
          </ac:spMkLst>
        </pc:spChg>
        <pc:spChg chg="mod">
          <ac:chgData name="Dinh Vinh Mai" userId="b8e4a559-41e0-4141-8dc1-330451d69615" providerId="ADAL" clId="{9AF12651-E492-4749-A948-8FB040B70964}" dt="2024-07-11T23:21:20.391" v="14574" actId="20577"/>
          <ac:spMkLst>
            <pc:docMk/>
            <pc:sldMk cId="3978505155" sldId="265"/>
            <ac:spMk id="3" creationId="{96DD8BC4-D539-661E-8A88-53AF6C208F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CA2D73-2532-A640-A667-27AB4D0D333F}" type="datetimeFigureOut">
              <a:t>8/1/26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FF3D1-0F45-2240-9B47-75654C02E24A}" type="slidenum">
              <a:t>‹#›</a:t>
            </a:fld>
            <a:endParaRPr lang="en-VN"/>
          </a:p>
        </p:txBody>
      </p:sp>
    </p:spTree>
    <p:extLst>
      <p:ext uri="{BB962C8B-B14F-4D97-AF65-F5344CB8AC3E}">
        <p14:creationId xmlns:p14="http://schemas.microsoft.com/office/powerpoint/2010/main" val="197142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E7630-52AC-6850-F366-337DC0C7C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D3F92-4320-FB05-41D9-3C2533839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05BA21-5291-00B1-DDA1-5A26DC3A8D7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329C4681-FA83-498B-F24F-3CAA3CBE94CE}"/>
              </a:ext>
            </a:extLst>
          </p:cNvPr>
          <p:cNvSpPr>
            <a:spLocks noGrp="1"/>
          </p:cNvSpPr>
          <p:nvPr>
            <p:ph type="sldNum" sz="quarter" idx="5"/>
          </p:nvPr>
        </p:nvSpPr>
        <p:spPr/>
        <p:txBody>
          <a:bodyPr/>
          <a:lstStyle/>
          <a:p>
            <a:fld id="{576FF3D1-0F45-2240-9B47-75654C02E24A}" type="slidenum">
              <a:t>2</a:t>
            </a:fld>
            <a:endParaRPr lang="en-VN"/>
          </a:p>
        </p:txBody>
      </p:sp>
    </p:spTree>
    <p:extLst>
      <p:ext uri="{BB962C8B-B14F-4D97-AF65-F5344CB8AC3E}">
        <p14:creationId xmlns:p14="http://schemas.microsoft.com/office/powerpoint/2010/main" val="2776201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EAE71-0C83-9BEC-8448-A0D1E66FE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B87F8-0E7E-9410-1CB8-E09708954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025336-6175-5BC6-84D0-6662BB76935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CA1712AB-14F0-2D3D-67A5-842F5226DE01}"/>
              </a:ext>
            </a:extLst>
          </p:cNvPr>
          <p:cNvSpPr>
            <a:spLocks noGrp="1"/>
          </p:cNvSpPr>
          <p:nvPr>
            <p:ph type="sldNum" sz="quarter" idx="5"/>
          </p:nvPr>
        </p:nvSpPr>
        <p:spPr/>
        <p:txBody>
          <a:bodyPr/>
          <a:lstStyle/>
          <a:p>
            <a:fld id="{576FF3D1-0F45-2240-9B47-75654C02E24A}" type="slidenum">
              <a:t>3</a:t>
            </a:fld>
            <a:endParaRPr lang="en-VN"/>
          </a:p>
        </p:txBody>
      </p:sp>
    </p:spTree>
    <p:extLst>
      <p:ext uri="{BB962C8B-B14F-4D97-AF65-F5344CB8AC3E}">
        <p14:creationId xmlns:p14="http://schemas.microsoft.com/office/powerpoint/2010/main" val="595968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DEB6D-EB07-D16C-9ED9-3525F4002D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4A994-E09D-1B20-2DF8-C297FFB72C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5CA1BB-FA93-61DC-B157-C9C23A2D14D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B989130-0587-1EA6-287B-6F834CA3A142}"/>
              </a:ext>
            </a:extLst>
          </p:cNvPr>
          <p:cNvSpPr>
            <a:spLocks noGrp="1"/>
          </p:cNvSpPr>
          <p:nvPr>
            <p:ph type="sldNum" sz="quarter" idx="5"/>
          </p:nvPr>
        </p:nvSpPr>
        <p:spPr/>
        <p:txBody>
          <a:bodyPr/>
          <a:lstStyle/>
          <a:p>
            <a:fld id="{576FF3D1-0F45-2240-9B47-75654C02E24A}" type="slidenum">
              <a:t>4</a:t>
            </a:fld>
            <a:endParaRPr lang="en-VN"/>
          </a:p>
        </p:txBody>
      </p:sp>
    </p:spTree>
    <p:extLst>
      <p:ext uri="{BB962C8B-B14F-4D97-AF65-F5344CB8AC3E}">
        <p14:creationId xmlns:p14="http://schemas.microsoft.com/office/powerpoint/2010/main" val="720572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D7D09-1757-6D02-3F81-3AAC1E117B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82EC6-8DFD-07E0-A167-EC336B7E7A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726125-4366-FD4D-327F-C47E6586461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5006E5F-7B63-C106-6113-FC86B25864CE}"/>
              </a:ext>
            </a:extLst>
          </p:cNvPr>
          <p:cNvSpPr>
            <a:spLocks noGrp="1"/>
          </p:cNvSpPr>
          <p:nvPr>
            <p:ph type="sldNum" sz="quarter" idx="5"/>
          </p:nvPr>
        </p:nvSpPr>
        <p:spPr/>
        <p:txBody>
          <a:bodyPr/>
          <a:lstStyle/>
          <a:p>
            <a:fld id="{576FF3D1-0F45-2240-9B47-75654C02E24A}" type="slidenum">
              <a:t>5</a:t>
            </a:fld>
            <a:endParaRPr lang="en-VN"/>
          </a:p>
        </p:txBody>
      </p:sp>
    </p:spTree>
    <p:extLst>
      <p:ext uri="{BB962C8B-B14F-4D97-AF65-F5344CB8AC3E}">
        <p14:creationId xmlns:p14="http://schemas.microsoft.com/office/powerpoint/2010/main" val="1378772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A4D07-61E7-3BB3-5C79-5C0248C01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F71C0-DE47-F607-1EB6-D4FB636DB1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5EE5F-61E6-366A-E021-C48B5845BC3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1647EE15-1F41-2EB3-3FB0-CF26ABC3A197}"/>
              </a:ext>
            </a:extLst>
          </p:cNvPr>
          <p:cNvSpPr>
            <a:spLocks noGrp="1"/>
          </p:cNvSpPr>
          <p:nvPr>
            <p:ph type="sldNum" sz="quarter" idx="5"/>
          </p:nvPr>
        </p:nvSpPr>
        <p:spPr/>
        <p:txBody>
          <a:bodyPr/>
          <a:lstStyle/>
          <a:p>
            <a:fld id="{576FF3D1-0F45-2240-9B47-75654C02E24A}" type="slidenum">
              <a:t>6</a:t>
            </a:fld>
            <a:endParaRPr lang="en-VN"/>
          </a:p>
        </p:txBody>
      </p:sp>
    </p:spTree>
    <p:extLst>
      <p:ext uri="{BB962C8B-B14F-4D97-AF65-F5344CB8AC3E}">
        <p14:creationId xmlns:p14="http://schemas.microsoft.com/office/powerpoint/2010/main" val="3907974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77C-911B-C068-D383-846071C20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F45E6-9F41-334B-B9FF-0DC04B824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A335C-0C45-C4C3-402C-D5E9C04A755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437946B-4124-BE0B-76AB-2766F4DAF318}"/>
              </a:ext>
            </a:extLst>
          </p:cNvPr>
          <p:cNvSpPr>
            <a:spLocks noGrp="1"/>
          </p:cNvSpPr>
          <p:nvPr>
            <p:ph type="sldNum" sz="quarter" idx="5"/>
          </p:nvPr>
        </p:nvSpPr>
        <p:spPr/>
        <p:txBody>
          <a:bodyPr/>
          <a:lstStyle/>
          <a:p>
            <a:fld id="{576FF3D1-0F45-2240-9B47-75654C02E24A}" type="slidenum">
              <a:t>7</a:t>
            </a:fld>
            <a:endParaRPr lang="en-VN"/>
          </a:p>
        </p:txBody>
      </p:sp>
    </p:spTree>
    <p:extLst>
      <p:ext uri="{BB962C8B-B14F-4D97-AF65-F5344CB8AC3E}">
        <p14:creationId xmlns:p14="http://schemas.microsoft.com/office/powerpoint/2010/main" val="2850852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83A3D-7477-F14B-5C9C-C49E6C4D7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1DFB7-0272-BF68-BBC2-CD458DF1FE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9F9835-E810-E0F4-2106-A8179DB13AE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BAEB4D5-53D3-97FB-9A2F-53D035341315}"/>
              </a:ext>
            </a:extLst>
          </p:cNvPr>
          <p:cNvSpPr>
            <a:spLocks noGrp="1"/>
          </p:cNvSpPr>
          <p:nvPr>
            <p:ph type="sldNum" sz="quarter" idx="5"/>
          </p:nvPr>
        </p:nvSpPr>
        <p:spPr/>
        <p:txBody>
          <a:bodyPr/>
          <a:lstStyle/>
          <a:p>
            <a:fld id="{576FF3D1-0F45-2240-9B47-75654C02E24A}" type="slidenum">
              <a:t>8</a:t>
            </a:fld>
            <a:endParaRPr lang="en-VN"/>
          </a:p>
        </p:txBody>
      </p:sp>
    </p:spTree>
    <p:extLst>
      <p:ext uri="{BB962C8B-B14F-4D97-AF65-F5344CB8AC3E}">
        <p14:creationId xmlns:p14="http://schemas.microsoft.com/office/powerpoint/2010/main" val="141346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09E9B-678F-F9C4-3570-A9F0921CBF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9858C-E182-3E0B-EEFF-3B29B8625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FEB9DF-C1D2-AA93-669C-F06C9AC21C5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ECAEA75-C34A-B21E-D4B8-E4349FB4C0BC}"/>
              </a:ext>
            </a:extLst>
          </p:cNvPr>
          <p:cNvSpPr>
            <a:spLocks noGrp="1"/>
          </p:cNvSpPr>
          <p:nvPr>
            <p:ph type="sldNum" sz="quarter" idx="5"/>
          </p:nvPr>
        </p:nvSpPr>
        <p:spPr/>
        <p:txBody>
          <a:bodyPr/>
          <a:lstStyle/>
          <a:p>
            <a:fld id="{576FF3D1-0F45-2240-9B47-75654C02E24A}" type="slidenum">
              <a:t>9</a:t>
            </a:fld>
            <a:endParaRPr lang="en-VN"/>
          </a:p>
        </p:txBody>
      </p:sp>
    </p:spTree>
    <p:extLst>
      <p:ext uri="{BB962C8B-B14F-4D97-AF65-F5344CB8AC3E}">
        <p14:creationId xmlns:p14="http://schemas.microsoft.com/office/powerpoint/2010/main" val="4010227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A4C4B-7456-F173-B120-688C448D42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68DEB-84F7-E93F-CD1B-494FF2723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0BD9B-8079-9A49-BC9F-3264912C302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3E8E381-CB82-E8EC-D8D8-DCCD4D81969C}"/>
              </a:ext>
            </a:extLst>
          </p:cNvPr>
          <p:cNvSpPr>
            <a:spLocks noGrp="1"/>
          </p:cNvSpPr>
          <p:nvPr>
            <p:ph type="sldNum" sz="quarter" idx="5"/>
          </p:nvPr>
        </p:nvSpPr>
        <p:spPr/>
        <p:txBody>
          <a:bodyPr/>
          <a:lstStyle/>
          <a:p>
            <a:fld id="{576FF3D1-0F45-2240-9B47-75654C02E24A}" type="slidenum">
              <a:t>10</a:t>
            </a:fld>
            <a:endParaRPr lang="en-VN"/>
          </a:p>
        </p:txBody>
      </p:sp>
    </p:spTree>
    <p:extLst>
      <p:ext uri="{BB962C8B-B14F-4D97-AF65-F5344CB8AC3E}">
        <p14:creationId xmlns:p14="http://schemas.microsoft.com/office/powerpoint/2010/main" val="3670587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EF33C-6B73-E0CF-E637-A83AB3077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A4EA97-C4A8-EB9A-5485-B7CD79BED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72D3A-5B22-9FF0-84EE-440574FF948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5673000-C2F3-3BD7-AF93-3DDA3AF0B806}"/>
              </a:ext>
            </a:extLst>
          </p:cNvPr>
          <p:cNvSpPr>
            <a:spLocks noGrp="1"/>
          </p:cNvSpPr>
          <p:nvPr>
            <p:ph type="sldNum" sz="quarter" idx="5"/>
          </p:nvPr>
        </p:nvSpPr>
        <p:spPr/>
        <p:txBody>
          <a:bodyPr/>
          <a:lstStyle/>
          <a:p>
            <a:fld id="{576FF3D1-0F45-2240-9B47-75654C02E24A}" type="slidenum">
              <a:t>11</a:t>
            </a:fld>
            <a:endParaRPr lang="en-VN"/>
          </a:p>
        </p:txBody>
      </p:sp>
    </p:spTree>
    <p:extLst>
      <p:ext uri="{BB962C8B-B14F-4D97-AF65-F5344CB8AC3E}">
        <p14:creationId xmlns:p14="http://schemas.microsoft.com/office/powerpoint/2010/main" val="3025419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26C4E-21EB-8F8E-1851-5AFA8AF8B5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1D886-F038-B785-F617-DBE3B326CC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254AE1-602C-37D3-D666-921AEDE10E1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82002A3E-72F3-D652-2F6F-4DAC44200C16}"/>
              </a:ext>
            </a:extLst>
          </p:cNvPr>
          <p:cNvSpPr>
            <a:spLocks noGrp="1"/>
          </p:cNvSpPr>
          <p:nvPr>
            <p:ph type="sldNum" sz="quarter" idx="5"/>
          </p:nvPr>
        </p:nvSpPr>
        <p:spPr/>
        <p:txBody>
          <a:bodyPr/>
          <a:lstStyle/>
          <a:p>
            <a:fld id="{576FF3D1-0F45-2240-9B47-75654C02E24A}" type="slidenum">
              <a:t>12</a:t>
            </a:fld>
            <a:endParaRPr lang="en-VN"/>
          </a:p>
        </p:txBody>
      </p:sp>
    </p:spTree>
    <p:extLst>
      <p:ext uri="{BB962C8B-B14F-4D97-AF65-F5344CB8AC3E}">
        <p14:creationId xmlns:p14="http://schemas.microsoft.com/office/powerpoint/2010/main" val="14787083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714BC-EFAB-C7ED-B4BA-F1C91DD8C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BA837-C560-1499-20A8-0BAB78C2C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1B5300-4683-4FF4-104C-ED607FC226C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0D9C041-474D-039E-DD1C-E9994BF8B038}"/>
              </a:ext>
            </a:extLst>
          </p:cNvPr>
          <p:cNvSpPr>
            <a:spLocks noGrp="1"/>
          </p:cNvSpPr>
          <p:nvPr>
            <p:ph type="sldNum" sz="quarter" idx="5"/>
          </p:nvPr>
        </p:nvSpPr>
        <p:spPr/>
        <p:txBody>
          <a:bodyPr/>
          <a:lstStyle/>
          <a:p>
            <a:fld id="{576FF3D1-0F45-2240-9B47-75654C02E24A}" type="slidenum">
              <a:t>13</a:t>
            </a:fld>
            <a:endParaRPr lang="en-VN"/>
          </a:p>
        </p:txBody>
      </p:sp>
    </p:spTree>
    <p:extLst>
      <p:ext uri="{BB962C8B-B14F-4D97-AF65-F5344CB8AC3E}">
        <p14:creationId xmlns:p14="http://schemas.microsoft.com/office/powerpoint/2010/main" val="4169070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577E6-904F-4DFE-6308-1EC0A5D98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21F09-57AE-1765-9E06-025A3AE6E8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BFA11-9D14-EC05-1E70-0E1F10661BE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260A011-E81C-69DA-AFA1-3865B7A7F5A8}"/>
              </a:ext>
            </a:extLst>
          </p:cNvPr>
          <p:cNvSpPr>
            <a:spLocks noGrp="1"/>
          </p:cNvSpPr>
          <p:nvPr>
            <p:ph type="sldNum" sz="quarter" idx="5"/>
          </p:nvPr>
        </p:nvSpPr>
        <p:spPr/>
        <p:txBody>
          <a:bodyPr/>
          <a:lstStyle/>
          <a:p>
            <a:fld id="{576FF3D1-0F45-2240-9B47-75654C02E24A}" type="slidenum">
              <a:t>14</a:t>
            </a:fld>
            <a:endParaRPr lang="en-VN"/>
          </a:p>
        </p:txBody>
      </p:sp>
    </p:spTree>
    <p:extLst>
      <p:ext uri="{BB962C8B-B14F-4D97-AF65-F5344CB8AC3E}">
        <p14:creationId xmlns:p14="http://schemas.microsoft.com/office/powerpoint/2010/main" val="1866959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04B06-98C7-44BE-CE65-51AD08AC4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DF3DE-06F6-82B9-F03B-B7CB78FEF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AC3832-B1FF-F2C4-9CCA-36AC5831E11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A1B909B-A263-228F-E3F1-90BAA956F498}"/>
              </a:ext>
            </a:extLst>
          </p:cNvPr>
          <p:cNvSpPr>
            <a:spLocks noGrp="1"/>
          </p:cNvSpPr>
          <p:nvPr>
            <p:ph type="sldNum" sz="quarter" idx="5"/>
          </p:nvPr>
        </p:nvSpPr>
        <p:spPr/>
        <p:txBody>
          <a:bodyPr/>
          <a:lstStyle/>
          <a:p>
            <a:fld id="{576FF3D1-0F45-2240-9B47-75654C02E24A}" type="slidenum">
              <a:t>15</a:t>
            </a:fld>
            <a:endParaRPr lang="en-VN"/>
          </a:p>
        </p:txBody>
      </p:sp>
    </p:spTree>
    <p:extLst>
      <p:ext uri="{BB962C8B-B14F-4D97-AF65-F5344CB8AC3E}">
        <p14:creationId xmlns:p14="http://schemas.microsoft.com/office/powerpoint/2010/main" val="2692737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22E9B-F321-51DF-CB9D-E5149E611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64B55-226A-E721-F4FD-48896F86EA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0EA7E-625F-ED76-9D00-13958FB2677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F574449-CD7E-C7D8-EE6E-403233F406C6}"/>
              </a:ext>
            </a:extLst>
          </p:cNvPr>
          <p:cNvSpPr>
            <a:spLocks noGrp="1"/>
          </p:cNvSpPr>
          <p:nvPr>
            <p:ph type="sldNum" sz="quarter" idx="5"/>
          </p:nvPr>
        </p:nvSpPr>
        <p:spPr/>
        <p:txBody>
          <a:bodyPr/>
          <a:lstStyle/>
          <a:p>
            <a:fld id="{576FF3D1-0F45-2240-9B47-75654C02E24A}" type="slidenum">
              <a:t>16</a:t>
            </a:fld>
            <a:endParaRPr lang="en-VN"/>
          </a:p>
        </p:txBody>
      </p:sp>
    </p:spTree>
    <p:extLst>
      <p:ext uri="{BB962C8B-B14F-4D97-AF65-F5344CB8AC3E}">
        <p14:creationId xmlns:p14="http://schemas.microsoft.com/office/powerpoint/2010/main" val="26231526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667AE-C0C3-8C8F-E94D-95C19E2D1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2A443-DE99-2533-4411-0DEE1753B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8596D8-E168-E7F5-2726-2CDD7C7849E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C5C820D-2FA2-07E4-F08C-0CA810CB3C2C}"/>
              </a:ext>
            </a:extLst>
          </p:cNvPr>
          <p:cNvSpPr>
            <a:spLocks noGrp="1"/>
          </p:cNvSpPr>
          <p:nvPr>
            <p:ph type="sldNum" sz="quarter" idx="5"/>
          </p:nvPr>
        </p:nvSpPr>
        <p:spPr/>
        <p:txBody>
          <a:bodyPr/>
          <a:lstStyle/>
          <a:p>
            <a:fld id="{576FF3D1-0F45-2240-9B47-75654C02E24A}" type="slidenum">
              <a:t>17</a:t>
            </a:fld>
            <a:endParaRPr lang="en-VN"/>
          </a:p>
        </p:txBody>
      </p:sp>
    </p:spTree>
    <p:extLst>
      <p:ext uri="{BB962C8B-B14F-4D97-AF65-F5344CB8AC3E}">
        <p14:creationId xmlns:p14="http://schemas.microsoft.com/office/powerpoint/2010/main" val="35359788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8E3CC-86F4-7F94-12CD-33682A973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35D7D4-3EAE-F21F-1344-A9972D4C28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9AA7C2-548F-51E8-7911-FE70E3DF9B7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851309A-6B46-8A0D-3B5E-551F437D2718}"/>
              </a:ext>
            </a:extLst>
          </p:cNvPr>
          <p:cNvSpPr>
            <a:spLocks noGrp="1"/>
          </p:cNvSpPr>
          <p:nvPr>
            <p:ph type="sldNum" sz="quarter" idx="5"/>
          </p:nvPr>
        </p:nvSpPr>
        <p:spPr/>
        <p:txBody>
          <a:bodyPr/>
          <a:lstStyle/>
          <a:p>
            <a:fld id="{576FF3D1-0F45-2240-9B47-75654C02E24A}" type="slidenum">
              <a:t>18</a:t>
            </a:fld>
            <a:endParaRPr lang="en-VN"/>
          </a:p>
        </p:txBody>
      </p:sp>
    </p:spTree>
    <p:extLst>
      <p:ext uri="{BB962C8B-B14F-4D97-AF65-F5344CB8AC3E}">
        <p14:creationId xmlns:p14="http://schemas.microsoft.com/office/powerpoint/2010/main" val="41780500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10A31-1789-3F9E-C4B6-F6B390A4B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0071C-F933-00C5-0A8D-2AD3DC8A6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CA7684-0FE3-D18E-EC68-9C67787FACA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5FF7C6F-2406-542E-AB9C-67C35CFB721B}"/>
              </a:ext>
            </a:extLst>
          </p:cNvPr>
          <p:cNvSpPr>
            <a:spLocks noGrp="1"/>
          </p:cNvSpPr>
          <p:nvPr>
            <p:ph type="sldNum" sz="quarter" idx="5"/>
          </p:nvPr>
        </p:nvSpPr>
        <p:spPr/>
        <p:txBody>
          <a:bodyPr/>
          <a:lstStyle/>
          <a:p>
            <a:fld id="{576FF3D1-0F45-2240-9B47-75654C02E24A}" type="slidenum">
              <a:t>19</a:t>
            </a:fld>
            <a:endParaRPr lang="en-VN"/>
          </a:p>
        </p:txBody>
      </p:sp>
    </p:spTree>
    <p:extLst>
      <p:ext uri="{BB962C8B-B14F-4D97-AF65-F5344CB8AC3E}">
        <p14:creationId xmlns:p14="http://schemas.microsoft.com/office/powerpoint/2010/main" val="5250196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D92B3-4BE3-E079-FD3B-96698CF5A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FF02D-01CA-BCAC-154B-5930EB6E88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5DB5F-F514-4A32-A424-A14F49383B2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01CA05F-DC3C-DDD0-67C4-5438993AAAEF}"/>
              </a:ext>
            </a:extLst>
          </p:cNvPr>
          <p:cNvSpPr>
            <a:spLocks noGrp="1"/>
          </p:cNvSpPr>
          <p:nvPr>
            <p:ph type="sldNum" sz="quarter" idx="5"/>
          </p:nvPr>
        </p:nvSpPr>
        <p:spPr/>
        <p:txBody>
          <a:bodyPr/>
          <a:lstStyle/>
          <a:p>
            <a:fld id="{576FF3D1-0F45-2240-9B47-75654C02E24A}" type="slidenum">
              <a:t>20</a:t>
            </a:fld>
            <a:endParaRPr lang="en-VN"/>
          </a:p>
        </p:txBody>
      </p:sp>
    </p:spTree>
    <p:extLst>
      <p:ext uri="{BB962C8B-B14F-4D97-AF65-F5344CB8AC3E}">
        <p14:creationId xmlns:p14="http://schemas.microsoft.com/office/powerpoint/2010/main" val="2509136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3602A-60D0-770B-28FD-FEEFA669E4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B8B67-CE71-2374-A68C-7CA725093C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0BA501-7916-8C87-C0FE-7AD7F07F37AE}"/>
              </a:ext>
            </a:extLst>
          </p:cNvPr>
          <p:cNvSpPr>
            <a:spLocks noGrp="1"/>
          </p:cNvSpPr>
          <p:nvPr>
            <p:ph type="body" idx="1"/>
          </p:nvPr>
        </p:nvSpPr>
        <p:spPr/>
        <p:txBody>
          <a:bodyPr/>
          <a:lstStyle/>
          <a:p>
            <a:r>
              <a:rPr lang="en-VN"/>
              <a:t>Question 8</a:t>
            </a:r>
          </a:p>
        </p:txBody>
      </p:sp>
      <p:sp>
        <p:nvSpPr>
          <p:cNvPr id="4" name="Slide Number Placeholder 3">
            <a:extLst>
              <a:ext uri="{FF2B5EF4-FFF2-40B4-BE49-F238E27FC236}">
                <a16:creationId xmlns:a16="http://schemas.microsoft.com/office/drawing/2014/main" id="{AB7D01C6-750D-8EAF-C4A2-063AF6A1F944}"/>
              </a:ext>
            </a:extLst>
          </p:cNvPr>
          <p:cNvSpPr>
            <a:spLocks noGrp="1"/>
          </p:cNvSpPr>
          <p:nvPr>
            <p:ph type="sldNum" sz="quarter" idx="5"/>
          </p:nvPr>
        </p:nvSpPr>
        <p:spPr/>
        <p:txBody>
          <a:bodyPr/>
          <a:lstStyle/>
          <a:p>
            <a:fld id="{576FF3D1-0F45-2240-9B47-75654C02E24A}" type="slidenum">
              <a:t>21</a:t>
            </a:fld>
            <a:endParaRPr lang="en-VN"/>
          </a:p>
        </p:txBody>
      </p:sp>
    </p:spTree>
    <p:extLst>
      <p:ext uri="{BB962C8B-B14F-4D97-AF65-F5344CB8AC3E}">
        <p14:creationId xmlns:p14="http://schemas.microsoft.com/office/powerpoint/2010/main" val="31120810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A7216-D2A3-DD48-D907-38A7F6358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4531B-3906-BCAD-7FEA-D50B3BB036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46EAD7-C065-3A2D-CA66-A420458080F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829EE50-8B00-1B2E-784C-31B29453FD83}"/>
              </a:ext>
            </a:extLst>
          </p:cNvPr>
          <p:cNvSpPr>
            <a:spLocks noGrp="1"/>
          </p:cNvSpPr>
          <p:nvPr>
            <p:ph type="sldNum" sz="quarter" idx="5"/>
          </p:nvPr>
        </p:nvSpPr>
        <p:spPr/>
        <p:txBody>
          <a:bodyPr/>
          <a:lstStyle/>
          <a:p>
            <a:fld id="{576FF3D1-0F45-2240-9B47-75654C02E24A}" type="slidenum">
              <a:t>22</a:t>
            </a:fld>
            <a:endParaRPr lang="en-VN"/>
          </a:p>
        </p:txBody>
      </p:sp>
    </p:spTree>
    <p:extLst>
      <p:ext uri="{BB962C8B-B14F-4D97-AF65-F5344CB8AC3E}">
        <p14:creationId xmlns:p14="http://schemas.microsoft.com/office/powerpoint/2010/main" val="18979169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36E20-6DCD-FA68-DB99-8873E2060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D0B49-2751-E326-DCEC-9857B58F1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A0D1D-D18D-E0CB-9463-C05785D1C61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2BBEF5A-0584-0028-604D-2F6B1BCD3698}"/>
              </a:ext>
            </a:extLst>
          </p:cNvPr>
          <p:cNvSpPr>
            <a:spLocks noGrp="1"/>
          </p:cNvSpPr>
          <p:nvPr>
            <p:ph type="sldNum" sz="quarter" idx="5"/>
          </p:nvPr>
        </p:nvSpPr>
        <p:spPr/>
        <p:txBody>
          <a:bodyPr/>
          <a:lstStyle/>
          <a:p>
            <a:fld id="{576FF3D1-0F45-2240-9B47-75654C02E24A}" type="slidenum">
              <a:t>23</a:t>
            </a:fld>
            <a:endParaRPr lang="en-VN"/>
          </a:p>
        </p:txBody>
      </p:sp>
    </p:spTree>
    <p:extLst>
      <p:ext uri="{BB962C8B-B14F-4D97-AF65-F5344CB8AC3E}">
        <p14:creationId xmlns:p14="http://schemas.microsoft.com/office/powerpoint/2010/main" val="23543517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86F50-B4B4-C6CC-4164-BD85F1389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47827-596F-11FF-8338-DE7DEF21A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B32E7C-8CF0-C402-5563-51533F783F5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C508BA63-6580-B66A-3E93-7393785386DD}"/>
              </a:ext>
            </a:extLst>
          </p:cNvPr>
          <p:cNvSpPr>
            <a:spLocks noGrp="1"/>
          </p:cNvSpPr>
          <p:nvPr>
            <p:ph type="sldNum" sz="quarter" idx="5"/>
          </p:nvPr>
        </p:nvSpPr>
        <p:spPr/>
        <p:txBody>
          <a:bodyPr/>
          <a:lstStyle/>
          <a:p>
            <a:fld id="{576FF3D1-0F45-2240-9B47-75654C02E24A}" type="slidenum">
              <a:t>24</a:t>
            </a:fld>
            <a:endParaRPr lang="en-VN"/>
          </a:p>
        </p:txBody>
      </p:sp>
    </p:spTree>
    <p:extLst>
      <p:ext uri="{BB962C8B-B14F-4D97-AF65-F5344CB8AC3E}">
        <p14:creationId xmlns:p14="http://schemas.microsoft.com/office/powerpoint/2010/main" val="23390078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0C0A8-9F50-5AF3-6E67-3FE1AA6F3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0AEAE-2C56-B506-DB71-55E86E1A9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9B38B-32D8-A585-7AD1-8C23B81558A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2EEAF75-2D74-BA83-AF19-938A10CC7C9F}"/>
              </a:ext>
            </a:extLst>
          </p:cNvPr>
          <p:cNvSpPr>
            <a:spLocks noGrp="1"/>
          </p:cNvSpPr>
          <p:nvPr>
            <p:ph type="sldNum" sz="quarter" idx="5"/>
          </p:nvPr>
        </p:nvSpPr>
        <p:spPr/>
        <p:txBody>
          <a:bodyPr/>
          <a:lstStyle/>
          <a:p>
            <a:fld id="{576FF3D1-0F45-2240-9B47-75654C02E24A}" type="slidenum">
              <a:t>25</a:t>
            </a:fld>
            <a:endParaRPr lang="en-VN"/>
          </a:p>
        </p:txBody>
      </p:sp>
    </p:spTree>
    <p:extLst>
      <p:ext uri="{BB962C8B-B14F-4D97-AF65-F5344CB8AC3E}">
        <p14:creationId xmlns:p14="http://schemas.microsoft.com/office/powerpoint/2010/main" val="127299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1C341-0D21-3307-02A4-61F3B31A9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BA690-F317-F045-796F-19D0813326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373AD4-E14D-D5A9-AED6-3FB31B361D5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5C3C652-87AD-5374-B954-D394D1B7EF75}"/>
              </a:ext>
            </a:extLst>
          </p:cNvPr>
          <p:cNvSpPr>
            <a:spLocks noGrp="1"/>
          </p:cNvSpPr>
          <p:nvPr>
            <p:ph type="sldNum" sz="quarter" idx="5"/>
          </p:nvPr>
        </p:nvSpPr>
        <p:spPr/>
        <p:txBody>
          <a:bodyPr/>
          <a:lstStyle/>
          <a:p>
            <a:fld id="{576FF3D1-0F45-2240-9B47-75654C02E24A}" type="slidenum">
              <a:t>26</a:t>
            </a:fld>
            <a:endParaRPr lang="en-VN"/>
          </a:p>
        </p:txBody>
      </p:sp>
    </p:spTree>
    <p:extLst>
      <p:ext uri="{BB962C8B-B14F-4D97-AF65-F5344CB8AC3E}">
        <p14:creationId xmlns:p14="http://schemas.microsoft.com/office/powerpoint/2010/main" val="19622203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8484B-07DC-E8DC-31BF-2D7228C89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B1966-D9F8-E8FD-38DF-72174E49CF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9EE62-D049-E274-98BB-387B38695FD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6C4C9EB5-6660-AF34-DF0D-334339D8DA14}"/>
              </a:ext>
            </a:extLst>
          </p:cNvPr>
          <p:cNvSpPr>
            <a:spLocks noGrp="1"/>
          </p:cNvSpPr>
          <p:nvPr>
            <p:ph type="sldNum" sz="quarter" idx="5"/>
          </p:nvPr>
        </p:nvSpPr>
        <p:spPr/>
        <p:txBody>
          <a:bodyPr/>
          <a:lstStyle/>
          <a:p>
            <a:fld id="{576FF3D1-0F45-2240-9B47-75654C02E24A}" type="slidenum">
              <a:t>27</a:t>
            </a:fld>
            <a:endParaRPr lang="en-VN"/>
          </a:p>
        </p:txBody>
      </p:sp>
    </p:spTree>
    <p:extLst>
      <p:ext uri="{BB962C8B-B14F-4D97-AF65-F5344CB8AC3E}">
        <p14:creationId xmlns:p14="http://schemas.microsoft.com/office/powerpoint/2010/main" val="37263765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467A5-D8EF-F3C3-7EB8-79BC5D2BF6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760A4-7979-4C11-A822-267884FF36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D4568-40EA-EB64-D61A-175BEDBC36B8}"/>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3FBE80E-A887-0CAF-077D-133363471B06}"/>
              </a:ext>
            </a:extLst>
          </p:cNvPr>
          <p:cNvSpPr>
            <a:spLocks noGrp="1"/>
          </p:cNvSpPr>
          <p:nvPr>
            <p:ph type="sldNum" sz="quarter" idx="5"/>
          </p:nvPr>
        </p:nvSpPr>
        <p:spPr/>
        <p:txBody>
          <a:bodyPr/>
          <a:lstStyle/>
          <a:p>
            <a:fld id="{576FF3D1-0F45-2240-9B47-75654C02E24A}" type="slidenum">
              <a:t>28</a:t>
            </a:fld>
            <a:endParaRPr lang="en-VN"/>
          </a:p>
        </p:txBody>
      </p:sp>
    </p:spTree>
    <p:extLst>
      <p:ext uri="{BB962C8B-B14F-4D97-AF65-F5344CB8AC3E}">
        <p14:creationId xmlns:p14="http://schemas.microsoft.com/office/powerpoint/2010/main" val="13419716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D4F-1520-B325-4D62-4495A2337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15E41-F619-5E70-E14F-2975B88CA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EA43EE-347B-92C7-31F0-C4B8DEB337D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EE48CBF-F749-713D-78BD-809FC56C7559}"/>
              </a:ext>
            </a:extLst>
          </p:cNvPr>
          <p:cNvSpPr>
            <a:spLocks noGrp="1"/>
          </p:cNvSpPr>
          <p:nvPr>
            <p:ph type="sldNum" sz="quarter" idx="5"/>
          </p:nvPr>
        </p:nvSpPr>
        <p:spPr/>
        <p:txBody>
          <a:bodyPr/>
          <a:lstStyle/>
          <a:p>
            <a:fld id="{576FF3D1-0F45-2240-9B47-75654C02E24A}" type="slidenum">
              <a:t>29</a:t>
            </a:fld>
            <a:endParaRPr lang="en-VN"/>
          </a:p>
        </p:txBody>
      </p:sp>
    </p:spTree>
    <p:extLst>
      <p:ext uri="{BB962C8B-B14F-4D97-AF65-F5344CB8AC3E}">
        <p14:creationId xmlns:p14="http://schemas.microsoft.com/office/powerpoint/2010/main" val="21641947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FD60C-4436-7E5D-9199-357302B97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7A3E94-BAE1-1E18-1573-716E518CE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576C82-AFF7-FF7A-0289-D8C634EBDDA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345C287-4B5F-9644-DC19-5921F18EA952}"/>
              </a:ext>
            </a:extLst>
          </p:cNvPr>
          <p:cNvSpPr>
            <a:spLocks noGrp="1"/>
          </p:cNvSpPr>
          <p:nvPr>
            <p:ph type="sldNum" sz="quarter" idx="5"/>
          </p:nvPr>
        </p:nvSpPr>
        <p:spPr/>
        <p:txBody>
          <a:bodyPr/>
          <a:lstStyle/>
          <a:p>
            <a:fld id="{576FF3D1-0F45-2240-9B47-75654C02E24A}" type="slidenum">
              <a:t>30</a:t>
            </a:fld>
            <a:endParaRPr lang="en-VN"/>
          </a:p>
        </p:txBody>
      </p:sp>
    </p:spTree>
    <p:extLst>
      <p:ext uri="{BB962C8B-B14F-4D97-AF65-F5344CB8AC3E}">
        <p14:creationId xmlns:p14="http://schemas.microsoft.com/office/powerpoint/2010/main" val="33870682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A0BA8-2C9D-3AA0-56B8-F154C3FDB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AF99C0-019F-E344-B529-6CA81CCB32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34EC8E-3703-BEE0-FB0E-F6A01DD165A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485E621-AB44-FC3F-D353-2E2B6D949D9E}"/>
              </a:ext>
            </a:extLst>
          </p:cNvPr>
          <p:cNvSpPr>
            <a:spLocks noGrp="1"/>
          </p:cNvSpPr>
          <p:nvPr>
            <p:ph type="sldNum" sz="quarter" idx="5"/>
          </p:nvPr>
        </p:nvSpPr>
        <p:spPr/>
        <p:txBody>
          <a:bodyPr/>
          <a:lstStyle/>
          <a:p>
            <a:fld id="{576FF3D1-0F45-2240-9B47-75654C02E24A}" type="slidenum">
              <a:t>31</a:t>
            </a:fld>
            <a:endParaRPr lang="en-VN"/>
          </a:p>
        </p:txBody>
      </p:sp>
    </p:spTree>
    <p:extLst>
      <p:ext uri="{BB962C8B-B14F-4D97-AF65-F5344CB8AC3E}">
        <p14:creationId xmlns:p14="http://schemas.microsoft.com/office/powerpoint/2010/main" val="34670893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770C1-7E73-3D67-C892-AFB4CA909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89FA4-DBDA-49A1-C0D1-6881D0E249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15F819-4456-E2C2-F41D-7C59563F572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AFB401E-9ABA-469E-FE1F-5CDEA91FE27C}"/>
              </a:ext>
            </a:extLst>
          </p:cNvPr>
          <p:cNvSpPr>
            <a:spLocks noGrp="1"/>
          </p:cNvSpPr>
          <p:nvPr>
            <p:ph type="sldNum" sz="quarter" idx="5"/>
          </p:nvPr>
        </p:nvSpPr>
        <p:spPr/>
        <p:txBody>
          <a:bodyPr/>
          <a:lstStyle/>
          <a:p>
            <a:fld id="{576FF3D1-0F45-2240-9B47-75654C02E24A}" type="slidenum">
              <a:t>32</a:t>
            </a:fld>
            <a:endParaRPr lang="en-VN"/>
          </a:p>
        </p:txBody>
      </p:sp>
    </p:spTree>
    <p:extLst>
      <p:ext uri="{BB962C8B-B14F-4D97-AF65-F5344CB8AC3E}">
        <p14:creationId xmlns:p14="http://schemas.microsoft.com/office/powerpoint/2010/main" val="30770814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4608D-687E-38A0-5DC4-B4323C1B72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76266B-3AE7-E2AD-71BD-5F2629D92C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51282-E0F0-DFA8-16B2-3DDCF09DD4F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7C6D76C-1617-6867-F585-0ED1F7563BA7}"/>
              </a:ext>
            </a:extLst>
          </p:cNvPr>
          <p:cNvSpPr>
            <a:spLocks noGrp="1"/>
          </p:cNvSpPr>
          <p:nvPr>
            <p:ph type="sldNum" sz="quarter" idx="5"/>
          </p:nvPr>
        </p:nvSpPr>
        <p:spPr/>
        <p:txBody>
          <a:bodyPr/>
          <a:lstStyle/>
          <a:p>
            <a:fld id="{576FF3D1-0F45-2240-9B47-75654C02E24A}" type="slidenum">
              <a:t>33</a:t>
            </a:fld>
            <a:endParaRPr lang="en-VN"/>
          </a:p>
        </p:txBody>
      </p:sp>
    </p:spTree>
    <p:extLst>
      <p:ext uri="{BB962C8B-B14F-4D97-AF65-F5344CB8AC3E}">
        <p14:creationId xmlns:p14="http://schemas.microsoft.com/office/powerpoint/2010/main" val="35786598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BE087-6C3E-8FE5-FD54-95765ADCB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5E9F22-4712-58CB-05CF-D3FCDD0664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7D8BAD-8487-8A76-10C5-C6E3E36A2D2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14D5F054-52D1-9F3E-D1B3-4583E669A6A5}"/>
              </a:ext>
            </a:extLst>
          </p:cNvPr>
          <p:cNvSpPr>
            <a:spLocks noGrp="1"/>
          </p:cNvSpPr>
          <p:nvPr>
            <p:ph type="sldNum" sz="quarter" idx="5"/>
          </p:nvPr>
        </p:nvSpPr>
        <p:spPr/>
        <p:txBody>
          <a:bodyPr/>
          <a:lstStyle/>
          <a:p>
            <a:fld id="{576FF3D1-0F45-2240-9B47-75654C02E24A}" type="slidenum">
              <a:t>34</a:t>
            </a:fld>
            <a:endParaRPr lang="en-VN"/>
          </a:p>
        </p:txBody>
      </p:sp>
    </p:spTree>
    <p:extLst>
      <p:ext uri="{BB962C8B-B14F-4D97-AF65-F5344CB8AC3E}">
        <p14:creationId xmlns:p14="http://schemas.microsoft.com/office/powerpoint/2010/main" val="13760708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69D1E-0A1F-21BA-BA24-9248AEF85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DEC8B9-DCB6-4237-26AE-CA1079671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2A354-9A34-D586-8A5E-0F7BDF7241D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9171CE0-F69B-DB97-A074-9B0D3CA7D025}"/>
              </a:ext>
            </a:extLst>
          </p:cNvPr>
          <p:cNvSpPr>
            <a:spLocks noGrp="1"/>
          </p:cNvSpPr>
          <p:nvPr>
            <p:ph type="sldNum" sz="quarter" idx="5"/>
          </p:nvPr>
        </p:nvSpPr>
        <p:spPr/>
        <p:txBody>
          <a:bodyPr/>
          <a:lstStyle/>
          <a:p>
            <a:fld id="{576FF3D1-0F45-2240-9B47-75654C02E24A}" type="slidenum">
              <a:t>35</a:t>
            </a:fld>
            <a:endParaRPr lang="en-VN"/>
          </a:p>
        </p:txBody>
      </p:sp>
    </p:spTree>
    <p:extLst>
      <p:ext uri="{BB962C8B-B14F-4D97-AF65-F5344CB8AC3E}">
        <p14:creationId xmlns:p14="http://schemas.microsoft.com/office/powerpoint/2010/main" val="15727226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BC553-D4DF-599A-54B6-14A12F207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CA950-2B5B-3785-C423-BEC6D66F10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F2BBDC-FD06-76D5-AECF-8E6F9E88A3B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F2612AF-0218-0136-CC39-5D03E5583894}"/>
              </a:ext>
            </a:extLst>
          </p:cNvPr>
          <p:cNvSpPr>
            <a:spLocks noGrp="1"/>
          </p:cNvSpPr>
          <p:nvPr>
            <p:ph type="sldNum" sz="quarter" idx="5"/>
          </p:nvPr>
        </p:nvSpPr>
        <p:spPr/>
        <p:txBody>
          <a:bodyPr/>
          <a:lstStyle/>
          <a:p>
            <a:fld id="{576FF3D1-0F45-2240-9B47-75654C02E24A}" type="slidenum">
              <a:t>36</a:t>
            </a:fld>
            <a:endParaRPr lang="en-VN"/>
          </a:p>
        </p:txBody>
      </p:sp>
    </p:spTree>
    <p:extLst>
      <p:ext uri="{BB962C8B-B14F-4D97-AF65-F5344CB8AC3E}">
        <p14:creationId xmlns:p14="http://schemas.microsoft.com/office/powerpoint/2010/main" val="3447978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A2D52-270D-F7FA-34AD-A9BAA210F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858F54-F552-312E-3C38-BED6C072A7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30FFC3-CFAE-4A6F-5829-644191070110}"/>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8127BA9-6BEE-393C-61ED-EACF34EBE68B}"/>
              </a:ext>
            </a:extLst>
          </p:cNvPr>
          <p:cNvSpPr>
            <a:spLocks noGrp="1"/>
          </p:cNvSpPr>
          <p:nvPr>
            <p:ph type="sldNum" sz="quarter" idx="5"/>
          </p:nvPr>
        </p:nvSpPr>
        <p:spPr/>
        <p:txBody>
          <a:bodyPr/>
          <a:lstStyle/>
          <a:p>
            <a:fld id="{576FF3D1-0F45-2240-9B47-75654C02E24A}" type="slidenum">
              <a:t>37</a:t>
            </a:fld>
            <a:endParaRPr lang="en-VN"/>
          </a:p>
        </p:txBody>
      </p:sp>
    </p:spTree>
    <p:extLst>
      <p:ext uri="{BB962C8B-B14F-4D97-AF65-F5344CB8AC3E}">
        <p14:creationId xmlns:p14="http://schemas.microsoft.com/office/powerpoint/2010/main" val="19039800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68966-64F0-2EEC-624C-9C2A3CA9C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B15DE6-5A44-23F6-9884-4664B3C432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781A9-17EC-BEDF-CE94-6AA89A9F6F6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F636681-0927-D4D8-0CF9-61AD90F9F32A}"/>
              </a:ext>
            </a:extLst>
          </p:cNvPr>
          <p:cNvSpPr>
            <a:spLocks noGrp="1"/>
          </p:cNvSpPr>
          <p:nvPr>
            <p:ph type="sldNum" sz="quarter" idx="5"/>
          </p:nvPr>
        </p:nvSpPr>
        <p:spPr/>
        <p:txBody>
          <a:bodyPr/>
          <a:lstStyle/>
          <a:p>
            <a:fld id="{576FF3D1-0F45-2240-9B47-75654C02E24A}" type="slidenum">
              <a:t>38</a:t>
            </a:fld>
            <a:endParaRPr lang="en-VN"/>
          </a:p>
        </p:txBody>
      </p:sp>
    </p:spTree>
    <p:extLst>
      <p:ext uri="{BB962C8B-B14F-4D97-AF65-F5344CB8AC3E}">
        <p14:creationId xmlns:p14="http://schemas.microsoft.com/office/powerpoint/2010/main" val="6946406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8451E-DA2F-1863-A8EC-2DA1B0B51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1B94B-0F56-2943-140D-1B9A71AEFA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07A592-C063-9067-31A0-93793D39A89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0552607-6087-43DE-4047-C78237098D53}"/>
              </a:ext>
            </a:extLst>
          </p:cNvPr>
          <p:cNvSpPr>
            <a:spLocks noGrp="1"/>
          </p:cNvSpPr>
          <p:nvPr>
            <p:ph type="sldNum" sz="quarter" idx="5"/>
          </p:nvPr>
        </p:nvSpPr>
        <p:spPr/>
        <p:txBody>
          <a:bodyPr/>
          <a:lstStyle/>
          <a:p>
            <a:fld id="{576FF3D1-0F45-2240-9B47-75654C02E24A}" type="slidenum">
              <a:t>39</a:t>
            </a:fld>
            <a:endParaRPr lang="en-VN"/>
          </a:p>
        </p:txBody>
      </p:sp>
    </p:spTree>
    <p:extLst>
      <p:ext uri="{BB962C8B-B14F-4D97-AF65-F5344CB8AC3E}">
        <p14:creationId xmlns:p14="http://schemas.microsoft.com/office/powerpoint/2010/main" val="25251453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64A00-8E40-15A8-96FB-25909D94F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61738-6AC0-235A-6539-E904D21E8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190BB3-1CCC-6336-3EB7-18074EE9A3C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0AC42A3-8A98-18AB-0695-7235655175B2}"/>
              </a:ext>
            </a:extLst>
          </p:cNvPr>
          <p:cNvSpPr>
            <a:spLocks noGrp="1"/>
          </p:cNvSpPr>
          <p:nvPr>
            <p:ph type="sldNum" sz="quarter" idx="5"/>
          </p:nvPr>
        </p:nvSpPr>
        <p:spPr/>
        <p:txBody>
          <a:bodyPr/>
          <a:lstStyle/>
          <a:p>
            <a:fld id="{576FF3D1-0F45-2240-9B47-75654C02E24A}" type="slidenum">
              <a:t>40</a:t>
            </a:fld>
            <a:endParaRPr lang="en-VN"/>
          </a:p>
        </p:txBody>
      </p:sp>
    </p:spTree>
    <p:extLst>
      <p:ext uri="{BB962C8B-B14F-4D97-AF65-F5344CB8AC3E}">
        <p14:creationId xmlns:p14="http://schemas.microsoft.com/office/powerpoint/2010/main" val="31674416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0A2B9-1622-5F43-1544-CE8602DBA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A6D2D-FBCD-8C26-AB24-77AE75256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6DDA21-7FCE-4AF6-BE96-6B630EF024FA}"/>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EC375F8-D129-B3E9-D3EC-F727797F53BB}"/>
              </a:ext>
            </a:extLst>
          </p:cNvPr>
          <p:cNvSpPr>
            <a:spLocks noGrp="1"/>
          </p:cNvSpPr>
          <p:nvPr>
            <p:ph type="sldNum" sz="quarter" idx="5"/>
          </p:nvPr>
        </p:nvSpPr>
        <p:spPr/>
        <p:txBody>
          <a:bodyPr/>
          <a:lstStyle/>
          <a:p>
            <a:fld id="{576FF3D1-0F45-2240-9B47-75654C02E24A}" type="slidenum">
              <a:t>41</a:t>
            </a:fld>
            <a:endParaRPr lang="en-VN"/>
          </a:p>
        </p:txBody>
      </p:sp>
    </p:spTree>
    <p:extLst>
      <p:ext uri="{BB962C8B-B14F-4D97-AF65-F5344CB8AC3E}">
        <p14:creationId xmlns:p14="http://schemas.microsoft.com/office/powerpoint/2010/main" val="25360688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28089-AB08-B43C-58AB-D514CBF78D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71D18-29CB-EFE8-2F83-B48B0493B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3236CB-E2E4-5586-6C4E-38AAAA334EC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E8DFEBF-F9AC-059C-D2D5-0BF3E0674F90}"/>
              </a:ext>
            </a:extLst>
          </p:cNvPr>
          <p:cNvSpPr>
            <a:spLocks noGrp="1"/>
          </p:cNvSpPr>
          <p:nvPr>
            <p:ph type="sldNum" sz="quarter" idx="5"/>
          </p:nvPr>
        </p:nvSpPr>
        <p:spPr/>
        <p:txBody>
          <a:bodyPr/>
          <a:lstStyle/>
          <a:p>
            <a:fld id="{576FF3D1-0F45-2240-9B47-75654C02E24A}" type="slidenum">
              <a:t>42</a:t>
            </a:fld>
            <a:endParaRPr lang="en-VN"/>
          </a:p>
        </p:txBody>
      </p:sp>
    </p:spTree>
    <p:extLst>
      <p:ext uri="{BB962C8B-B14F-4D97-AF65-F5344CB8AC3E}">
        <p14:creationId xmlns:p14="http://schemas.microsoft.com/office/powerpoint/2010/main" val="5285719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C8AC5-DB02-3049-6E34-B5271528E9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1EBE9-D4CE-3328-7C7E-1E20B6637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73A510-3EB3-2232-0B6F-E872ACE1DF3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6FD9C02-A9DD-4123-28DF-797F99CB74DB}"/>
              </a:ext>
            </a:extLst>
          </p:cNvPr>
          <p:cNvSpPr>
            <a:spLocks noGrp="1"/>
          </p:cNvSpPr>
          <p:nvPr>
            <p:ph type="sldNum" sz="quarter" idx="5"/>
          </p:nvPr>
        </p:nvSpPr>
        <p:spPr/>
        <p:txBody>
          <a:bodyPr/>
          <a:lstStyle/>
          <a:p>
            <a:fld id="{576FF3D1-0F45-2240-9B47-75654C02E24A}" type="slidenum">
              <a:t>43</a:t>
            </a:fld>
            <a:endParaRPr lang="en-VN"/>
          </a:p>
        </p:txBody>
      </p:sp>
    </p:spTree>
    <p:extLst>
      <p:ext uri="{BB962C8B-B14F-4D97-AF65-F5344CB8AC3E}">
        <p14:creationId xmlns:p14="http://schemas.microsoft.com/office/powerpoint/2010/main" val="37165686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3B8A4-F5FA-2ECF-D549-5F641135B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AF95AA-83B7-E2E0-F10F-1507A7943D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2B3299-C515-2ED2-CC48-198DC9B193C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1864573-E3CA-9A66-323C-8346FCDD3442}"/>
              </a:ext>
            </a:extLst>
          </p:cNvPr>
          <p:cNvSpPr>
            <a:spLocks noGrp="1"/>
          </p:cNvSpPr>
          <p:nvPr>
            <p:ph type="sldNum" sz="quarter" idx="5"/>
          </p:nvPr>
        </p:nvSpPr>
        <p:spPr/>
        <p:txBody>
          <a:bodyPr/>
          <a:lstStyle/>
          <a:p>
            <a:fld id="{576FF3D1-0F45-2240-9B47-75654C02E24A}" type="slidenum">
              <a:t>44</a:t>
            </a:fld>
            <a:endParaRPr lang="en-VN"/>
          </a:p>
        </p:txBody>
      </p:sp>
    </p:spTree>
    <p:extLst>
      <p:ext uri="{BB962C8B-B14F-4D97-AF65-F5344CB8AC3E}">
        <p14:creationId xmlns:p14="http://schemas.microsoft.com/office/powerpoint/2010/main" val="34298427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931E-280C-45A7-BDB2-D7571642B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4F506-BB85-209B-3A9E-30EF7C136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CB7C5F-38E8-353C-12F9-B94DCC6414E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F429953-DEB2-E32B-D54B-7FFAEC636164}"/>
              </a:ext>
            </a:extLst>
          </p:cNvPr>
          <p:cNvSpPr>
            <a:spLocks noGrp="1"/>
          </p:cNvSpPr>
          <p:nvPr>
            <p:ph type="sldNum" sz="quarter" idx="5"/>
          </p:nvPr>
        </p:nvSpPr>
        <p:spPr/>
        <p:txBody>
          <a:bodyPr/>
          <a:lstStyle/>
          <a:p>
            <a:fld id="{576FF3D1-0F45-2240-9B47-75654C02E24A}" type="slidenum">
              <a:t>45</a:t>
            </a:fld>
            <a:endParaRPr lang="en-VN"/>
          </a:p>
        </p:txBody>
      </p:sp>
    </p:spTree>
    <p:extLst>
      <p:ext uri="{BB962C8B-B14F-4D97-AF65-F5344CB8AC3E}">
        <p14:creationId xmlns:p14="http://schemas.microsoft.com/office/powerpoint/2010/main" val="40439362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8F3C8-E011-501C-91CE-AC74235EFD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DD728-6B11-6331-ED74-439A1EEC70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592B5-AA0D-EE28-AA7F-87E8DBD12FC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986ED7B-0930-B144-A315-44D91948CA04}"/>
              </a:ext>
            </a:extLst>
          </p:cNvPr>
          <p:cNvSpPr>
            <a:spLocks noGrp="1"/>
          </p:cNvSpPr>
          <p:nvPr>
            <p:ph type="sldNum" sz="quarter" idx="5"/>
          </p:nvPr>
        </p:nvSpPr>
        <p:spPr/>
        <p:txBody>
          <a:bodyPr/>
          <a:lstStyle/>
          <a:p>
            <a:fld id="{576FF3D1-0F45-2240-9B47-75654C02E24A}" type="slidenum">
              <a:t>46</a:t>
            </a:fld>
            <a:endParaRPr lang="en-VN"/>
          </a:p>
        </p:txBody>
      </p:sp>
    </p:spTree>
    <p:extLst>
      <p:ext uri="{BB962C8B-B14F-4D97-AF65-F5344CB8AC3E}">
        <p14:creationId xmlns:p14="http://schemas.microsoft.com/office/powerpoint/2010/main" val="42040207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F2A0A-5988-1DC0-36A7-E2D0F3406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089889-C896-D357-45D4-2F8932386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52A7B1-04C0-ECE5-B92B-F53AD5F3438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803FB021-90F5-48DB-6644-BD39A926413B}"/>
              </a:ext>
            </a:extLst>
          </p:cNvPr>
          <p:cNvSpPr>
            <a:spLocks noGrp="1"/>
          </p:cNvSpPr>
          <p:nvPr>
            <p:ph type="sldNum" sz="quarter" idx="5"/>
          </p:nvPr>
        </p:nvSpPr>
        <p:spPr/>
        <p:txBody>
          <a:bodyPr/>
          <a:lstStyle/>
          <a:p>
            <a:fld id="{576FF3D1-0F45-2240-9B47-75654C02E24A}" type="slidenum">
              <a:t>47</a:t>
            </a:fld>
            <a:endParaRPr lang="en-VN"/>
          </a:p>
        </p:txBody>
      </p:sp>
    </p:spTree>
    <p:extLst>
      <p:ext uri="{BB962C8B-B14F-4D97-AF65-F5344CB8AC3E}">
        <p14:creationId xmlns:p14="http://schemas.microsoft.com/office/powerpoint/2010/main" val="3415917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280B5-D3F8-5590-251C-E0AD225900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4ED073-D9DB-D435-1BE9-5C962789E7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A3B416-66BF-7B15-CA64-0EF8E259F37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B0FAB49-8DD9-74EE-F634-5DE05A67963A}"/>
              </a:ext>
            </a:extLst>
          </p:cNvPr>
          <p:cNvSpPr>
            <a:spLocks noGrp="1"/>
          </p:cNvSpPr>
          <p:nvPr>
            <p:ph type="sldNum" sz="quarter" idx="5"/>
          </p:nvPr>
        </p:nvSpPr>
        <p:spPr/>
        <p:txBody>
          <a:bodyPr/>
          <a:lstStyle/>
          <a:p>
            <a:fld id="{576FF3D1-0F45-2240-9B47-75654C02E24A}" type="slidenum">
              <a:t>48</a:t>
            </a:fld>
            <a:endParaRPr lang="en-VN"/>
          </a:p>
        </p:txBody>
      </p:sp>
    </p:spTree>
    <p:extLst>
      <p:ext uri="{BB962C8B-B14F-4D97-AF65-F5344CB8AC3E}">
        <p14:creationId xmlns:p14="http://schemas.microsoft.com/office/powerpoint/2010/main" val="24025363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9A993-CE3F-0B4F-F227-5D30814F53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38D82-D123-B44B-AB4F-4270BB8DA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0746BD-423D-F2A9-F265-A352565917F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4DDF823-7953-C067-CD89-DBD82B24594B}"/>
              </a:ext>
            </a:extLst>
          </p:cNvPr>
          <p:cNvSpPr>
            <a:spLocks noGrp="1"/>
          </p:cNvSpPr>
          <p:nvPr>
            <p:ph type="sldNum" sz="quarter" idx="5"/>
          </p:nvPr>
        </p:nvSpPr>
        <p:spPr/>
        <p:txBody>
          <a:bodyPr/>
          <a:lstStyle/>
          <a:p>
            <a:fld id="{576FF3D1-0F45-2240-9B47-75654C02E24A}" type="slidenum">
              <a:t>49</a:t>
            </a:fld>
            <a:endParaRPr lang="en-VN"/>
          </a:p>
        </p:txBody>
      </p:sp>
    </p:spTree>
    <p:extLst>
      <p:ext uri="{BB962C8B-B14F-4D97-AF65-F5344CB8AC3E}">
        <p14:creationId xmlns:p14="http://schemas.microsoft.com/office/powerpoint/2010/main" val="345779681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E52B0-760B-A3EA-97FE-C809CA72BA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7405D-780F-8323-6297-39D11C92D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860AD7-E9A2-6019-39EB-0BB76629D2B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4125703-5C5C-14BD-85F7-0BEC52B98F39}"/>
              </a:ext>
            </a:extLst>
          </p:cNvPr>
          <p:cNvSpPr>
            <a:spLocks noGrp="1"/>
          </p:cNvSpPr>
          <p:nvPr>
            <p:ph type="sldNum" sz="quarter" idx="5"/>
          </p:nvPr>
        </p:nvSpPr>
        <p:spPr/>
        <p:txBody>
          <a:bodyPr/>
          <a:lstStyle/>
          <a:p>
            <a:fld id="{576FF3D1-0F45-2240-9B47-75654C02E24A}" type="slidenum">
              <a:t>50</a:t>
            </a:fld>
            <a:endParaRPr lang="en-VN"/>
          </a:p>
        </p:txBody>
      </p:sp>
    </p:spTree>
    <p:extLst>
      <p:ext uri="{BB962C8B-B14F-4D97-AF65-F5344CB8AC3E}">
        <p14:creationId xmlns:p14="http://schemas.microsoft.com/office/powerpoint/2010/main" val="34140374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3B3F1-CE63-036F-C419-15389ED88B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B5761-4097-2E99-A7AB-F0E16FC9E4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79656D-ED56-154A-5346-A847A608804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5E2110F-960A-2043-2FC5-CA91AE002712}"/>
              </a:ext>
            </a:extLst>
          </p:cNvPr>
          <p:cNvSpPr>
            <a:spLocks noGrp="1"/>
          </p:cNvSpPr>
          <p:nvPr>
            <p:ph type="sldNum" sz="quarter" idx="5"/>
          </p:nvPr>
        </p:nvSpPr>
        <p:spPr/>
        <p:txBody>
          <a:bodyPr/>
          <a:lstStyle/>
          <a:p>
            <a:fld id="{576FF3D1-0F45-2240-9B47-75654C02E24A}" type="slidenum">
              <a:t>51</a:t>
            </a:fld>
            <a:endParaRPr lang="en-VN"/>
          </a:p>
        </p:txBody>
      </p:sp>
    </p:spTree>
    <p:extLst>
      <p:ext uri="{BB962C8B-B14F-4D97-AF65-F5344CB8AC3E}">
        <p14:creationId xmlns:p14="http://schemas.microsoft.com/office/powerpoint/2010/main" val="1844900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249E1-0E79-E426-382D-1B1213C504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742DB0-874D-573A-FAF5-E1E1B504C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97BD1B-AB8B-B662-20BA-8EFCDD6613B2}"/>
              </a:ext>
            </a:extLst>
          </p:cNvPr>
          <p:cNvSpPr>
            <a:spLocks noGrp="1"/>
          </p:cNvSpPr>
          <p:nvPr>
            <p:ph type="dt" sz="half" idx="10"/>
          </p:nvPr>
        </p:nvSpPr>
        <p:spPr/>
        <p:txBody>
          <a:bodyPr/>
          <a:lstStyle/>
          <a:p>
            <a:fld id="{BAA8DE05-51EE-4692-B197-877FA1DAAAED}" type="datetimeFigureOut">
              <a:rPr lang="en-US" smtClean="0"/>
              <a:t>1/8/26</a:t>
            </a:fld>
            <a:endParaRPr lang="en-US"/>
          </a:p>
        </p:txBody>
      </p:sp>
      <p:sp>
        <p:nvSpPr>
          <p:cNvPr id="5" name="Footer Placeholder 4">
            <a:extLst>
              <a:ext uri="{FF2B5EF4-FFF2-40B4-BE49-F238E27FC236}">
                <a16:creationId xmlns:a16="http://schemas.microsoft.com/office/drawing/2014/main" id="{162332DA-B328-C938-C5CC-150A884B99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092F4-C033-8786-943E-2AE1C3273771}"/>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008993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7693-B66D-3FF6-66FB-B2B66B9B59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5D8C97-B2D4-9D9C-F7A8-115F22C5AB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BC4265-6111-645E-966E-B831FDA6AFE9}"/>
              </a:ext>
            </a:extLst>
          </p:cNvPr>
          <p:cNvSpPr>
            <a:spLocks noGrp="1"/>
          </p:cNvSpPr>
          <p:nvPr>
            <p:ph type="dt" sz="half" idx="10"/>
          </p:nvPr>
        </p:nvSpPr>
        <p:spPr/>
        <p:txBody>
          <a:bodyPr/>
          <a:lstStyle/>
          <a:p>
            <a:fld id="{BAA8DE05-51EE-4692-B197-877FA1DAAAED}" type="datetimeFigureOut">
              <a:rPr lang="en-US" smtClean="0"/>
              <a:t>1/8/26</a:t>
            </a:fld>
            <a:endParaRPr lang="en-US"/>
          </a:p>
        </p:txBody>
      </p:sp>
      <p:sp>
        <p:nvSpPr>
          <p:cNvPr id="5" name="Footer Placeholder 4">
            <a:extLst>
              <a:ext uri="{FF2B5EF4-FFF2-40B4-BE49-F238E27FC236}">
                <a16:creationId xmlns:a16="http://schemas.microsoft.com/office/drawing/2014/main" id="{F7DE0A0A-A8A5-760E-E5D5-68A445A849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0C847C-376C-028A-DCDA-F438CA4C2E0A}"/>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1219484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51A4A-1448-BFB4-783B-B383569CF6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4B3B29-C6AF-4859-0D81-048A8D8E7F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8660D-702B-4436-92F0-7E362647F91F}"/>
              </a:ext>
            </a:extLst>
          </p:cNvPr>
          <p:cNvSpPr>
            <a:spLocks noGrp="1"/>
          </p:cNvSpPr>
          <p:nvPr>
            <p:ph type="dt" sz="half" idx="10"/>
          </p:nvPr>
        </p:nvSpPr>
        <p:spPr/>
        <p:txBody>
          <a:bodyPr/>
          <a:lstStyle/>
          <a:p>
            <a:fld id="{BAA8DE05-51EE-4692-B197-877FA1DAAAED}" type="datetimeFigureOut">
              <a:rPr lang="en-US" smtClean="0"/>
              <a:t>1/8/26</a:t>
            </a:fld>
            <a:endParaRPr lang="en-US"/>
          </a:p>
        </p:txBody>
      </p:sp>
      <p:sp>
        <p:nvSpPr>
          <p:cNvPr id="5" name="Footer Placeholder 4">
            <a:extLst>
              <a:ext uri="{FF2B5EF4-FFF2-40B4-BE49-F238E27FC236}">
                <a16:creationId xmlns:a16="http://schemas.microsoft.com/office/drawing/2014/main" id="{F121AB1F-50DC-799D-662D-6ABE6F9CF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C0759-C06B-BD43-A867-64E4943CB97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68852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9B286-E109-DF56-3354-9EBB9B5AD3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FBA1BC-FD2E-EC48-7F3D-EAE382EF64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81FB9B-4CC0-59F3-79CE-50BDB1CF57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B6D12A-6B6F-D96F-E37E-60E80B018217}"/>
              </a:ext>
            </a:extLst>
          </p:cNvPr>
          <p:cNvSpPr>
            <a:spLocks noGrp="1"/>
          </p:cNvSpPr>
          <p:nvPr>
            <p:ph type="dt" sz="half" idx="10"/>
          </p:nvPr>
        </p:nvSpPr>
        <p:spPr/>
        <p:txBody>
          <a:bodyPr/>
          <a:lstStyle/>
          <a:p>
            <a:fld id="{BAA8DE05-51EE-4692-B197-877FA1DAAAED}" type="datetimeFigureOut">
              <a:rPr lang="en-US" smtClean="0"/>
              <a:t>1/8/26</a:t>
            </a:fld>
            <a:endParaRPr lang="en-US"/>
          </a:p>
        </p:txBody>
      </p:sp>
      <p:sp>
        <p:nvSpPr>
          <p:cNvPr id="6" name="Footer Placeholder 5">
            <a:extLst>
              <a:ext uri="{FF2B5EF4-FFF2-40B4-BE49-F238E27FC236}">
                <a16:creationId xmlns:a16="http://schemas.microsoft.com/office/drawing/2014/main" id="{6EAB1D1D-9984-1BE0-A9AE-482E21A1F4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A9D570-A79C-057C-6355-694323D92B89}"/>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122252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2E31-2F30-2FBC-B963-E9A07AEB33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ECD35A-8B39-BC77-3C19-54035D8903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408F13-7339-18A8-8571-F9F2D86771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A57706-1749-9278-F728-58B990AE4E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34423B-8211-534A-22EC-BE8E0E770E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59B804-1DE5-9C35-6F81-3A293D1A90F7}"/>
              </a:ext>
            </a:extLst>
          </p:cNvPr>
          <p:cNvSpPr>
            <a:spLocks noGrp="1"/>
          </p:cNvSpPr>
          <p:nvPr>
            <p:ph type="dt" sz="half" idx="10"/>
          </p:nvPr>
        </p:nvSpPr>
        <p:spPr/>
        <p:txBody>
          <a:bodyPr/>
          <a:lstStyle/>
          <a:p>
            <a:fld id="{BAA8DE05-51EE-4692-B197-877FA1DAAAED}" type="datetimeFigureOut">
              <a:rPr lang="en-US" smtClean="0"/>
              <a:t>1/8/26</a:t>
            </a:fld>
            <a:endParaRPr lang="en-US"/>
          </a:p>
        </p:txBody>
      </p:sp>
      <p:sp>
        <p:nvSpPr>
          <p:cNvPr id="8" name="Footer Placeholder 7">
            <a:extLst>
              <a:ext uri="{FF2B5EF4-FFF2-40B4-BE49-F238E27FC236}">
                <a16:creationId xmlns:a16="http://schemas.microsoft.com/office/drawing/2014/main" id="{171D4FF6-84CE-0494-D968-CE07AA6D33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568B0D-5839-7A38-CE68-9BEFDA69F38E}"/>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3705768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6FDC7-1509-15E3-FC6B-805EA76BD5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E55E65-38EA-9E43-0C6D-EB82CBCB3444}"/>
              </a:ext>
            </a:extLst>
          </p:cNvPr>
          <p:cNvSpPr>
            <a:spLocks noGrp="1"/>
          </p:cNvSpPr>
          <p:nvPr>
            <p:ph type="dt" sz="half" idx="10"/>
          </p:nvPr>
        </p:nvSpPr>
        <p:spPr/>
        <p:txBody>
          <a:bodyPr/>
          <a:lstStyle/>
          <a:p>
            <a:fld id="{BAA8DE05-51EE-4692-B197-877FA1DAAAED}" type="datetimeFigureOut">
              <a:rPr lang="en-US" smtClean="0"/>
              <a:t>1/8/26</a:t>
            </a:fld>
            <a:endParaRPr lang="en-US"/>
          </a:p>
        </p:txBody>
      </p:sp>
      <p:sp>
        <p:nvSpPr>
          <p:cNvPr id="4" name="Footer Placeholder 3">
            <a:extLst>
              <a:ext uri="{FF2B5EF4-FFF2-40B4-BE49-F238E27FC236}">
                <a16:creationId xmlns:a16="http://schemas.microsoft.com/office/drawing/2014/main" id="{01EC6B55-0201-1312-335A-069E8331FA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DA86EF-5BE7-951E-E1F1-DB496365FBE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291921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377714-1AE4-D06D-041E-70C6F3BE0678}"/>
              </a:ext>
            </a:extLst>
          </p:cNvPr>
          <p:cNvSpPr>
            <a:spLocks noGrp="1"/>
          </p:cNvSpPr>
          <p:nvPr>
            <p:ph type="dt" sz="half" idx="10"/>
          </p:nvPr>
        </p:nvSpPr>
        <p:spPr/>
        <p:txBody>
          <a:bodyPr/>
          <a:lstStyle/>
          <a:p>
            <a:fld id="{BAA8DE05-51EE-4692-B197-877FA1DAAAED}" type="datetimeFigureOut">
              <a:rPr lang="en-US" smtClean="0"/>
              <a:t>1/8/26</a:t>
            </a:fld>
            <a:endParaRPr lang="en-US"/>
          </a:p>
        </p:txBody>
      </p:sp>
      <p:sp>
        <p:nvSpPr>
          <p:cNvPr id="3" name="Footer Placeholder 2">
            <a:extLst>
              <a:ext uri="{FF2B5EF4-FFF2-40B4-BE49-F238E27FC236}">
                <a16:creationId xmlns:a16="http://schemas.microsoft.com/office/drawing/2014/main" id="{964B493B-9D46-0485-1C7C-EC89D1B99D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C5D092-CD68-93A5-D410-D8D9F0F32E3B}"/>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844889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8FCC-59F7-002F-887A-3AE9E3CA33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5E3BF3-66ED-D5F7-4D10-42A1711BC2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F1EEA8-D320-6867-9BA6-758966E3F6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5F5B38-62A1-CE82-8A74-5434C0A4131B}"/>
              </a:ext>
            </a:extLst>
          </p:cNvPr>
          <p:cNvSpPr>
            <a:spLocks noGrp="1"/>
          </p:cNvSpPr>
          <p:nvPr>
            <p:ph type="dt" sz="half" idx="10"/>
          </p:nvPr>
        </p:nvSpPr>
        <p:spPr/>
        <p:txBody>
          <a:bodyPr/>
          <a:lstStyle/>
          <a:p>
            <a:fld id="{BAA8DE05-51EE-4692-B197-877FA1DAAAED}" type="datetimeFigureOut">
              <a:rPr lang="en-US" smtClean="0"/>
              <a:t>1/8/26</a:t>
            </a:fld>
            <a:endParaRPr lang="en-US"/>
          </a:p>
        </p:txBody>
      </p:sp>
      <p:sp>
        <p:nvSpPr>
          <p:cNvPr id="6" name="Footer Placeholder 5">
            <a:extLst>
              <a:ext uri="{FF2B5EF4-FFF2-40B4-BE49-F238E27FC236}">
                <a16:creationId xmlns:a16="http://schemas.microsoft.com/office/drawing/2014/main" id="{B65B5D93-06AF-21CA-460C-74E6E8B24F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55CCB2-2362-5C44-3188-75821D5703EB}"/>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247508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FF888-87D6-FE2D-6CB5-C363685D34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4AE296-04DC-6316-72BF-93486EDBC0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5E4AC3-BDF1-C463-09B8-B7AACAA77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38EDC2-B5DC-02FD-C84A-A77A922DA504}"/>
              </a:ext>
            </a:extLst>
          </p:cNvPr>
          <p:cNvSpPr>
            <a:spLocks noGrp="1"/>
          </p:cNvSpPr>
          <p:nvPr>
            <p:ph type="dt" sz="half" idx="10"/>
          </p:nvPr>
        </p:nvSpPr>
        <p:spPr/>
        <p:txBody>
          <a:bodyPr/>
          <a:lstStyle/>
          <a:p>
            <a:fld id="{BAA8DE05-51EE-4692-B197-877FA1DAAAED}" type="datetimeFigureOut">
              <a:rPr lang="en-US" smtClean="0"/>
              <a:t>1/8/26</a:t>
            </a:fld>
            <a:endParaRPr lang="en-US"/>
          </a:p>
        </p:txBody>
      </p:sp>
      <p:sp>
        <p:nvSpPr>
          <p:cNvPr id="6" name="Footer Placeholder 5">
            <a:extLst>
              <a:ext uri="{FF2B5EF4-FFF2-40B4-BE49-F238E27FC236}">
                <a16:creationId xmlns:a16="http://schemas.microsoft.com/office/drawing/2014/main" id="{3193FCE8-2ECF-C3F9-9FBA-7159C1FE7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2C1A29-C80D-1CF9-8B56-52DE889EC456}"/>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77129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4605A-C9D9-3FEE-4AD7-93E29ECE6F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640FCE-C444-FED9-4D9B-911BEFE9A1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DA9C4A-29FB-8709-12DA-C4B70DE854EC}"/>
              </a:ext>
            </a:extLst>
          </p:cNvPr>
          <p:cNvSpPr>
            <a:spLocks noGrp="1"/>
          </p:cNvSpPr>
          <p:nvPr>
            <p:ph type="dt" sz="half" idx="10"/>
          </p:nvPr>
        </p:nvSpPr>
        <p:spPr/>
        <p:txBody>
          <a:bodyPr/>
          <a:lstStyle/>
          <a:p>
            <a:fld id="{BAA8DE05-51EE-4692-B197-877FA1DAAAED}" type="datetimeFigureOut">
              <a:rPr lang="en-US" smtClean="0"/>
              <a:t>1/8/26</a:t>
            </a:fld>
            <a:endParaRPr lang="en-US"/>
          </a:p>
        </p:txBody>
      </p:sp>
      <p:sp>
        <p:nvSpPr>
          <p:cNvPr id="5" name="Footer Placeholder 4">
            <a:extLst>
              <a:ext uri="{FF2B5EF4-FFF2-40B4-BE49-F238E27FC236}">
                <a16:creationId xmlns:a16="http://schemas.microsoft.com/office/drawing/2014/main" id="{FDDD6E77-31D8-44C9-8C00-C85B1FBD58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131BB-31B3-265D-7085-74DC5991AAE9}"/>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775320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07958B-44E0-1781-BCCB-A1EADD44A0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CEE1AC-BA82-4227-EF6E-CD4C945281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04FCB6-CEB8-F8B1-0ACF-D57EE7B35017}"/>
              </a:ext>
            </a:extLst>
          </p:cNvPr>
          <p:cNvSpPr>
            <a:spLocks noGrp="1"/>
          </p:cNvSpPr>
          <p:nvPr>
            <p:ph type="dt" sz="half" idx="10"/>
          </p:nvPr>
        </p:nvSpPr>
        <p:spPr/>
        <p:txBody>
          <a:bodyPr/>
          <a:lstStyle/>
          <a:p>
            <a:fld id="{BAA8DE05-51EE-4692-B197-877FA1DAAAED}" type="datetimeFigureOut">
              <a:rPr lang="en-US" smtClean="0"/>
              <a:t>1/8/26</a:t>
            </a:fld>
            <a:endParaRPr lang="en-US"/>
          </a:p>
        </p:txBody>
      </p:sp>
      <p:sp>
        <p:nvSpPr>
          <p:cNvPr id="5" name="Footer Placeholder 4">
            <a:extLst>
              <a:ext uri="{FF2B5EF4-FFF2-40B4-BE49-F238E27FC236}">
                <a16:creationId xmlns:a16="http://schemas.microsoft.com/office/drawing/2014/main" id="{EC264267-9C54-4B02-8EEA-5CA8914115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2CB251-E39D-B765-D0D9-DD43E8D38D4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986943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09D87-B60C-2F4C-DA19-BB04307F55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B374F2-0FF1-114D-5529-1A4E236651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6FAB11-252C-AF3A-1868-D64F46A93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A8DE05-51EE-4692-B197-877FA1DAAAED}" type="datetimeFigureOut">
              <a:rPr lang="en-US" smtClean="0"/>
              <a:t>1/8/26</a:t>
            </a:fld>
            <a:endParaRPr lang="en-US"/>
          </a:p>
        </p:txBody>
      </p:sp>
      <p:sp>
        <p:nvSpPr>
          <p:cNvPr id="5" name="Footer Placeholder 4">
            <a:extLst>
              <a:ext uri="{FF2B5EF4-FFF2-40B4-BE49-F238E27FC236}">
                <a16:creationId xmlns:a16="http://schemas.microsoft.com/office/drawing/2014/main" id="{E54987AE-9E20-DF1B-0ECB-89583BCE60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B754B6-F244-E0B6-9D65-0E3B11C545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72391D-08EA-4D13-AA34-90E6B0650B1C}" type="slidenum">
              <a:rPr lang="en-US" smtClean="0"/>
              <a:t>‹#›</a:t>
            </a:fld>
            <a:endParaRPr lang="en-US"/>
          </a:p>
        </p:txBody>
      </p:sp>
    </p:spTree>
    <p:extLst>
      <p:ext uri="{BB962C8B-B14F-4D97-AF65-F5344CB8AC3E}">
        <p14:creationId xmlns:p14="http://schemas.microsoft.com/office/powerpoint/2010/main" val="7048041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32DBD-CB83-55BD-128C-2C66E47798F8}"/>
              </a:ext>
            </a:extLst>
          </p:cNvPr>
          <p:cNvSpPr>
            <a:spLocks noGrp="1"/>
          </p:cNvSpPr>
          <p:nvPr>
            <p:ph type="ctrTitle"/>
          </p:nvPr>
        </p:nvSpPr>
        <p:spPr/>
        <p:txBody>
          <a:bodyPr/>
          <a:lstStyle/>
          <a:p>
            <a:r>
              <a:rPr lang="en-US"/>
              <a:t>Java SE 17 – Presentation</a:t>
            </a:r>
          </a:p>
        </p:txBody>
      </p:sp>
      <p:sp>
        <p:nvSpPr>
          <p:cNvPr id="3" name="Subtitle 2">
            <a:extLst>
              <a:ext uri="{FF2B5EF4-FFF2-40B4-BE49-F238E27FC236}">
                <a16:creationId xmlns:a16="http://schemas.microsoft.com/office/drawing/2014/main" id="{96DD8BC4-D539-661E-8A88-53AF6C208F93}"/>
              </a:ext>
            </a:extLst>
          </p:cNvPr>
          <p:cNvSpPr>
            <a:spLocks noGrp="1"/>
          </p:cNvSpPr>
          <p:nvPr>
            <p:ph type="subTitle" idx="1"/>
          </p:nvPr>
        </p:nvSpPr>
        <p:spPr/>
        <p:txBody>
          <a:bodyPr/>
          <a:lstStyle/>
          <a:p>
            <a:r>
              <a:rPr lang="en-US"/>
              <a:t>Chapter 13 – Concurrency</a:t>
            </a:r>
          </a:p>
        </p:txBody>
      </p:sp>
    </p:spTree>
    <p:extLst>
      <p:ext uri="{BB962C8B-B14F-4D97-AF65-F5344CB8AC3E}">
        <p14:creationId xmlns:p14="http://schemas.microsoft.com/office/powerpoint/2010/main" val="2437323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DAB38-D48E-0EE4-3D3B-5EA15FFD2C4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F044ECB-DB4F-474E-E686-B7BB6006BEE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2D7D3C87-23C8-5412-EC56-7DDC7DDE941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Introducing Threads</a:t>
            </a:r>
          </a:p>
          <a:p>
            <a:pPr algn="l"/>
            <a:r>
              <a:rPr lang="en-US" sz="1800">
                <a:sym typeface="Wingdings" pitchFamily="2" charset="2"/>
              </a:rPr>
              <a:t>- We start this chapter with some basic ... about ... A Thread is a unit of ... (the smallest ... that can be ... by the OS ....)</a:t>
            </a:r>
          </a:p>
          <a:p>
            <a:pPr algn="l"/>
            <a:r>
              <a:rPr lang="en-US" sz="1800">
                <a:sym typeface="Wingdings" pitchFamily="2" charset="2"/>
              </a:rPr>
              <a:t>- A ... is a sets of Threads .... shared in a ... </a:t>
            </a:r>
          </a:p>
          <a:p>
            <a:pPr algn="l"/>
            <a:r>
              <a:rPr lang="en-US" sz="1800">
                <a:sym typeface="Wingdings" pitchFamily="2" charset="2"/>
              </a:rPr>
              <a:t>- Single .... is a process with ... </a:t>
            </a:r>
          </a:p>
          <a:p>
            <a:pPr algn="l"/>
            <a:r>
              <a:rPr lang="en-US" sz="1800">
                <a:sym typeface="Wingdings" pitchFamily="2" charset="2"/>
              </a:rPr>
              <a:t>- Multi ... is a process with ...</a:t>
            </a:r>
          </a:p>
          <a:p>
            <a:pPr algn="l"/>
            <a:r>
              <a:rPr lang="en-US" sz="1800">
                <a:sym typeface="Wingdings" pitchFamily="2" charset="2"/>
              </a:rPr>
              <a:t>– A shared ... means ... in a process share the same ... and ... each other ...</a:t>
            </a:r>
          </a:p>
          <a:p>
            <a:pPr algn="l"/>
            <a:r>
              <a:rPr lang="en-US" sz="1800">
                <a:sym typeface="Wingdings" pitchFamily="2" charset="2"/>
              </a:rPr>
              <a:t>– A ... is ... job for ... In this chapter, a ... will be implemented as ...</a:t>
            </a:r>
          </a:p>
          <a:p>
            <a:pPr algn="l"/>
            <a:r>
              <a:rPr lang="en-US" sz="1800">
                <a:sym typeface="Wingdings" pitchFamily="2" charset="2"/>
              </a:rPr>
              <a:t>- A ... can ... multiple but ... only ... at a time...</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C723A915-AE33-62E7-725B-5D2E8F6E69F9}"/>
              </a:ext>
            </a:extLst>
          </p:cNvPr>
          <p:cNvPicPr>
            <a:picLocks noChangeAspect="1"/>
          </p:cNvPicPr>
          <p:nvPr/>
        </p:nvPicPr>
        <p:blipFill>
          <a:blip r:embed="rId3"/>
          <a:stretch>
            <a:fillRect/>
          </a:stretch>
        </p:blipFill>
        <p:spPr>
          <a:xfrm>
            <a:off x="6972300" y="2921000"/>
            <a:ext cx="5219700" cy="3937000"/>
          </a:xfrm>
          <a:prstGeom prst="rect">
            <a:avLst/>
          </a:prstGeom>
        </p:spPr>
      </p:pic>
    </p:spTree>
    <p:extLst>
      <p:ext uri="{BB962C8B-B14F-4D97-AF65-F5344CB8AC3E}">
        <p14:creationId xmlns:p14="http://schemas.microsoft.com/office/powerpoint/2010/main" val="270913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9F1D3-66DF-F0A5-99FA-796DB5F9C5B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6C29776-A701-E271-A2C7-7355E6CADE7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B0570129-5F0F-7157-FCEB-4C819AC8AB64}"/>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Shared memory means ... variables, ... variables, and ... variables passed into a ...</a:t>
            </a:r>
          </a:p>
          <a:p>
            <a:pPr algn="l"/>
            <a:r>
              <a:rPr lang="en-US" sz="1800">
                <a:sym typeface="Wingdings" pitchFamily="2" charset="2"/>
              </a:rPr>
              <a:t>- If a Thread ... a ... variable... then other ... can also ... the updated ... (question 1)</a:t>
            </a:r>
          </a:p>
          <a:p>
            <a:pPr algn="l"/>
            <a:r>
              <a:rPr lang="en-US" sz="1800" b="1">
                <a:sym typeface="Wingdings" pitchFamily="2" charset="2"/>
              </a:rPr>
              <a:t>Understanding Thread Concurrency</a:t>
            </a:r>
          </a:p>
          <a:p>
            <a:pPr algn="l"/>
            <a:r>
              <a:rPr lang="en-US" sz="1800">
                <a:sym typeface="Wingdings" pitchFamily="2" charset="2"/>
              </a:rPr>
              <a:t>- The property of allowing ... at the same time is called Concurrency. How can OS decides which .... when there are ... more than ... of the CPU ? OS will use something called ... to determine which one will be ... (for example, an OS ... will ... Round-Robin schedule). This makes sure that each ... will recieve enough ... and ...</a:t>
            </a:r>
          </a:p>
          <a:p>
            <a:pPr algn="l"/>
            <a:r>
              <a:rPr lang="en-US" sz="1800">
                <a:sym typeface="Wingdings" pitchFamily="2" charset="2"/>
              </a:rPr>
              <a:t>- When the time ... for a ... runs out but the ... still processing =&gt; An event called ... will happen. </a:t>
            </a:r>
          </a:p>
          <a:p>
            <a:pPr algn="l"/>
            <a:r>
              <a:rPr lang="en-US" sz="1800">
                <a:sym typeface="Wingdings" pitchFamily="2" charset="2"/>
              </a:rPr>
              <a:t>- Context switch is a process ... and restore ... (however, a cost to this is ... time ...)</a:t>
            </a:r>
          </a:p>
          <a:p>
            <a:pPr algn="l"/>
            <a:r>
              <a:rPr lang="en-US" sz="1800">
                <a:sym typeface="Wingdings" pitchFamily="2" charset="2"/>
              </a:rPr>
              <a:t>- Newest OS ... are clever enough to ... the time of ... happening and still make sure that the ... smoothly ...</a:t>
            </a:r>
          </a:p>
          <a:p>
            <a:pPr algn="l"/>
            <a:r>
              <a:rPr lang="en-US" sz="1800">
                <a:sym typeface="Wingdings" pitchFamily="2" charset="2"/>
              </a:rPr>
              <a:t>- Finally, a Thread can be ... or ... if there are other Threads that has ...</a:t>
            </a:r>
          </a:p>
          <a:p>
            <a:pPr algn="l"/>
            <a:r>
              <a:rPr lang="en-US" sz="1800">
                <a:sym typeface="Wingdings" pitchFamily="2" charset="2"/>
              </a:rPr>
              <a:t>- A Thread ... is a ... value linked with the Thread and used by .... to determine which ... In Java, this value is a ...</a:t>
            </a:r>
          </a:p>
          <a:p>
            <a:pPr algn="l"/>
            <a:r>
              <a:rPr lang="en-US" sz="1800" b="1">
                <a:sym typeface="Wingdings" pitchFamily="2" charset="2"/>
              </a:rPr>
              <a:t>Creating A Thread</a:t>
            </a:r>
          </a:p>
          <a:p>
            <a:pPr algn="l"/>
            <a:r>
              <a:rPr lang="en-US" sz="1800">
                <a:sym typeface="Wingdings" pitchFamily="2" charset="2"/>
              </a:rPr>
              <a:t>- The easiest way to assign ... for a ... is to use a ... instance. ... is a FP and doesnt ... or anything ...</a:t>
            </a:r>
          </a:p>
        </p:txBody>
      </p:sp>
      <p:pic>
        <p:nvPicPr>
          <p:cNvPr id="5" name="Picture 4">
            <a:extLst>
              <a:ext uri="{FF2B5EF4-FFF2-40B4-BE49-F238E27FC236}">
                <a16:creationId xmlns:a16="http://schemas.microsoft.com/office/drawing/2014/main" id="{857899AF-7E89-6DE2-5302-1E53CAF24EBE}"/>
              </a:ext>
            </a:extLst>
          </p:cNvPr>
          <p:cNvPicPr>
            <a:picLocks noChangeAspect="1"/>
          </p:cNvPicPr>
          <p:nvPr/>
        </p:nvPicPr>
        <p:blipFill>
          <a:blip r:embed="rId3"/>
          <a:stretch>
            <a:fillRect/>
          </a:stretch>
        </p:blipFill>
        <p:spPr>
          <a:xfrm>
            <a:off x="3092450" y="5472112"/>
            <a:ext cx="6007100" cy="1130300"/>
          </a:xfrm>
          <a:prstGeom prst="rect">
            <a:avLst/>
          </a:prstGeom>
        </p:spPr>
      </p:pic>
    </p:spTree>
    <p:extLst>
      <p:ext uri="{BB962C8B-B14F-4D97-AF65-F5344CB8AC3E}">
        <p14:creationId xmlns:p14="http://schemas.microsoft.com/office/powerpoint/2010/main" val="149079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CF5C3-F639-863E-863B-7EB2D07F246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C5B5B23-4A59-D744-B200-47FC7300F8E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1C1837D0-EC26-805D-E000-A2CA7A26FEE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1)</a:t>
            </a:r>
          </a:p>
          <a:p>
            <a:pPr algn="l"/>
            <a:r>
              <a:rPr lang="en-US" sz="1800">
                <a:sym typeface="Wingdings" pitchFamily="2" charset="2"/>
              </a:rPr>
              <a:t>- This code will print ... or ... ? The answer is ...</a:t>
            </a:r>
          </a:p>
          <a:p>
            <a:pPr algn="l"/>
            <a:r>
              <a:rPr lang="en-US" sz="1800">
                <a:sym typeface="Wingdings" pitchFamily="2" charset="2"/>
              </a:rPr>
              <a:t>– Both of the result could ... and depends ...</a:t>
            </a:r>
          </a:p>
          <a:p>
            <a:pPr algn="l"/>
            <a:r>
              <a:rPr lang="en-US" sz="1800">
                <a:sym typeface="Wingdings" pitchFamily="2" charset="2"/>
              </a:rPr>
              <a:t>(code illustration snippet 2)</a:t>
            </a:r>
          </a:p>
          <a:p>
            <a:pPr algn="l"/>
            <a:r>
              <a:rPr lang="en-US" sz="1800">
                <a:sym typeface="Wingdings" pitchFamily="2" charset="2"/>
              </a:rPr>
              <a:t>- The result is ... this is just one of ...</a:t>
            </a:r>
          </a:p>
          <a:p>
            <a:pPr algn="l"/>
            <a:r>
              <a:rPr lang="en-US" sz="1800">
                <a:sym typeface="Wingdings" pitchFamily="2" charset="2"/>
              </a:rPr>
              <a:t>– Note: If we use ... on 3 threads, then one thing is certain is that ... will be on ... and ...</a:t>
            </a:r>
          </a:p>
          <a:p>
            <a:pPr algn="l"/>
            <a:r>
              <a:rPr lang="en-US" sz="1800">
                <a:sym typeface="Wingdings" pitchFamily="2" charset="2"/>
              </a:rPr>
              <a:t>– Other than 3 defined ..., there is another ... which is ... Each Thread is ... and executes ... as something called ... Task </a:t>
            </a:r>
          </a:p>
          <a:p>
            <a:pPr algn="l"/>
            <a:r>
              <a:rPr lang="en-US" sz="1800">
                <a:sym typeface="Wingdings" pitchFamily="2" charset="2"/>
              </a:rPr>
              <a:t>- Asynchronous ... means the thread calls ... threads and doesn't ... for other ...</a:t>
            </a:r>
          </a:p>
          <a:p>
            <a:pPr algn="l"/>
            <a:r>
              <a:rPr lang="en-US" sz="1800">
                <a:sym typeface="Wingdings" pitchFamily="2" charset="2"/>
              </a:rPr>
              <a:t>– The opposite of ... is ..., which means ... for the others then it will ...</a:t>
            </a:r>
          </a:p>
          <a:p>
            <a:pPr algn="l"/>
            <a:r>
              <a:rPr lang="en-US" sz="1800">
                <a:sym typeface="Wingdings" pitchFamily="2" charset="2"/>
              </a:rPr>
              <a:t>– Although the order for ... is ..., the order of ... inside ... still ... (question 2)</a:t>
            </a:r>
          </a:p>
          <a:p>
            <a:pPr algn="l"/>
            <a:r>
              <a:rPr lang="en-US" sz="1800" b="1">
                <a:sym typeface="Wingdings" pitchFamily="2" charset="2"/>
              </a:rPr>
              <a:t>Calling run() instead of start()</a:t>
            </a:r>
          </a:p>
          <a:p>
            <a:pPr algn="l"/>
            <a:r>
              <a:rPr lang="en-US" sz="1800">
                <a:sym typeface="Wingdings" pitchFamily="2" charset="2"/>
              </a:rPr>
              <a:t>- In the exam, we must ... with the code that tries to ... using ... instead of .... Call ... on .../... won't create a .... Although these code ... but there will be no ... on a separate ...</a:t>
            </a:r>
          </a:p>
          <a:p>
            <a:pPr algn="l"/>
            <a:r>
              <a:rPr lang="en-US" sz="1800">
                <a:sym typeface="Wingdings" pitchFamily="2" charset="2"/>
              </a:rPr>
              <a:t>(code illustration snippet 3)</a:t>
            </a:r>
          </a:p>
          <a:p>
            <a:pPr algn="l"/>
            <a:r>
              <a:rPr lang="en-US" sz="1800">
                <a:sym typeface="Wingdings" pitchFamily="2" charset="2"/>
              </a:rPr>
              <a:t>- Different from ..., each line will ... and the next ... The output is ... for every ...</a:t>
            </a:r>
          </a:p>
          <a:p>
            <a:pPr algn="l"/>
            <a:endParaRPr lang="en-US" sz="1800">
              <a:sym typeface="Wingdings" pitchFamily="2" charset="2"/>
            </a:endParaRPr>
          </a:p>
        </p:txBody>
      </p:sp>
    </p:spTree>
    <p:extLst>
      <p:ext uri="{BB962C8B-B14F-4D97-AF65-F5344CB8AC3E}">
        <p14:creationId xmlns:p14="http://schemas.microsoft.com/office/powerpoint/2010/main" val="3241601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9962E-818F-4C99-162D-709060DF7D7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41EA70F-7752-3CF5-F89D-7DB6F5651577}"/>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16B69CF8-DABD-FCF8-07C8-A501FC10C0E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There are ... to create a ... and its ...</a:t>
            </a:r>
          </a:p>
          <a:p>
            <a:pPr algn="l"/>
            <a:r>
              <a:rPr lang="en-US" sz="1800">
                <a:sym typeface="Wingdings" pitchFamily="2" charset="2"/>
              </a:rPr>
              <a:t>+) Create a ... implementation (or use ... instead) and pass into ... constructor ...</a:t>
            </a:r>
          </a:p>
          <a:p>
            <a:pPr algn="l"/>
            <a:r>
              <a:rPr lang="en-US" sz="1800">
                <a:sym typeface="Wingdings" pitchFamily="2" charset="2"/>
              </a:rPr>
              <a:t>+) Create a ... for ... class and override the ... </a:t>
            </a:r>
          </a:p>
          <a:p>
            <a:pPr algn="l"/>
            <a:r>
              <a:rPr lang="en-US" sz="1800">
                <a:sym typeface="Wingdings" pitchFamily="2" charset="2"/>
              </a:rPr>
              <a:t>- The book priotitizes the ... method because it is easier to ... (... API) and the ... method is used only in ...</a:t>
            </a:r>
          </a:p>
          <a:p>
            <a:pPr algn="l"/>
            <a:r>
              <a:rPr lang="en-US" sz="1800" b="1">
                <a:sym typeface="Wingdings" pitchFamily="2" charset="2"/>
              </a:rPr>
              <a:t>Distingusishing Thread Types</a:t>
            </a:r>
          </a:p>
          <a:p>
            <a:pPr algn="l"/>
            <a:r>
              <a:rPr lang="en-US" sz="1800">
                <a:sym typeface="Wingdings" pitchFamily="2" charset="2"/>
              </a:rPr>
              <a:t>- All Java ... including ... in the books are a ... program since it includes ... thread</a:t>
            </a:r>
          </a:p>
          <a:p>
            <a:pPr algn="l"/>
            <a:r>
              <a:rPr lang="en-US" sz="1800">
                <a:sym typeface="Wingdings" pitchFamily="2" charset="2"/>
              </a:rPr>
              <a:t>– System thread is created by ... and runs on ... of the program (for example, ... is managed by ... thread in JVM)</a:t>
            </a:r>
          </a:p>
          <a:p>
            <a:pPr algn="l"/>
            <a:r>
              <a:rPr lang="en-US" sz="1800">
                <a:sym typeface="Wingdings" pitchFamily="2" charset="2"/>
              </a:rPr>
              <a:t>- ... thread is the thread created by ... to achieve certain .... Most of the program we know only has ... thread, which used to call ... thread ... (for simplicity, we can call this as single...)</a:t>
            </a:r>
          </a:p>
          <a:p>
            <a:pPr algn="l"/>
            <a:r>
              <a:rPr lang="en-US" sz="1800">
                <a:sym typeface="Wingdings" pitchFamily="2" charset="2"/>
              </a:rPr>
              <a:t>- both ... thread and ... thread .. can be ... thread..</a:t>
            </a:r>
          </a:p>
          <a:p>
            <a:pPr algn="l"/>
            <a:r>
              <a:rPr lang="en-US" sz="1800">
                <a:sym typeface="Wingdings" pitchFamily="2" charset="2"/>
              </a:rPr>
              <a:t>– Daemon thread is the thread that allows ... to exit when .. A Java program will ... when there are only ... threads (for example, if ... is the only thread, then ... automatically ...)</a:t>
            </a:r>
          </a:p>
          <a:p>
            <a:pPr algn="l"/>
            <a:r>
              <a:rPr lang="en-US" sz="1800">
                <a:sym typeface="Wingdings" pitchFamily="2" charset="2"/>
              </a:rPr>
              <a:t>(code illustration snippet 4)</a:t>
            </a:r>
          </a:p>
          <a:p>
            <a:pPr algn="l"/>
            <a:r>
              <a:rPr lang="en-US" sz="1800">
                <a:sym typeface="Wingdings" pitchFamily="2" charset="2"/>
              </a:rPr>
              <a:t>- Same as last time, the ... is just one of ...</a:t>
            </a:r>
          </a:p>
          <a:p>
            <a:pPr algn="l"/>
            <a:r>
              <a:rPr lang="en-US" sz="1800">
                <a:sym typeface="Wingdings" pitchFamily="2" charset="2"/>
              </a:rPr>
              <a:t>– If we try to change the ... to ... </a:t>
            </a:r>
          </a:p>
          <a:p>
            <a:pPr algn="l"/>
            <a:r>
              <a:rPr lang="en-US" sz="1800">
                <a:sym typeface="Wingdings" pitchFamily="2" charset="2"/>
              </a:rPr>
              <a:t>(code illustration snippet 5)</a:t>
            </a:r>
          </a:p>
        </p:txBody>
      </p:sp>
    </p:spTree>
    <p:extLst>
      <p:ext uri="{BB962C8B-B14F-4D97-AF65-F5344CB8AC3E}">
        <p14:creationId xmlns:p14="http://schemas.microsoft.com/office/powerpoint/2010/main" val="1348775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A94E2-E054-FB5C-151F-5E939C60A63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C8F4218-1A77-1A60-216B-CC7560BBD92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0B17D949-1FF9-D3B0-0070-FBF81E8FEC5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Because this is ... thread, JVM will ... </a:t>
            </a:r>
          </a:p>
          <a:p>
            <a:pPr algn="l"/>
            <a:r>
              <a:rPr lang="en-US" sz="1800">
                <a:sym typeface="Wingdings" pitchFamily="2" charset="2"/>
              </a:rPr>
              <a:t>- In the exam, just remember that ... # ... and it will ... until ...</a:t>
            </a:r>
          </a:p>
          <a:p>
            <a:pPr algn="l"/>
            <a:r>
              <a:rPr lang="en-US" sz="1800" b="1">
                <a:sym typeface="Wingdings" pitchFamily="2" charset="2"/>
              </a:rPr>
              <a:t>Managing a Thread's Life Cycle</a:t>
            </a:r>
          </a:p>
          <a:p>
            <a:pPr algn="l"/>
            <a:r>
              <a:rPr lang="en-US" sz="1800">
                <a:sym typeface="Wingdings" pitchFamily="2" charset="2"/>
              </a:rPr>
              <a:t>- After a Thread is ..., it will be in ... of the 6 states. We can get its ... by using ...()</a:t>
            </a:r>
          </a:p>
        </p:txBody>
      </p:sp>
      <p:pic>
        <p:nvPicPr>
          <p:cNvPr id="2" name="Picture 1">
            <a:extLst>
              <a:ext uri="{FF2B5EF4-FFF2-40B4-BE49-F238E27FC236}">
                <a16:creationId xmlns:a16="http://schemas.microsoft.com/office/drawing/2014/main" id="{05EEF984-E924-AF94-4FB9-95B29DB52C62}"/>
              </a:ext>
            </a:extLst>
          </p:cNvPr>
          <p:cNvPicPr>
            <a:picLocks noChangeAspect="1"/>
          </p:cNvPicPr>
          <p:nvPr/>
        </p:nvPicPr>
        <p:blipFill>
          <a:blip r:embed="rId3"/>
          <a:stretch>
            <a:fillRect/>
          </a:stretch>
        </p:blipFill>
        <p:spPr>
          <a:xfrm>
            <a:off x="2209800" y="2452251"/>
            <a:ext cx="7772400" cy="3972304"/>
          </a:xfrm>
          <a:prstGeom prst="rect">
            <a:avLst/>
          </a:prstGeom>
        </p:spPr>
      </p:pic>
    </p:spTree>
    <p:extLst>
      <p:ext uri="{BB962C8B-B14F-4D97-AF65-F5344CB8AC3E}">
        <p14:creationId xmlns:p14="http://schemas.microsoft.com/office/powerpoint/2010/main" val="3519646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07B9B-1D45-0293-473B-D4CCC826091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2679FD9-69D0-E7C8-5A43-22BE22D61F4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788E85F0-50E1-85DE-4387-FCB777C653B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Every Thread will be ... with a "..." state. Once we call ..., the thread will move to ... state. However, this doesn't guranteed that the thread is ... or ... (it could be ... or ...)</a:t>
            </a:r>
          </a:p>
          <a:p>
            <a:pPr algn="l"/>
            <a:r>
              <a:rPr lang="en-US" sz="1800">
                <a:sym typeface="Wingdings" pitchFamily="2" charset="2"/>
              </a:rPr>
              <a:t>- Runnable state only means ... can be .... Once the Thread is ... or get ... Exception, the Thread move to the .... state where it has no more ... to do</a:t>
            </a:r>
          </a:p>
          <a:p>
            <a:pPr algn="l"/>
            <a:r>
              <a:rPr lang="en-US" sz="1800">
                <a:sym typeface="Wingdings" pitchFamily="2" charset="2"/>
              </a:rPr>
              <a:t>– When the Thread is on Runnable state, it could also change to ... 3 states where it ....: ...., ..., and ....</a:t>
            </a:r>
          </a:p>
          <a:p>
            <a:pPr algn="l"/>
            <a:r>
              <a:rPr lang="en-US" sz="1800">
                <a:sym typeface="Wingdings" pitchFamily="2" charset="2"/>
              </a:rPr>
              <a:t>– The previous graph shows ... common ... between ... (for example, a thread that is in ...state can be triggered with ...() and a thread that is ... by another ... will exit from time.... state back to ... state</a:t>
            </a:r>
          </a:p>
          <a:p>
            <a:pPr algn="l"/>
            <a:r>
              <a:rPr lang="en-US" sz="1800">
                <a:sym typeface="Wingdings" pitchFamily="2" charset="2"/>
              </a:rPr>
              <a:t>- We will talks about some (but ...) of the ... transisition (wait(), notify(), and join() will not ...). We should not use these ... and should use ... as much as we can (question 3)</a:t>
            </a:r>
          </a:p>
          <a:p>
            <a:pPr algn="l"/>
            <a:r>
              <a:rPr lang="en-US" sz="1800" b="1">
                <a:sym typeface="Wingdings" pitchFamily="2" charset="2"/>
              </a:rPr>
              <a:t>Polling with Sleep</a:t>
            </a:r>
          </a:p>
          <a:p>
            <a:pPr algn="l"/>
            <a:r>
              <a:rPr lang="en-US" sz="1800">
                <a:sym typeface="Wingdings" pitchFamily="2" charset="2"/>
              </a:rPr>
              <a:t>- Although ... program allows us to ... multiple ... at a time ..., but ... must wait for other ... to ... A solution to this ... is to use ...</a:t>
            </a:r>
          </a:p>
          <a:p>
            <a:pPr algn="l"/>
            <a:r>
              <a:rPr lang="en-US" sz="1800">
                <a:sym typeface="Wingdings" pitchFamily="2" charset="2"/>
              </a:rPr>
              <a:t>- Polling is a process of checking ... after ... certain ...</a:t>
            </a:r>
          </a:p>
          <a:p>
            <a:pPr algn="l"/>
            <a:r>
              <a:rPr lang="en-US" sz="1800">
                <a:sym typeface="Wingdings" pitchFamily="2" charset="2"/>
              </a:rPr>
              <a:t>(code illustration snippet 6)</a:t>
            </a:r>
          </a:p>
          <a:p>
            <a:pPr algn="l"/>
            <a:r>
              <a:rPr lang="en-US" sz="1800">
                <a:sym typeface="Wingdings" pitchFamily="2" charset="2"/>
              </a:rPr>
              <a:t>- How many times does ... out ? The answer is ..., it depends ...</a:t>
            </a:r>
          </a:p>
          <a:p>
            <a:pPr algn="l"/>
            <a:r>
              <a:rPr lang="en-US" sz="1800">
                <a:sym typeface="Wingdings" pitchFamily="2" charset="2"/>
              </a:rPr>
              <a:t>– But why does a ... without ... is bad ? Because a thread will always at ... =&gt; ... CPU and run out of ... for other ... </a:t>
            </a:r>
          </a:p>
          <a:p>
            <a:pPr algn="l"/>
            <a:r>
              <a:rPr lang="en-US" sz="1800">
                <a:sym typeface="Wingdings" pitchFamily="2" charset="2"/>
              </a:rPr>
              <a:t>(verification required)</a:t>
            </a:r>
          </a:p>
        </p:txBody>
      </p:sp>
    </p:spTree>
    <p:extLst>
      <p:ext uri="{BB962C8B-B14F-4D97-AF65-F5344CB8AC3E}">
        <p14:creationId xmlns:p14="http://schemas.microsoft.com/office/powerpoint/2010/main" val="3577591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6EDEF-0235-EF10-651A-FD45B18CB43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F7942B5-EC9B-BD03-BF43-65F6559F1416}"/>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678CF9E1-7C90-2BC4-D9F8-41B28584802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can enhance the ... by using ... to implement ...</a:t>
            </a:r>
          </a:p>
          <a:p>
            <a:pPr algn="l"/>
            <a:r>
              <a:rPr lang="en-US" sz="1800">
                <a:sym typeface="Wingdings" pitchFamily="2" charset="2"/>
              </a:rPr>
              <a:t>(code illustration snippet 7)</a:t>
            </a:r>
          </a:p>
          <a:p>
            <a:pPr algn="l"/>
            <a:r>
              <a:rPr lang="en-US" sz="1800">
                <a:sym typeface="Wingdings" pitchFamily="2" charset="2"/>
              </a:rPr>
              <a:t>- Although it is just a ..., but it is enough for CPU to ... other and instead of .... Notice that the ... thread will change ... state to ... state when ... </a:t>
            </a:r>
          </a:p>
          <a:p>
            <a:pPr algn="l"/>
            <a:r>
              <a:rPr lang="en-US" sz="1800">
                <a:sym typeface="Wingdings" pitchFamily="2" charset="2"/>
              </a:rPr>
              <a:t>- Continue with the question, how many time ... executed ? The answer is ..., it depends on ...</a:t>
            </a:r>
          </a:p>
          <a:p>
            <a:pPr algn="l"/>
            <a:r>
              <a:rPr lang="en-US" sz="1800">
                <a:sym typeface="Wingdings" pitchFamily="2" charset="2"/>
              </a:rPr>
              <a:t>– Although implementing ... will reduce the risk of ... (because CPU ...), it can't gurantee when ... terminate ...</a:t>
            </a:r>
          </a:p>
          <a:p>
            <a:pPr algn="l"/>
            <a:r>
              <a:rPr lang="en-US" sz="1800">
                <a:sym typeface="Wingdings" pitchFamily="2" charset="2"/>
              </a:rPr>
              <a:t>– There will be chances where ... too long and run out of ... =&gt; CPU ... the ... and context switch for other ... =&gt; then it wil restore ... =&gt; keep doing this ... =&gt; multiple execution of ... =&gt; unable to predict ... (verification required)</a:t>
            </a:r>
          </a:p>
          <a:p>
            <a:pPr algn="l"/>
            <a:r>
              <a:rPr lang="en-US" sz="1800">
                <a:sym typeface="Wingdings" pitchFamily="2" charset="2"/>
              </a:rPr>
              <a:t>- Another problem is the ...variable, if another ... tries to ... when other ... tries to .... =&gt; there will be .../... values (questions4,5)</a:t>
            </a:r>
          </a:p>
          <a:p>
            <a:pPr algn="l"/>
            <a:r>
              <a:rPr lang="en-US" sz="1800" b="1">
                <a:sym typeface="Wingdings" pitchFamily="2" charset="2"/>
              </a:rPr>
              <a:t>Interrupting a Thread</a:t>
            </a:r>
          </a:p>
          <a:p>
            <a:pPr algn="l"/>
            <a:r>
              <a:rPr lang="en-US" sz="1800">
                <a:sym typeface="Wingdings" pitchFamily="2" charset="2"/>
              </a:rPr>
              <a:t>- Our previous program can prevent ... too long in ..., but it has a problem, which is ... cost ... 2.1 seconds to ... and it will be 3 seconds because of ... </a:t>
            </a:r>
          </a:p>
          <a:p>
            <a:pPr algn="l"/>
            <a:r>
              <a:rPr lang="en-US" sz="1800">
                <a:sym typeface="Wingdings" pitchFamily="2" charset="2"/>
              </a:rPr>
              <a:t>- A way to stop this is to ... when it's done</a:t>
            </a:r>
          </a:p>
          <a:p>
            <a:pPr algn="l"/>
            <a:r>
              <a:rPr lang="en-US" sz="1800">
                <a:sym typeface="Wingdings" pitchFamily="2" charset="2"/>
              </a:rPr>
              <a:t>(code illustration snippet 8)</a:t>
            </a:r>
          </a:p>
          <a:p>
            <a:pPr algn="l"/>
            <a:r>
              <a:rPr lang="en-US" sz="1800">
                <a:sym typeface="Wingdings" pitchFamily="2" charset="2"/>
              </a:rPr>
              <a:t>- Our improved ... includes ... to prevent ... CPU and ... for the ... thread to ... when it's done. When main() ..., it will change from ... to .... and when the ... thread is done and ... thread is interrupted ..., it will change back from ... to ... and, causing a ... to be triggered ... =&gt; stop the ...</a:t>
            </a:r>
          </a:p>
        </p:txBody>
      </p:sp>
    </p:spTree>
    <p:extLst>
      <p:ext uri="{BB962C8B-B14F-4D97-AF65-F5344CB8AC3E}">
        <p14:creationId xmlns:p14="http://schemas.microsoft.com/office/powerpoint/2010/main" val="4151090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808E1-21C9-5BF8-CC48-EB9588187AF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9F469EB-FE25-3985-46C0-E1E9EE5220F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D6370A83-01AB-90E2-D7A1-CF68C92E8F7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Call ...() on a thread that is already in ... won't .... In fact, it will change its ... when we periodically call ...is...()</a:t>
            </a:r>
          </a:p>
          <a:p>
            <a:pPr algn="l"/>
            <a:r>
              <a:rPr lang="en-US" sz="1800" b="1">
                <a:sym typeface="Wingdings" pitchFamily="2" charset="2"/>
              </a:rPr>
              <a:t>Creating Threads with the Concurrency API</a:t>
            </a:r>
          </a:p>
          <a:p>
            <a:pPr algn="l"/>
            <a:r>
              <a:rPr lang="en-US" sz="1800">
                <a:sym typeface="Wingdings" pitchFamily="2" charset="2"/>
              </a:rPr>
              <a:t>- Java includes ... packages. This is the Concurrency API. It is used to handle complex ... and managing ... for us</a:t>
            </a:r>
          </a:p>
          <a:p>
            <a:pPr algn="l"/>
            <a:r>
              <a:rPr lang="en-US" sz="1800">
                <a:sym typeface="Wingdings" pitchFamily="2" charset="2"/>
              </a:rPr>
              <a:t>- Concurrency API includes ... interface, which is used to create a ... that creates and ... </a:t>
            </a:r>
          </a:p>
          <a:p>
            <a:pPr algn="l"/>
            <a:r>
              <a:rPr lang="en-US" sz="1800">
                <a:sym typeface="Wingdings" pitchFamily="2" charset="2"/>
              </a:rPr>
              <a:t>- We first must get an instance of ... then we will send ... need to do to ...</a:t>
            </a:r>
          </a:p>
          <a:p>
            <a:pPr algn="l"/>
            <a:r>
              <a:rPr lang="en-US" sz="1800">
                <a:sym typeface="Wingdings" pitchFamily="2" charset="2"/>
              </a:rPr>
              <a:t>- This framework comprises of ... such as thread ..., thread .... We are encouraged to use this ... when ... task ..., even if we are working on single ....</a:t>
            </a:r>
          </a:p>
          <a:p>
            <a:pPr algn="l"/>
            <a:r>
              <a:rPr lang="en-US" sz="1800">
                <a:sym typeface="Wingdings" pitchFamily="2" charset="2"/>
              </a:rPr>
              <a:t>– When working with a multi ... we should use ... instead of ... object directly. These libraries are much more ... and ... and capable of ... complex ...</a:t>
            </a:r>
          </a:p>
          <a:p>
            <a:pPr algn="l"/>
            <a:r>
              <a:rPr lang="en-US" sz="1800" b="1">
                <a:sym typeface="Wingdings" pitchFamily="2" charset="2"/>
              </a:rPr>
              <a:t>Introducing the single-thread executor</a:t>
            </a:r>
          </a:p>
          <a:p>
            <a:pPr algn="l"/>
            <a:r>
              <a:rPr lang="en-US" sz="1800">
                <a:sym typeface="Wingdings" pitchFamily="2" charset="2"/>
              </a:rPr>
              <a:t>- ... is an interface, how can we get the instance of ... The Concurrency API includes ... class that has ... method to get the instance of ...</a:t>
            </a:r>
          </a:p>
          <a:p>
            <a:pPr algn="l"/>
            <a:r>
              <a:rPr lang="en-US" sz="1800">
                <a:sym typeface="Wingdings" pitchFamily="2" charset="2"/>
              </a:rPr>
              <a:t>(code illustration snippet 9)</a:t>
            </a:r>
          </a:p>
          <a:p>
            <a:pPr algn="l"/>
            <a:r>
              <a:rPr lang="en-US" sz="1800">
                <a:sym typeface="Wingdings" pitchFamily="2" charset="2"/>
              </a:rPr>
              <a:t>- In this example, we implemented ... to create a Service. Differ from the last example, this time we only have ... thread (... and ...). However, the output is still ... but it will have less ... than ...</a:t>
            </a:r>
          </a:p>
          <a:p>
            <a:pPr algn="l"/>
            <a:r>
              <a:rPr lang="en-US" sz="1800">
                <a:sym typeface="Wingdings" pitchFamily="2" charset="2"/>
              </a:rPr>
              <a:t>- Notice that the tasks are not ... anymore. With ..., tasks will certainly be ... in order and only ... thread will ... </a:t>
            </a:r>
          </a:p>
        </p:txBody>
      </p:sp>
    </p:spTree>
    <p:extLst>
      <p:ext uri="{BB962C8B-B14F-4D97-AF65-F5344CB8AC3E}">
        <p14:creationId xmlns:p14="http://schemas.microsoft.com/office/powerpoint/2010/main" val="1110775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D42AE-DE84-0482-0DFD-83FDB58F173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17A293F-B9A5-5DB5-A075-CB70B1C330E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F66CA458-CA72-E6AE-2642-61BF34C18E4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Shutting down a Thread Executor</a:t>
            </a:r>
          </a:p>
          <a:p>
            <a:pPr algn="l"/>
            <a:r>
              <a:rPr lang="en-US" sz="1800">
                <a:sym typeface="Wingdings" pitchFamily="2" charset="2"/>
              </a:rPr>
              <a:t>- Once we finish with ..., there is an important ... must do ... is ... the Executor... </a:t>
            </a:r>
          </a:p>
          <a:p>
            <a:pPr algn="l"/>
            <a:r>
              <a:rPr lang="en-US" sz="1800">
                <a:sym typeface="Wingdings" pitchFamily="2" charset="2"/>
              </a:rPr>
              <a:t>- A .... will create a non-... thread, and if we don't ..., then the program will ...</a:t>
            </a:r>
          </a:p>
          <a:p>
            <a:pPr algn="l"/>
            <a:r>
              <a:rPr lang="en-US" sz="1800">
                <a:sym typeface="Wingdings" pitchFamily="2" charset="2"/>
              </a:rPr>
              <a:t>– The process of ... the Executor is:</a:t>
            </a:r>
          </a:p>
          <a:p>
            <a:pPr algn="l"/>
            <a:r>
              <a:rPr lang="en-US" sz="1800">
                <a:sym typeface="Wingdings" pitchFamily="2" charset="2"/>
              </a:rPr>
              <a:t>+) First, ... any tasks that ... new ...</a:t>
            </a:r>
          </a:p>
          <a:p>
            <a:pPr algn="l"/>
            <a:r>
              <a:rPr lang="en-US" sz="1800">
                <a:sym typeface="Wingdings" pitchFamily="2" charset="2"/>
              </a:rPr>
              <a:t>+) Meanwhile, ... last ... running ... (during this stage, calling ... true and ... false)</a:t>
            </a:r>
          </a:p>
          <a:p>
            <a:pPr algn="l"/>
            <a:r>
              <a:rPr lang="en-US" sz="1800">
                <a:sym typeface="Wingdings" pitchFamily="2" charset="2"/>
              </a:rPr>
              <a:t>+) If any tasks that ... during ..., ... RejectedExecutionException ...</a:t>
            </a:r>
          </a:p>
          <a:p>
            <a:pPr algn="l"/>
            <a:r>
              <a:rPr lang="en-US" sz="1800">
                <a:sym typeface="Wingdings" pitchFamily="2" charset="2"/>
              </a:rPr>
              <a:t>+) When all ... the call for ... and ... true </a:t>
            </a:r>
          </a:p>
        </p:txBody>
      </p:sp>
      <p:pic>
        <p:nvPicPr>
          <p:cNvPr id="2" name="Picture 1">
            <a:extLst>
              <a:ext uri="{FF2B5EF4-FFF2-40B4-BE49-F238E27FC236}">
                <a16:creationId xmlns:a16="http://schemas.microsoft.com/office/drawing/2014/main" id="{B4A42DC0-D906-6B45-1CE2-AE42444EE8C0}"/>
              </a:ext>
            </a:extLst>
          </p:cNvPr>
          <p:cNvPicPr>
            <a:picLocks noChangeAspect="1"/>
          </p:cNvPicPr>
          <p:nvPr/>
        </p:nvPicPr>
        <p:blipFill>
          <a:blip r:embed="rId3"/>
          <a:stretch>
            <a:fillRect/>
          </a:stretch>
        </p:blipFill>
        <p:spPr>
          <a:xfrm>
            <a:off x="4145478" y="3429000"/>
            <a:ext cx="7772400" cy="3321724"/>
          </a:xfrm>
          <a:prstGeom prst="rect">
            <a:avLst/>
          </a:prstGeom>
        </p:spPr>
      </p:pic>
    </p:spTree>
    <p:extLst>
      <p:ext uri="{BB962C8B-B14F-4D97-AF65-F5344CB8AC3E}">
        <p14:creationId xmlns:p14="http://schemas.microsoft.com/office/powerpoint/2010/main" val="56825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6BFF6-0C44-6C6E-7A04-343DA83E883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79C0A27-1BA6-F80E-60A3-4319FB315B5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44C9C48B-2C76-5309-E4EA-AE723B0836FB}"/>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For the exam, we must remember that ...() won't ... submitted ... for the ... before the ...</a:t>
            </a:r>
          </a:p>
          <a:p>
            <a:pPr algn="l"/>
            <a:r>
              <a:rPr lang="en-US" sz="1800">
                <a:sym typeface="Wingdings" pitchFamily="2" charset="2"/>
              </a:rPr>
              <a:t>- If we really want to ..., we can call ...Now(), this guy will try to stop ... current... and reject all ... submitted but not ...</a:t>
            </a:r>
          </a:p>
          <a:p>
            <a:pPr algn="l"/>
            <a:r>
              <a:rPr lang="en-US" sz="1800">
                <a:sym typeface="Wingdings" pitchFamily="2" charset="2"/>
              </a:rPr>
              <a:t>– There will be chances that this guy won't ... because we can create a ... thread that's ... =&gt; Any ... will be ignored ...</a:t>
            </a:r>
          </a:p>
          <a:p>
            <a:pPr algn="l"/>
            <a:r>
              <a:rPr lang="en-US" sz="1800">
                <a:sym typeface="Wingdings" pitchFamily="2" charset="2"/>
              </a:rPr>
              <a:t>- As we studied in chapter 11, resources like ... must be properly ... to prevent a ... However, such ... aren't implementing ... interface =&gt; try ... can't be used ... but we have to use try ....  Although this is ..., we are recommended to ...</a:t>
            </a:r>
          </a:p>
          <a:p>
            <a:pPr algn="l"/>
            <a:r>
              <a:rPr lang="en-US" sz="1800" b="1">
                <a:sym typeface="Wingdings" pitchFamily="2" charset="2"/>
              </a:rPr>
              <a:t>Submitting Tasks</a:t>
            </a:r>
          </a:p>
          <a:p>
            <a:pPr algn="l"/>
            <a:r>
              <a:rPr lang="en-US" sz="1800">
                <a:sym typeface="Wingdings" pitchFamily="2" charset="2"/>
              </a:rPr>
              <a:t>- We can submit a ... to ... Service though many ... </a:t>
            </a:r>
          </a:p>
          <a:p>
            <a:pPr algn="l"/>
            <a:r>
              <a:rPr lang="en-US" sz="1800">
                <a:sym typeface="Wingdings" pitchFamily="2" charset="2"/>
              </a:rPr>
              <a:t>- The first way is ... which we presented.... The method ... is ... Executor interface ... (which also the interface that the ... inherited ...). This method accepts 1 ... task and complete ... asynchronously ... Because ... method doesn't ... anything, it doesnt tell us anything about .... of the execution</a:t>
            </a:r>
          </a:p>
          <a:p>
            <a:pPr algn="l"/>
            <a:r>
              <a:rPr lang="en-US" sz="1800">
                <a:sym typeface="Wingdings" pitchFamily="2" charset="2"/>
              </a:rPr>
              <a:t>- This is a type of "fire-and-forget" ...</a:t>
            </a:r>
          </a:p>
          <a:p>
            <a:pPr algn="l"/>
            <a:r>
              <a:rPr lang="en-US" sz="1800">
                <a:sym typeface="Wingdings" pitchFamily="2" charset="2"/>
              </a:rPr>
              <a:t>– Luckily, JDK devs included another ... called ...() for ... interface. It looks like ...() but it return something called ... instance, which is used to determine whether ... or not ...</a:t>
            </a:r>
          </a:p>
          <a:p>
            <a:pPr algn="l"/>
            <a:r>
              <a:rPr lang="en-US" sz="1800">
                <a:sym typeface="Wingdings" pitchFamily="2" charset="2"/>
              </a:rPr>
              <a:t>– It also used to return ... after completion ...</a:t>
            </a:r>
          </a:p>
        </p:txBody>
      </p:sp>
    </p:spTree>
    <p:extLst>
      <p:ext uri="{BB962C8B-B14F-4D97-AF65-F5344CB8AC3E}">
        <p14:creationId xmlns:p14="http://schemas.microsoft.com/office/powerpoint/2010/main" val="1441031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5C957-46C7-9473-1DFC-82C74FA1DFA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1355BD5-CB08-6A0E-3DCA-9F09D32FC2E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CEC857BD-44D6-09D1-811B-2934B64EAD00}"/>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A00F7BA1-7475-0A28-39EF-7154FE79DADA}"/>
              </a:ext>
            </a:extLst>
          </p:cNvPr>
          <p:cNvPicPr>
            <a:picLocks noChangeAspect="1"/>
          </p:cNvPicPr>
          <p:nvPr/>
        </p:nvPicPr>
        <p:blipFill>
          <a:blip r:embed="rId3"/>
          <a:stretch>
            <a:fillRect/>
          </a:stretch>
        </p:blipFill>
        <p:spPr>
          <a:xfrm>
            <a:off x="2209800" y="992875"/>
            <a:ext cx="7772400" cy="4872250"/>
          </a:xfrm>
          <a:prstGeom prst="rect">
            <a:avLst/>
          </a:prstGeom>
        </p:spPr>
      </p:pic>
      <p:sp>
        <p:nvSpPr>
          <p:cNvPr id="5" name="Rectangle 4">
            <a:extLst>
              <a:ext uri="{FF2B5EF4-FFF2-40B4-BE49-F238E27FC236}">
                <a16:creationId xmlns:a16="http://schemas.microsoft.com/office/drawing/2014/main" id="{28625AE0-BE5F-55A0-BBC3-1BE591CE1719}"/>
              </a:ext>
            </a:extLst>
          </p:cNvPr>
          <p:cNvSpPr/>
          <p:nvPr/>
        </p:nvSpPr>
        <p:spPr>
          <a:xfrm>
            <a:off x="5747657" y="1935678"/>
            <a:ext cx="4132613" cy="36932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583216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9E969-6B48-227F-3176-8CDCC8D6629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DD941C2-B280-FD0A-B2CD-E4BE532730C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523FAD5B-6984-809B-729F-39119FF066CB}"/>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can see that, both ...() and ...() are almost identical. When used with ..., ...() obviously has more advantage than ...() because it returns ... used to monitor ... while ...() doesn't ...</a:t>
            </a:r>
          </a:p>
          <a:p>
            <a:pPr algn="l"/>
            <a:r>
              <a:rPr lang="en-US" sz="1800">
                <a:sym typeface="Wingdings" pitchFamily="2" charset="2"/>
              </a:rPr>
              <a:t>– That's why people like ...() than ...()</a:t>
            </a:r>
          </a:p>
          <a:p>
            <a:pPr algn="l"/>
            <a:r>
              <a:rPr lang="en-US" sz="1800" b="1">
                <a:sym typeface="Wingdings" pitchFamily="2" charset="2"/>
              </a:rPr>
              <a:t>Waiting for Results</a:t>
            </a:r>
          </a:p>
          <a:p>
            <a:pPr algn="l"/>
            <a:r>
              <a:rPr lang="en-US" sz="1800">
                <a:sym typeface="Wingdings" pitchFamily="2" charset="2"/>
              </a:rPr>
              <a:t>- How can we know when ... submitted to ... is completed ? As we mentioned that submit() returns a ... instance that can be used to ... result ..</a:t>
            </a:r>
          </a:p>
          <a:p>
            <a:pPr algn="l"/>
            <a:r>
              <a:rPr lang="en-US" sz="1800">
                <a:sym typeface="Wingdings" pitchFamily="2" charset="2"/>
              </a:rPr>
              <a:t>– Future type is a .... In the exam, we don't need to know about its ..., we just need to know that ... type is returned by many .... API ...</a:t>
            </a:r>
          </a:p>
          <a:p>
            <a:pPr algn="l"/>
            <a:r>
              <a:rPr lang="en-US" sz="1800">
                <a:sym typeface="Wingdings" pitchFamily="2" charset="2"/>
              </a:rPr>
              <a:t>- The table shows some method to ...</a:t>
            </a:r>
          </a:p>
          <a:p>
            <a:pPr algn="l"/>
            <a:endParaRPr lang="en-US" sz="1800">
              <a:sym typeface="Wingdings" pitchFamily="2" charset="2"/>
            </a:endParaRPr>
          </a:p>
        </p:txBody>
      </p:sp>
    </p:spTree>
    <p:extLst>
      <p:ext uri="{BB962C8B-B14F-4D97-AF65-F5344CB8AC3E}">
        <p14:creationId xmlns:p14="http://schemas.microsoft.com/office/powerpoint/2010/main" val="35372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AB599-AB7F-A27A-AC75-1F1C8F9FD69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FE811CB-87CE-09A0-166B-70C7E126C4B7}"/>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04E5AB21-B96D-76FC-B1BC-1451FA39EBF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C8CF7D60-ACB4-A2EA-C097-BCAA1B461397}"/>
              </a:ext>
            </a:extLst>
          </p:cNvPr>
          <p:cNvPicPr>
            <a:picLocks noChangeAspect="1"/>
          </p:cNvPicPr>
          <p:nvPr/>
        </p:nvPicPr>
        <p:blipFill>
          <a:blip r:embed="rId3"/>
          <a:stretch>
            <a:fillRect/>
          </a:stretch>
        </p:blipFill>
        <p:spPr>
          <a:xfrm>
            <a:off x="2209800" y="1384154"/>
            <a:ext cx="7772400" cy="4089691"/>
          </a:xfrm>
          <a:prstGeom prst="rect">
            <a:avLst/>
          </a:prstGeom>
        </p:spPr>
      </p:pic>
      <p:sp>
        <p:nvSpPr>
          <p:cNvPr id="5" name="Rectangle 4">
            <a:extLst>
              <a:ext uri="{FF2B5EF4-FFF2-40B4-BE49-F238E27FC236}">
                <a16:creationId xmlns:a16="http://schemas.microsoft.com/office/drawing/2014/main" id="{6EF00982-8654-9315-780F-38291F9F5BC4}"/>
              </a:ext>
            </a:extLst>
          </p:cNvPr>
          <p:cNvSpPr/>
          <p:nvPr/>
        </p:nvSpPr>
        <p:spPr>
          <a:xfrm>
            <a:off x="4750130" y="2363190"/>
            <a:ext cx="4762005" cy="28975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98657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12F0B-1AF3-AF99-92A0-3409103ADB0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CBFCE86-B2A6-C1D1-6BCA-9A75EAFB1E9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98EB7A99-AAC3-2C7E-C5C5-233629F0B735}"/>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10)</a:t>
            </a:r>
          </a:p>
          <a:p>
            <a:pPr algn="l"/>
            <a:r>
              <a:rPr lang="en-US" sz="1800">
                <a:sym typeface="Wingdings" pitchFamily="2" charset="2"/>
              </a:rPr>
              <a:t>- This is the same as ... polling ... but not using ... class. This is the essence of ... API, where it is used to handle ... tasks and we don't need to ... directly ... </a:t>
            </a:r>
          </a:p>
          <a:p>
            <a:pPr algn="l"/>
            <a:r>
              <a:rPr lang="en-US" sz="1800">
                <a:sym typeface="Wingdings" pitchFamily="2" charset="2"/>
              </a:rPr>
              <a:t>- This code also ... before it throws ... </a:t>
            </a:r>
          </a:p>
          <a:p>
            <a:pPr algn="l"/>
            <a:r>
              <a:rPr lang="en-US" sz="1800">
                <a:sym typeface="Wingdings" pitchFamily="2" charset="2"/>
              </a:rPr>
              <a:t>- What is the return value of this task ? Because ... is a generic .., the type V is determined by the Runnable method. Since Runnable ... has return type ... =&gt; the ...() method will always ... null ...</a:t>
            </a:r>
          </a:p>
          <a:p>
            <a:pPr algn="l"/>
            <a:r>
              <a:rPr lang="en-US" sz="1800">
                <a:sym typeface="Wingdings" pitchFamily="2" charset="2"/>
              </a:rPr>
              <a:t>– The ...() method also accept 2 optionals ... which is ... and ... for ... and ...</a:t>
            </a:r>
          </a:p>
          <a:p>
            <a:pPr algn="l"/>
            <a:r>
              <a:rPr lang="en-US" sz="1800">
                <a:sym typeface="Wingdings" pitchFamily="2" charset="2"/>
              </a:rPr>
              <a:t>– We must know the ... enum because ... API uses it</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0E859E22-45F0-445B-30F1-C7030025944E}"/>
              </a:ext>
            </a:extLst>
          </p:cNvPr>
          <p:cNvPicPr>
            <a:picLocks noChangeAspect="1"/>
          </p:cNvPicPr>
          <p:nvPr/>
        </p:nvPicPr>
        <p:blipFill>
          <a:blip r:embed="rId3"/>
          <a:stretch>
            <a:fillRect/>
          </a:stretch>
        </p:blipFill>
        <p:spPr>
          <a:xfrm>
            <a:off x="2557489" y="3653868"/>
            <a:ext cx="6412989" cy="2986644"/>
          </a:xfrm>
          <a:prstGeom prst="rect">
            <a:avLst/>
          </a:prstGeom>
        </p:spPr>
      </p:pic>
    </p:spTree>
    <p:extLst>
      <p:ext uri="{BB962C8B-B14F-4D97-AF65-F5344CB8AC3E}">
        <p14:creationId xmlns:p14="http://schemas.microsoft.com/office/powerpoint/2010/main" val="1393474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C5306-F926-2A89-9EC6-2D492B21E8D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B1ED097-73C2-7E43-9883-073BB2C06246}"/>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7CA60BF6-906B-EB56-D576-160980A5C315}"/>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Introducing Callable</a:t>
            </a:r>
          </a:p>
          <a:p>
            <a:pPr algn="l"/>
            <a:r>
              <a:rPr lang="en-US" sz="1800">
                <a:sym typeface="Wingdings" pitchFamily="2" charset="2"/>
              </a:rPr>
              <a:t>- ... interface is a FP and looks the same with ... interface, except the fact that ... it does ... a value and throws ...</a:t>
            </a:r>
          </a:p>
          <a:p>
            <a:pPr algn="l"/>
            <a:endParaRPr lang="en-US" sz="1800">
              <a:sym typeface="Wingdings" pitchFamily="2" charset="2"/>
            </a:endParaRPr>
          </a:p>
        </p:txBody>
      </p:sp>
      <p:pic>
        <p:nvPicPr>
          <p:cNvPr id="5" name="Picture 4">
            <a:extLst>
              <a:ext uri="{FF2B5EF4-FFF2-40B4-BE49-F238E27FC236}">
                <a16:creationId xmlns:a16="http://schemas.microsoft.com/office/drawing/2014/main" id="{FC73604A-67DA-C329-69BE-0DA3B1C03CA2}"/>
              </a:ext>
            </a:extLst>
          </p:cNvPr>
          <p:cNvPicPr>
            <a:picLocks noChangeAspect="1"/>
          </p:cNvPicPr>
          <p:nvPr/>
        </p:nvPicPr>
        <p:blipFill>
          <a:blip r:embed="rId3"/>
          <a:stretch>
            <a:fillRect/>
          </a:stretch>
        </p:blipFill>
        <p:spPr>
          <a:xfrm>
            <a:off x="2959100" y="2012126"/>
            <a:ext cx="6273800" cy="1028700"/>
          </a:xfrm>
          <a:prstGeom prst="rect">
            <a:avLst/>
          </a:prstGeom>
        </p:spPr>
      </p:pic>
    </p:spTree>
    <p:extLst>
      <p:ext uri="{BB962C8B-B14F-4D97-AF65-F5344CB8AC3E}">
        <p14:creationId xmlns:p14="http://schemas.microsoft.com/office/powerpoint/2010/main" val="230177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E3306-CA1A-005D-64B8-8F1867F328E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D5FB77A-A903-BAEA-7539-16AB4D1455F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1A11286D-6CA9-98B3-2B86-4DB371487779}"/>
              </a:ext>
            </a:extLst>
          </p:cNvPr>
          <p:cNvSpPr txBox="1">
            <a:spLocks/>
          </p:cNvSpPr>
          <p:nvPr/>
        </p:nvSpPr>
        <p:spPr>
          <a:xfrm>
            <a:off x="0" y="820738"/>
            <a:ext cx="12192000" cy="603726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Callable interface is usually ... than ... because it returns ... easier ... when a task ... </a:t>
            </a:r>
          </a:p>
          <a:p>
            <a:pPr algn="l"/>
            <a:r>
              <a:rPr lang="en-US" sz="1800">
                <a:sym typeface="Wingdings" pitchFamily="2" charset="2"/>
              </a:rPr>
              <a:t>- Even if so, we still use ... of ... and it can be interchangable in case where lambda doesn't throws ... and doesn't have ... type</a:t>
            </a:r>
          </a:p>
          <a:p>
            <a:pPr algn="l"/>
            <a:r>
              <a:rPr lang="en-US" sz="1800">
                <a:sym typeface="Wingdings" pitchFamily="2" charset="2"/>
              </a:rPr>
              <a:t>– Luckily, ExecutorService includes ... version for ...() which recieves a .... and returns ... instance ...</a:t>
            </a:r>
          </a:p>
          <a:p>
            <a:pPr algn="l"/>
            <a:r>
              <a:rPr lang="en-US" sz="1800">
                <a:sym typeface="Wingdings" pitchFamily="2" charset="2"/>
              </a:rPr>
              <a:t>- Differ from Runnable, where it always .... then ...get() will return a generic type (and also have a chances of returning ...)</a:t>
            </a:r>
          </a:p>
          <a:p>
            <a:pPr algn="l"/>
            <a:r>
              <a:rPr lang="en-US" sz="1800">
                <a:sym typeface="Wingdings" pitchFamily="2" charset="2"/>
              </a:rPr>
              <a:t>(code illustration snippet 11) </a:t>
            </a:r>
          </a:p>
          <a:p>
            <a:pPr algn="l"/>
            <a:r>
              <a:rPr lang="en-US" sz="1800">
                <a:sym typeface="Wingdings" pitchFamily="2" charset="2"/>
              </a:rPr>
              <a:t>- We can rewrite the code using ..., shared ..., interrupted and ... wait, but this code is far more ... and ... to understand... Basically, this is why ... API is born – to write the code that is ..., ..., and ...</a:t>
            </a:r>
          </a:p>
          <a:p>
            <a:pPr algn="l"/>
            <a:r>
              <a:rPr lang="en-US" sz="1800" b="1">
                <a:sym typeface="Wingdings" pitchFamily="2" charset="2"/>
              </a:rPr>
              <a:t>Waiting for all tasks to finish</a:t>
            </a:r>
            <a:endParaRPr lang="en-US" sz="1800">
              <a:sym typeface="Wingdings" pitchFamily="2" charset="2"/>
            </a:endParaRPr>
          </a:p>
          <a:p>
            <a:pPr algn="l"/>
            <a:r>
              <a:rPr lang="en-US" sz="1800">
                <a:sym typeface="Wingdings" pitchFamily="2" charset="2"/>
              </a:rPr>
              <a:t>- After ... a set of tasks to ..., what we usually do is wait ... Like the last example, we have called ... on ... instance to get ... If we don't need the ... and done of using ..., we have a simpler ... </a:t>
            </a:r>
          </a:p>
          <a:p>
            <a:pPr algn="l"/>
            <a:r>
              <a:rPr lang="en-US" sz="1800">
                <a:sym typeface="Wingdings" pitchFamily="2" charset="2"/>
              </a:rPr>
              <a:t>- First, we shutdown the ... using ...(), and then use the ...() method that is available to all ... This method will ... for a ... time for all ... tasks. This method will return ... if all ... or ... throws ...</a:t>
            </a:r>
          </a:p>
          <a:p>
            <a:pPr algn="l"/>
            <a:r>
              <a:rPr lang="en-US" sz="1800">
                <a:sym typeface="Wingdings" pitchFamily="2" charset="2"/>
              </a:rPr>
              <a:t>(code illustration snippet 12)</a:t>
            </a:r>
          </a:p>
          <a:p>
            <a:pPr algn="l"/>
            <a:r>
              <a:rPr lang="en-US" sz="1800">
                <a:sym typeface="Wingdings" pitchFamily="2" charset="2"/>
              </a:rPr>
              <a:t>(question 6)</a:t>
            </a:r>
          </a:p>
          <a:p>
            <a:pPr algn="l"/>
            <a:r>
              <a:rPr lang="en-US" sz="1800" b="1">
                <a:sym typeface="Wingdings" pitchFamily="2" charset="2"/>
              </a:rPr>
              <a:t>Scheduling Tasks</a:t>
            </a:r>
          </a:p>
          <a:p>
            <a:pPr algn="l"/>
            <a:r>
              <a:rPr lang="en-US" sz="1800">
                <a:sym typeface="Wingdings" pitchFamily="2" charset="2"/>
              </a:rPr>
              <a:t>- Normally in Java, we need to schedule a ... somewhere in the future. We even have to make a task that ... period ... in a time ... (for example, in zoo, we have to check daily the food for the ...) </a:t>
            </a:r>
          </a:p>
        </p:txBody>
      </p:sp>
    </p:spTree>
    <p:extLst>
      <p:ext uri="{BB962C8B-B14F-4D97-AF65-F5344CB8AC3E}">
        <p14:creationId xmlns:p14="http://schemas.microsoft.com/office/powerpoint/2010/main" val="82127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1A715-DCE5-5CD5-4C67-F5BA3A53AD5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A707F92-5DBF-D2D3-0C17-077F65F7BEA2}"/>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14AD77D6-5876-CD82-F722-60F3C76BC39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We have something called ..., an sub... of .... Like ..., we can use ... method from ... class to get an instance of ... interface ... </a:t>
            </a:r>
          </a:p>
          <a:p>
            <a:pPr algn="l"/>
            <a:r>
              <a:rPr lang="en-US" sz="1800">
                <a:sym typeface="Wingdings" pitchFamily="2" charset="2"/>
              </a:rPr>
              <a:t>(code illustration snippet 13)</a:t>
            </a:r>
          </a:p>
          <a:p>
            <a:pPr algn="l"/>
            <a:r>
              <a:rPr lang="en-US" sz="1800">
                <a:sym typeface="Wingdings" pitchFamily="2" charset="2"/>
              </a:rPr>
              <a:t>- We can store the ... instance in ..., but obviously we will need to ...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AA4D456F-D905-D7D8-ABBD-B0E6E771074E}"/>
              </a:ext>
            </a:extLst>
          </p:cNvPr>
          <p:cNvPicPr>
            <a:picLocks noChangeAspect="1"/>
          </p:cNvPicPr>
          <p:nvPr/>
        </p:nvPicPr>
        <p:blipFill>
          <a:blip r:embed="rId3"/>
          <a:stretch>
            <a:fillRect/>
          </a:stretch>
        </p:blipFill>
        <p:spPr>
          <a:xfrm>
            <a:off x="2209800" y="2323203"/>
            <a:ext cx="7772400" cy="3714059"/>
          </a:xfrm>
          <a:prstGeom prst="rect">
            <a:avLst/>
          </a:prstGeom>
        </p:spPr>
      </p:pic>
      <p:sp>
        <p:nvSpPr>
          <p:cNvPr id="5" name="Rectangle 4">
            <a:extLst>
              <a:ext uri="{FF2B5EF4-FFF2-40B4-BE49-F238E27FC236}">
                <a16:creationId xmlns:a16="http://schemas.microsoft.com/office/drawing/2014/main" id="{1B7F7679-161E-2C06-459B-E601AD4AA8F3}"/>
              </a:ext>
            </a:extLst>
          </p:cNvPr>
          <p:cNvSpPr/>
          <p:nvPr/>
        </p:nvSpPr>
        <p:spPr>
          <a:xfrm>
            <a:off x="5763984" y="2838203"/>
            <a:ext cx="4068785" cy="30638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19712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61CF7-5E22-0F56-1E4F-E0952D316A9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63D8D88-D00E-CBE1-AEFF-98158DE168A7}"/>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01069D34-7B3F-3E70-54AC-9E841B328624}"/>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In real life, these are ... most ... in ... API because it ... complex in just a .... Delay and period all use ... enum as a ... (question 7)</a:t>
            </a:r>
          </a:p>
          <a:p>
            <a:pPr algn="l"/>
            <a:r>
              <a:rPr lang="en-US" sz="1800">
                <a:sym typeface="Wingdings" pitchFamily="2" charset="2"/>
              </a:rPr>
              <a:t>- 2 method ...() recieve ... or ... and execute after .... The ... also the same but after the previous ... + a ...</a:t>
            </a:r>
          </a:p>
          <a:p>
            <a:pPr algn="l"/>
            <a:r>
              <a:rPr lang="en-US" sz="1800">
                <a:sym typeface="Wingdings" pitchFamily="2" charset="2"/>
              </a:rPr>
              <a:t>(code illustration snippet 14)</a:t>
            </a:r>
          </a:p>
          <a:p>
            <a:pPr algn="l"/>
            <a:r>
              <a:rPr lang="en-US" sz="1800">
                <a:sym typeface="Wingdings" pitchFamily="2" charset="2"/>
              </a:rPr>
              <a:t>- Meanwhile these tasks looks like they are ... in the ... The execution of ... could be ... (for example, run out of available ... =&gt; wait in ...). Moreover, if the service is ... then ... running will ... and all tasks that are ... will be ... </a:t>
            </a:r>
          </a:p>
          <a:p>
            <a:pPr algn="l"/>
            <a:r>
              <a:rPr lang="en-US" sz="1800">
                <a:sym typeface="Wingdings" pitchFamily="2" charset="2"/>
              </a:rPr>
              <a:t>- Each method in ... are all important and serves different ...(for example: checking the cages in zoo regularly, could send noti or schedule another ..)</a:t>
            </a:r>
          </a:p>
          <a:p>
            <a:pPr algn="l"/>
            <a:r>
              <a:rPr lang="en-US" sz="1800">
                <a:sym typeface="Wingdings" pitchFamily="2" charset="2"/>
              </a:rPr>
              <a:t>- scheduledAtFixedRate() ...</a:t>
            </a:r>
          </a:p>
          <a:p>
            <a:pPr algn="l"/>
            <a:r>
              <a:rPr lang="en-US" sz="1800">
                <a:sym typeface="Wingdings" pitchFamily="2" charset="2"/>
              </a:rPr>
              <a:t>- scheduledAtFixedDelay() ...</a:t>
            </a:r>
          </a:p>
          <a:p>
            <a:pPr algn="l"/>
            <a:r>
              <a:rPr lang="en-US" sz="1800">
                <a:sym typeface="Wingdings" pitchFamily="2" charset="2"/>
              </a:rPr>
              <a:t>– Some bad things could happen with scheduledAtFixedRate() if all tasks take .... than the delay (image this looks like a boss always ... at us ... each minute while we took 5 mins for each ... =&gt; soon enough, we will be ...). Executor will face the same thing, we just need enough time. The program will submit ... enough ... =&gt; program ...</a:t>
            </a:r>
          </a:p>
          <a:p>
            <a:pPr algn="l"/>
            <a:r>
              <a:rPr lang="en-US" sz="1800">
                <a:sym typeface="Wingdings" pitchFamily="2" charset="2"/>
              </a:rPr>
              <a:t>- scheduledAtFixedDelay() is useful when ... daily ... but ... is not important ... (for example, a grocery store could runout of ... and ... 20 minutes to ..., however, we don't need to know when ... again, we just need to know that when it is ..., we need to refill)</a:t>
            </a:r>
          </a:p>
          <a:p>
            <a:pPr algn="l"/>
            <a:endParaRPr lang="en-US" sz="1800" b="1">
              <a:sym typeface="Wingdings" pitchFamily="2" charset="2"/>
            </a:endParaRPr>
          </a:p>
        </p:txBody>
      </p:sp>
    </p:spTree>
    <p:extLst>
      <p:ext uri="{BB962C8B-B14F-4D97-AF65-F5344CB8AC3E}">
        <p14:creationId xmlns:p14="http://schemas.microsoft.com/office/powerpoint/2010/main" val="2739589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6B5AB-602F-2E9C-74BE-E9B0805CE5B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51942B7-172A-5F8D-F9AE-5B6A346C3F5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19DFF20D-4DAB-98DB-CD15-832EDEBAD0E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Increasing Concurrency with Pools</a:t>
            </a:r>
          </a:p>
          <a:p>
            <a:pPr algn="l"/>
            <a:r>
              <a:rPr lang="en-US" sz="1800">
                <a:sym typeface="Wingdings" pitchFamily="2" charset="2"/>
              </a:rPr>
              <a:t>- Until now, we are just working with single .... After all, "Concurrency" is the main topic of this chapter and we can't ... if we working with single ...</a:t>
            </a:r>
          </a:p>
          <a:p>
            <a:pPr algn="l"/>
            <a:r>
              <a:rPr lang="en-US" sz="1800">
                <a:sym typeface="Wingdings" pitchFamily="2" charset="2"/>
              </a:rPr>
              <a:t>– Now we will introduce you with 3 new methods in ... class that works with ... pool ....</a:t>
            </a:r>
          </a:p>
          <a:p>
            <a:pPr algn="l"/>
            <a:r>
              <a:rPr lang="en-US" sz="1800">
                <a:sym typeface="Wingdings" pitchFamily="2" charset="2"/>
              </a:rPr>
              <a:t>- Thread pool is a set of ..., and ... threads, ready to execute ... (check question 8 note on next slide)</a:t>
            </a:r>
          </a:p>
          <a:p>
            <a:pPr algn="l"/>
            <a:endParaRPr lang="en-US" sz="1800">
              <a:sym typeface="Wingdings" pitchFamily="2" charset="2"/>
            </a:endParaRPr>
          </a:p>
        </p:txBody>
      </p:sp>
    </p:spTree>
    <p:extLst>
      <p:ext uri="{BB962C8B-B14F-4D97-AF65-F5344CB8AC3E}">
        <p14:creationId xmlns:p14="http://schemas.microsoft.com/office/powerpoint/2010/main" val="1123583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49EC0-225A-7834-2778-CD39FB0A060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D01A230-5BEE-47C4-19CC-ED5AAA38454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379832D7-3388-ADE6-F3BE-7AFE344715A8}"/>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7137238F-C7D8-8322-578E-300A82D532C1}"/>
              </a:ext>
            </a:extLst>
          </p:cNvPr>
          <p:cNvPicPr>
            <a:picLocks noChangeAspect="1"/>
          </p:cNvPicPr>
          <p:nvPr/>
        </p:nvPicPr>
        <p:blipFill>
          <a:blip r:embed="rId3"/>
          <a:stretch>
            <a:fillRect/>
          </a:stretch>
        </p:blipFill>
        <p:spPr>
          <a:xfrm>
            <a:off x="1821202" y="851796"/>
            <a:ext cx="8549595" cy="5154408"/>
          </a:xfrm>
          <a:prstGeom prst="rect">
            <a:avLst/>
          </a:prstGeom>
        </p:spPr>
      </p:pic>
      <p:sp>
        <p:nvSpPr>
          <p:cNvPr id="5" name="Rectangle 4">
            <a:extLst>
              <a:ext uri="{FF2B5EF4-FFF2-40B4-BE49-F238E27FC236}">
                <a16:creationId xmlns:a16="http://schemas.microsoft.com/office/drawing/2014/main" id="{BA67E865-CF47-660A-D404-FDC4CAC6F4D1}"/>
              </a:ext>
            </a:extLst>
          </p:cNvPr>
          <p:cNvSpPr/>
          <p:nvPr/>
        </p:nvSpPr>
        <p:spPr>
          <a:xfrm>
            <a:off x="5522026" y="1531917"/>
            <a:ext cx="4500748" cy="4263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37946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23528-0D5D-19D4-AFD0-89256FB7128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4B4F5B9-ABA0-76BA-515E-89320EA6826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6FE867FE-CA51-FEBE-F191-86AA859CD23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In the table, most of the methods returns ... 2 ... which are ... and ...</a:t>
            </a:r>
          </a:p>
          <a:p>
            <a:pPr algn="l"/>
            <a:r>
              <a:rPr lang="en-US" sz="1800">
                <a:sym typeface="Wingdings" pitchFamily="2" charset="2"/>
              </a:rPr>
              <a:t>– The difference between single ... and ... is what happen when ... running ... ? </a:t>
            </a:r>
          </a:p>
          <a:p>
            <a:pPr algn="l"/>
            <a:r>
              <a:rPr lang="en-US" sz="1800">
                <a:sym typeface="Wingdings" pitchFamily="2" charset="2"/>
              </a:rPr>
              <a:t>- While single ... will wait ..., ... pool will deploy ... concurrently. If the pool runs out of ..., ... tasks will be ... and wait ...</a:t>
            </a:r>
          </a:p>
          <a:p>
            <a:pPr algn="l"/>
            <a:r>
              <a:rPr lang="en-US" sz="1800" b="1">
                <a:sym typeface="Wingdings" pitchFamily="2" charset="2"/>
              </a:rPr>
              <a:t>Writing Thread-Safe code</a:t>
            </a:r>
          </a:p>
          <a:p>
            <a:pPr algn="l"/>
            <a:r>
              <a:rPr lang="en-US" sz="1800">
                <a:sym typeface="Wingdings" pitchFamily="2" charset="2"/>
              </a:rPr>
              <a:t>- Thread-safety is a property of ... that gurantee to ... safely with multi ... at the same time</a:t>
            </a:r>
          </a:p>
          <a:p>
            <a:pPr algn="l"/>
            <a:r>
              <a:rPr lang="en-US" sz="1800">
                <a:sym typeface="Wingdings" pitchFamily="2" charset="2"/>
              </a:rPr>
              <a:t>- Because threads run in the same shared ... and shared ..., how can we prevent ... conflict ... We must organize the data to prevent .../... value. In this part, we will study about techniques to ... such as ...,...,..., and cylic ...</a:t>
            </a:r>
          </a:p>
          <a:p>
            <a:pPr algn="l"/>
            <a:r>
              <a:rPr lang="en-US" sz="1800" b="1">
                <a:sym typeface="Wingdings" pitchFamily="2" charset="2"/>
              </a:rPr>
              <a:t>Understanding Thread Safety</a:t>
            </a:r>
          </a:p>
          <a:p>
            <a:pPr algn="l"/>
            <a:r>
              <a:rPr lang="en-US" sz="1800">
                <a:sym typeface="Wingdings" pitchFamily="2" charset="2"/>
              </a:rPr>
              <a:t>(code illustration snippet 15)</a:t>
            </a:r>
          </a:p>
          <a:p>
            <a:pPr algn="l"/>
            <a:r>
              <a:rPr lang="en-US" sz="1800">
                <a:sym typeface="Wingdings" pitchFamily="2" charset="2"/>
              </a:rPr>
              <a:t>- Usually, people think that the output is ..., however, ... </a:t>
            </a:r>
          </a:p>
          <a:p>
            <a:pPr algn="l"/>
            <a:r>
              <a:rPr lang="en-US" sz="1800">
                <a:sym typeface="Wingdings" pitchFamily="2" charset="2"/>
              </a:rPr>
              <a:t>- Why does this happen ? In this example, we use pre... operator to ... the instance field, but there is a problem when both threads try to ... (both ... and ... at the same time) =&gt; This is redundant because the thread got ... by other ...</a:t>
            </a:r>
          </a:p>
          <a:p>
            <a:pPr algn="l"/>
            <a:endParaRPr lang="en-US" sz="1800">
              <a:sym typeface="Wingdings" pitchFamily="2" charset="2"/>
            </a:endParaRPr>
          </a:p>
        </p:txBody>
      </p:sp>
    </p:spTree>
    <p:extLst>
      <p:ext uri="{BB962C8B-B14F-4D97-AF65-F5344CB8AC3E}">
        <p14:creationId xmlns:p14="http://schemas.microsoft.com/office/powerpoint/2010/main" val="148093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DEF03-1EF4-9BE5-EA0E-B9E884412D1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EF78546-5151-6096-9B30-B373E1BF4FC2}"/>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05C95C82-933F-ED30-941C-B3E2B822F5F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1F1B10B1-0BC1-2196-310F-41F66BF9862F}"/>
              </a:ext>
            </a:extLst>
          </p:cNvPr>
          <p:cNvPicPr>
            <a:picLocks noChangeAspect="1"/>
          </p:cNvPicPr>
          <p:nvPr/>
        </p:nvPicPr>
        <p:blipFill>
          <a:blip r:embed="rId3"/>
          <a:stretch>
            <a:fillRect/>
          </a:stretch>
        </p:blipFill>
        <p:spPr>
          <a:xfrm>
            <a:off x="3187700" y="1447800"/>
            <a:ext cx="5816600" cy="3962400"/>
          </a:xfrm>
          <a:prstGeom prst="rect">
            <a:avLst/>
          </a:prstGeom>
        </p:spPr>
      </p:pic>
    </p:spTree>
    <p:extLst>
      <p:ext uri="{BB962C8B-B14F-4D97-AF65-F5344CB8AC3E}">
        <p14:creationId xmlns:p14="http://schemas.microsoft.com/office/powerpoint/2010/main" val="196014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13487-A5FB-FDAA-9812-FFB3DD2D538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78BB952-FF0E-4E41-7ECE-F8D19D97860D}"/>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9FB3432E-872C-CEE0-C833-1B18DCBB901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As we can see that, both ... try to ... causing 1 operation to be ... =&gt; the ... is not thread-safe. Later on, we will understand the case where 2 ... overwrite ... are called ... condition</a:t>
            </a:r>
          </a:p>
          <a:p>
            <a:pPr algn="l"/>
            <a:r>
              <a:rPr lang="en-US" sz="1800" b="1">
                <a:sym typeface="Wingdings" pitchFamily="2" charset="2"/>
              </a:rPr>
              <a:t>Accessing Data with Volatile</a:t>
            </a:r>
          </a:p>
          <a:p>
            <a:pPr algn="l"/>
            <a:r>
              <a:rPr lang="en-US" sz="1800">
                <a:sym typeface="Wingdings" pitchFamily="2" charset="2"/>
              </a:rPr>
              <a:t>- The keyword volatile is used to ensure that the ... consistent (for example, there will be chances where the access to ... field is an invalid ... and causing .../... value while the code is on the most ... part). This is almost identical to the case where an employee tripping on the way back and another employee ... while the tripping one is trying to ...</a:t>
            </a:r>
          </a:p>
          <a:p>
            <a:pPr algn="l"/>
            <a:r>
              <a:rPr lang="en-US" sz="1800">
                <a:sym typeface="Wingdings" pitchFamily="2" charset="2"/>
              </a:rPr>
              <a:t>- The keyword volatile will be used to make sure that there will be ... at a time ... the ... and this field will be ... consistently by other ... This is equivalent to no one will disturb the employee on his way back =&gt; Is the keyword thread-safe ?</a:t>
            </a:r>
          </a:p>
          <a:p>
            <a:pPr algn="l"/>
            <a:r>
              <a:rPr lang="en-US" sz="1800">
                <a:sym typeface="Wingdings" pitchFamily="2" charset="2"/>
              </a:rPr>
              <a:t>(code illustration snippet 16)</a:t>
            </a:r>
          </a:p>
          <a:p>
            <a:pPr algn="l"/>
            <a:r>
              <a:rPr lang="en-US" sz="1800">
                <a:sym typeface="Wingdings" pitchFamily="2" charset="2"/>
              </a:rPr>
              <a:t>- The reason this code is still not ... is because of the ... operator are still 2 separate ... If we write ... and ... separated out, then it will be ... but if we try to use ... (question 9)</a:t>
            </a:r>
          </a:p>
          <a:p>
            <a:pPr algn="l"/>
            <a:r>
              <a:rPr lang="en-US" sz="1800">
                <a:sym typeface="Wingdings" pitchFamily="2" charset="2"/>
              </a:rPr>
              <a:t>- In real life, the volatile keyword is not ..., we just ... because it is on the ...</a:t>
            </a:r>
          </a:p>
          <a:p>
            <a:pPr algn="l"/>
            <a:r>
              <a:rPr lang="en-US" sz="1800" b="1">
                <a:sym typeface="Wingdings" pitchFamily="2" charset="2"/>
              </a:rPr>
              <a:t>Protecting Data with Atomic Classes</a:t>
            </a:r>
          </a:p>
          <a:p>
            <a:pPr algn="l"/>
            <a:r>
              <a:rPr lang="en-US" sz="1800">
                <a:sym typeface="Wingdings" pitchFamily="2" charset="2"/>
              </a:rPr>
              <a:t>- In the SheepManager example, we can see that the field ... 2 times with the highest (could be ... and could be ...) As we can see that the operator isn't ... and even if we use ... it is still ... It is ... because it has to do ... jobs at once (... and ...) and could easily be ... by other ... </a:t>
            </a:r>
          </a:p>
        </p:txBody>
      </p:sp>
    </p:spTree>
    <p:extLst>
      <p:ext uri="{BB962C8B-B14F-4D97-AF65-F5344CB8AC3E}">
        <p14:creationId xmlns:p14="http://schemas.microsoft.com/office/powerpoint/2010/main" val="2625968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A6489-5E82-9E93-4AB5-C775F1636A9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7F542C2-5AA0-1F18-903E-CD0AA25CA7E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CB727693-5C72-49BC-3D3A-2458D868C52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Atomic is a word used to ... of the operation that can be ... normally without other ... </a:t>
            </a:r>
          </a:p>
          <a:p>
            <a:pPr algn="l"/>
            <a:r>
              <a:rPr lang="en-US" sz="1800">
                <a:sym typeface="Wingdings" pitchFamily="2" charset="2"/>
              </a:rPr>
              <a:t>- A ... and ... version of SheepManager must do ... and ... at once and blocks ... </a:t>
            </a:r>
          </a:p>
          <a:p>
            <a:pPr algn="l"/>
            <a:r>
              <a:rPr lang="en-US" sz="1800">
                <a:sym typeface="Wingdings" pitchFamily="2" charset="2"/>
              </a:rPr>
              <a:t>- In this case, any ... tries to .. must wait until that ...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CE326B5E-1CCA-9E08-E433-7C8463A1363F}"/>
              </a:ext>
            </a:extLst>
          </p:cNvPr>
          <p:cNvPicPr>
            <a:picLocks noChangeAspect="1"/>
          </p:cNvPicPr>
          <p:nvPr/>
        </p:nvPicPr>
        <p:blipFill>
          <a:blip r:embed="rId3"/>
          <a:stretch>
            <a:fillRect/>
          </a:stretch>
        </p:blipFill>
        <p:spPr>
          <a:xfrm>
            <a:off x="2553194" y="1956906"/>
            <a:ext cx="6420015" cy="4367034"/>
          </a:xfrm>
          <a:prstGeom prst="rect">
            <a:avLst/>
          </a:prstGeom>
        </p:spPr>
      </p:pic>
    </p:spTree>
    <p:extLst>
      <p:ext uri="{BB962C8B-B14F-4D97-AF65-F5344CB8AC3E}">
        <p14:creationId xmlns:p14="http://schemas.microsoft.com/office/powerpoint/2010/main" val="1441215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8A39C-C9E7-2948-EB71-02CE6FF47BB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A55061E-FCB4-02B2-B187-6262C6B6778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ADF946C4-2CFC-B529-6AC7-AEBF5BCCE638}"/>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Because accessing .../... field in Java is pretty ... =&gt; Java included some ... classes in ... package</a:t>
            </a:r>
          </a:p>
          <a:p>
            <a:pPr algn="l"/>
            <a:endParaRPr lang="en-US" sz="1800">
              <a:sym typeface="Wingdings" pitchFamily="2" charset="2"/>
            </a:endParaRPr>
          </a:p>
        </p:txBody>
      </p:sp>
      <p:pic>
        <p:nvPicPr>
          <p:cNvPr id="5" name="Picture 4">
            <a:extLst>
              <a:ext uri="{FF2B5EF4-FFF2-40B4-BE49-F238E27FC236}">
                <a16:creationId xmlns:a16="http://schemas.microsoft.com/office/drawing/2014/main" id="{F8851BA9-94FE-E1C6-E0B5-4FBA1DAF4482}"/>
              </a:ext>
            </a:extLst>
          </p:cNvPr>
          <p:cNvPicPr>
            <a:picLocks noChangeAspect="1"/>
          </p:cNvPicPr>
          <p:nvPr/>
        </p:nvPicPr>
        <p:blipFill>
          <a:blip r:embed="rId3"/>
          <a:stretch>
            <a:fillRect/>
          </a:stretch>
        </p:blipFill>
        <p:spPr>
          <a:xfrm>
            <a:off x="2209800" y="2336494"/>
            <a:ext cx="7772400" cy="2185012"/>
          </a:xfrm>
          <a:prstGeom prst="rect">
            <a:avLst/>
          </a:prstGeom>
        </p:spPr>
      </p:pic>
      <p:sp>
        <p:nvSpPr>
          <p:cNvPr id="6" name="Rectangle 5">
            <a:extLst>
              <a:ext uri="{FF2B5EF4-FFF2-40B4-BE49-F238E27FC236}">
                <a16:creationId xmlns:a16="http://schemas.microsoft.com/office/drawing/2014/main" id="{1F368F72-AFE9-243D-103D-78BD07183C3B}"/>
              </a:ext>
            </a:extLst>
          </p:cNvPr>
          <p:cNvSpPr/>
          <p:nvPr/>
        </p:nvSpPr>
        <p:spPr>
          <a:xfrm>
            <a:off x="4524499" y="2921330"/>
            <a:ext cx="4346369" cy="13300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50493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DA84E-F3E2-46A8-FAAE-E31EC520CD4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DB2284B-4275-EE17-AA40-8C51092DB4F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CD8D034C-1879-2561-120C-DE6673529BE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How can we use ... ? Each of the class comprises of ... that equivalents to primitive ...</a:t>
            </a:r>
          </a:p>
          <a:p>
            <a:pPr algn="l"/>
            <a:r>
              <a:rPr lang="en-US" sz="1800">
                <a:sym typeface="Wingdings" pitchFamily="2" charset="2"/>
              </a:rPr>
              <a:t>(the tables contains "type" which means")</a:t>
            </a:r>
          </a:p>
        </p:txBody>
      </p:sp>
      <p:pic>
        <p:nvPicPr>
          <p:cNvPr id="2" name="Picture 1">
            <a:extLst>
              <a:ext uri="{FF2B5EF4-FFF2-40B4-BE49-F238E27FC236}">
                <a16:creationId xmlns:a16="http://schemas.microsoft.com/office/drawing/2014/main" id="{E8DCE11D-700E-821C-2173-54B42F154E70}"/>
              </a:ext>
            </a:extLst>
          </p:cNvPr>
          <p:cNvPicPr>
            <a:picLocks noChangeAspect="1"/>
          </p:cNvPicPr>
          <p:nvPr/>
        </p:nvPicPr>
        <p:blipFill>
          <a:blip r:embed="rId3"/>
          <a:stretch>
            <a:fillRect/>
          </a:stretch>
        </p:blipFill>
        <p:spPr>
          <a:xfrm>
            <a:off x="1877784" y="1655238"/>
            <a:ext cx="7772400" cy="4985274"/>
          </a:xfrm>
          <a:prstGeom prst="rect">
            <a:avLst/>
          </a:prstGeom>
        </p:spPr>
      </p:pic>
      <p:sp>
        <p:nvSpPr>
          <p:cNvPr id="7" name="Rectangle 6">
            <a:extLst>
              <a:ext uri="{FF2B5EF4-FFF2-40B4-BE49-F238E27FC236}">
                <a16:creationId xmlns:a16="http://schemas.microsoft.com/office/drawing/2014/main" id="{4569582E-7D98-AA33-AB9F-ABA9981FBE76}"/>
              </a:ext>
            </a:extLst>
          </p:cNvPr>
          <p:cNvSpPr/>
          <p:nvPr/>
        </p:nvSpPr>
        <p:spPr>
          <a:xfrm>
            <a:off x="3978234" y="2315688"/>
            <a:ext cx="5533901" cy="41682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709307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9443E-36F5-F448-4490-3CD8266B25C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F230AA5-C3E3-F7DD-BAA2-A2A6F350953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D8A67BF4-41B0-2076-51E1-3484602C310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17)</a:t>
            </a:r>
          </a:p>
          <a:p>
            <a:pPr algn="l"/>
            <a:r>
              <a:rPr lang="en-US" sz="1800">
                <a:sym typeface="Wingdings" pitchFamily="2" charset="2"/>
              </a:rPr>
              <a:t>- Although the input ..., the order is still ... this will be solved in ...), but for now, the ... problem have been solved</a:t>
            </a:r>
          </a:p>
          <a:p>
            <a:pPr algn="l"/>
            <a:r>
              <a:rPr lang="en-US" sz="1800" b="1">
                <a:sym typeface="Wingdings" pitchFamily="2" charset="2"/>
              </a:rPr>
              <a:t>Improving Access with synchronized Block</a:t>
            </a:r>
          </a:p>
          <a:p>
            <a:pPr algn="l"/>
            <a:r>
              <a:rPr lang="en-US" sz="1800">
                <a:sym typeface="Wingdings" pitchFamily="2" charset="2"/>
              </a:rPr>
              <a:t>- While Atomic class works very well in ... it doesnt useful when we ... a series of ... (for example, we can't use Atomic to ... Atomic ... at once)</a:t>
            </a:r>
          </a:p>
          <a:p>
            <a:pPr algn="l"/>
            <a:r>
              <a:rPr lang="en-US" sz="1800">
                <a:sym typeface="Wingdings" pitchFamily="2" charset="2"/>
              </a:rPr>
              <a:t>- How can we force the workers to ... order ?</a:t>
            </a:r>
          </a:p>
          <a:p>
            <a:pPr algn="l"/>
            <a:r>
              <a:rPr lang="en-US" sz="1800">
                <a:sym typeface="Wingdings" pitchFamily="2" charset="2"/>
              </a:rPr>
              <a:t>– The most common ... is to use monitor to ... the access</a:t>
            </a:r>
          </a:p>
          <a:p>
            <a:pPr algn="l"/>
            <a:r>
              <a:rPr lang="en-US" sz="1800">
                <a:sym typeface="Wingdings" pitchFamily="2" charset="2"/>
              </a:rPr>
              <a:t>– The monitor (or ...), is a structure to support .... (a ... in Concurrency that ensure a single .... with ... at the ...)</a:t>
            </a:r>
          </a:p>
          <a:p>
            <a:pPr algn="l"/>
            <a:r>
              <a:rPr lang="en-US" sz="1800">
                <a:sym typeface="Wingdings" pitchFamily="2" charset="2"/>
              </a:rPr>
              <a:t>- In Java, any ... could be used as ... with ... keyword ...</a:t>
            </a:r>
          </a:p>
          <a:p>
            <a:pPr algn="l"/>
            <a:r>
              <a:rPr lang="en-US" sz="1800">
                <a:sym typeface="Wingdings" pitchFamily="2" charset="2"/>
              </a:rPr>
              <a:t>(code illustration snippet 18)</a:t>
            </a:r>
          </a:p>
          <a:p>
            <a:pPr algn="l"/>
            <a:r>
              <a:rPr lang="en-US" sz="1800">
                <a:sym typeface="Wingdings" pitchFamily="2" charset="2"/>
              </a:rPr>
              <a:t>- This is an example for something called ... Each thread must first .... if any ... is using .... If there are no ... available ..., then that ... changes from ... to ... state until it gets the ... If there are ... available (or that thread has the ...), then that ... will enter the block and blocks all .... </a:t>
            </a:r>
          </a:p>
          <a:p>
            <a:pPr algn="l"/>
            <a:r>
              <a:rPr lang="en-US" sz="1800">
                <a:sym typeface="Wingdings" pitchFamily="2" charset="2"/>
              </a:rPr>
              <a:t>- Once the ... completed, it will release ...</a:t>
            </a:r>
          </a:p>
          <a:p>
            <a:pPr algn="l"/>
            <a:r>
              <a:rPr lang="en-US" sz="1800">
                <a:sym typeface="Wingdings" pitchFamily="2" charset="2"/>
              </a:rPr>
              <a:t>– To ... access for multi ..., each thread must have the same ... or else if each thread has ... =&gt; that code is not ...</a:t>
            </a:r>
          </a:p>
        </p:txBody>
      </p:sp>
    </p:spTree>
    <p:extLst>
      <p:ext uri="{BB962C8B-B14F-4D97-AF65-F5344CB8AC3E}">
        <p14:creationId xmlns:p14="http://schemas.microsoft.com/office/powerpoint/2010/main" val="167878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C7E0F-7CFF-D644-36B7-B4A1E7F3562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C5B0A98-8748-2520-E3B0-52BD34A43A67}"/>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4FD85149-C477-AF99-CA48-3B743775139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Is this code thread safe ?</a:t>
            </a:r>
          </a:p>
          <a:p>
            <a:pPr algn="l"/>
            <a:endParaRPr lang="en-US" sz="1800">
              <a:sym typeface="Wingdings" pitchFamily="2" charset="2"/>
            </a:endParaRPr>
          </a:p>
        </p:txBody>
      </p:sp>
      <p:pic>
        <p:nvPicPr>
          <p:cNvPr id="5" name="Picture 4">
            <a:extLst>
              <a:ext uri="{FF2B5EF4-FFF2-40B4-BE49-F238E27FC236}">
                <a16:creationId xmlns:a16="http://schemas.microsoft.com/office/drawing/2014/main" id="{BB4A6B38-4D26-D487-BF0A-B6C10D5AACE7}"/>
              </a:ext>
            </a:extLst>
          </p:cNvPr>
          <p:cNvPicPr>
            <a:picLocks noChangeAspect="1"/>
          </p:cNvPicPr>
          <p:nvPr/>
        </p:nvPicPr>
        <p:blipFill>
          <a:blip r:embed="rId3"/>
          <a:stretch>
            <a:fillRect/>
          </a:stretch>
        </p:blipFill>
        <p:spPr>
          <a:xfrm>
            <a:off x="2362200" y="2495550"/>
            <a:ext cx="7467600" cy="1866900"/>
          </a:xfrm>
          <a:prstGeom prst="rect">
            <a:avLst/>
          </a:prstGeom>
        </p:spPr>
      </p:pic>
    </p:spTree>
    <p:extLst>
      <p:ext uri="{BB962C8B-B14F-4D97-AF65-F5344CB8AC3E}">
        <p14:creationId xmlns:p14="http://schemas.microsoft.com/office/powerpoint/2010/main" val="120573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2174A-E045-888C-E308-B3B9F245B22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FAD4954-7E10-8B1A-2E1B-664CD1DFAC21}"/>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DA010945-D26A-29A5-A948-10DD1DE3B56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This solution is not ... because it ... the process of creating .... not the ... </a:t>
            </a:r>
          </a:p>
          <a:p>
            <a:pPr algn="l"/>
            <a:r>
              <a:rPr lang="en-US" sz="1800">
                <a:sym typeface="Wingdings" pitchFamily="2" charset="2"/>
              </a:rPr>
              <a:t>- If we write like this, we let the creation ..., but the tasks will still ... (question 10)</a:t>
            </a:r>
          </a:p>
          <a:p>
            <a:pPr algn="l"/>
            <a:r>
              <a:rPr lang="en-US" sz="1800">
                <a:sym typeface="Wingdings" pitchFamily="2" charset="2"/>
              </a:rPr>
              <a:t>(code illustration snippet 19)</a:t>
            </a:r>
          </a:p>
          <a:p>
            <a:pPr algn="l"/>
            <a:r>
              <a:rPr lang="en-US" sz="1800">
                <a:sym typeface="Wingdings" pitchFamily="2" charset="2"/>
              </a:rPr>
              <a:t>- Although the threads are .., but they all have to ... tasks</a:t>
            </a:r>
          </a:p>
          <a:p>
            <a:pPr algn="l"/>
            <a:r>
              <a:rPr lang="en-US" sz="1800">
                <a:sym typeface="Wingdings" pitchFamily="2" charset="2"/>
              </a:rPr>
              <a:t>– We can synchronize on any ..., as long as ... has access to ... (question 11)</a:t>
            </a:r>
          </a:p>
          <a:p>
            <a:pPr algn="l"/>
            <a:r>
              <a:rPr lang="en-US" sz="1800">
                <a:sym typeface="Wingdings" pitchFamily="2" charset="2"/>
              </a:rPr>
              <a:t>(code illustration snippet 20) </a:t>
            </a:r>
          </a:p>
          <a:p>
            <a:pPr algn="l"/>
            <a:r>
              <a:rPr lang="en-US" sz="1800" b="1">
                <a:sym typeface="Wingdings" pitchFamily="2" charset="2"/>
              </a:rPr>
              <a:t>Synchronizing on Methods</a:t>
            </a:r>
          </a:p>
          <a:p>
            <a:pPr algn="l"/>
            <a:r>
              <a:rPr lang="en-US" sz="1800">
                <a:sym typeface="Wingdings" pitchFamily="2" charset="2"/>
              </a:rPr>
              <a:t>- In the last example, we set a ... around the method by using ,... However, there is a shorter ... (which is compiler ...) which is adding a ... to the method so that it automatically ... with the object</a:t>
            </a:r>
          </a:p>
          <a:p>
            <a:pPr algn="l"/>
            <a:r>
              <a:rPr lang="en-US" sz="1800">
                <a:sym typeface="Wingdings" pitchFamily="2" charset="2"/>
              </a:rPr>
              <a:t>(code illustration snippet 21)</a:t>
            </a:r>
          </a:p>
          <a:p>
            <a:pPr algn="l"/>
            <a:r>
              <a:rPr lang="en-US" sz="1800">
                <a:sym typeface="Wingdings" pitchFamily="2" charset="2"/>
              </a:rPr>
              <a:t>- Moreover, we can use the ... for ... method, but the question is, we synchronize on which ... ? =&gt; We will use the ....</a:t>
            </a:r>
          </a:p>
          <a:p>
            <a:pPr algn="l"/>
            <a:r>
              <a:rPr lang="en-US" sz="1800">
                <a:sym typeface="Wingdings" pitchFamily="2" charset="2"/>
              </a:rPr>
              <a:t>(code illustration snippet 22)</a:t>
            </a:r>
          </a:p>
          <a:p>
            <a:pPr algn="l"/>
            <a:r>
              <a:rPr lang="en-US" sz="1800">
                <a:sym typeface="Wingdings" pitchFamily="2" charset="2"/>
              </a:rPr>
              <a:t>- We use ... synchronization when we want order ... on all .. rather than ...</a:t>
            </a:r>
          </a:p>
          <a:p>
            <a:pPr algn="l"/>
            <a:endParaRPr lang="en-US" sz="1800">
              <a:sym typeface="Wingdings" pitchFamily="2" charset="2"/>
            </a:endParaRPr>
          </a:p>
        </p:txBody>
      </p:sp>
    </p:spTree>
    <p:extLst>
      <p:ext uri="{BB962C8B-B14F-4D97-AF65-F5344CB8AC3E}">
        <p14:creationId xmlns:p14="http://schemas.microsoft.com/office/powerpoint/2010/main" val="2913471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1B3E7-8787-1D51-89CD-CA59F2F15EE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FB3C8E9-E217-4303-D218-8C7F4094ED4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80A3E578-1970-F342-1171-FBFE1F8181B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Understanding the Lock Framework</a:t>
            </a:r>
          </a:p>
          <a:p>
            <a:pPr algn="l"/>
            <a:r>
              <a:rPr lang="en-US" sz="1800">
                <a:sym typeface="Wingdings" pitchFamily="2" charset="2"/>
              </a:rPr>
              <a:t>- Synchronize block only ... a small ... of .... (for example, if we want to check ... is available or not ... if it is not ... then ...).  Moreover, if ... never .... and we ... on it =&gt; We might wait ...  Concurrency API includes something called ....</a:t>
            </a:r>
          </a:p>
          <a:p>
            <a:pPr algn="l"/>
            <a:r>
              <a:rPr lang="en-US" sz="1800">
                <a:sym typeface="Wingdings" pitchFamily="2" charset="2"/>
              </a:rPr>
              <a:t>- The Lock interface is basically a ... but with ... more .... Instead of synchronizing on some ..., we can lock on ... that implement ...</a:t>
            </a:r>
          </a:p>
          <a:p>
            <a:pPr algn="l"/>
            <a:r>
              <a:rPr lang="en-US" sz="1800" b="1">
                <a:sym typeface="Wingdings" pitchFamily="2" charset="2"/>
              </a:rPr>
              <a:t>Applying A ReentrantLock</a:t>
            </a:r>
          </a:p>
          <a:p>
            <a:pPr algn="l"/>
            <a:r>
              <a:rPr lang="en-US" sz="1800">
                <a:sym typeface="Wingdings" pitchFamily="2" charset="2"/>
              </a:rPr>
              <a:t>- The ... interface is pretty easy to ... When we need to protect ... from ... processing, we create a ... that all ... can ... to ... Each Thread when ... will call ... before ... and call ... before ... Some of the examples here use ... keyword and .... While the code for .... longer, it has more ...</a:t>
            </a:r>
          </a:p>
          <a:p>
            <a:pPr algn="l"/>
            <a:r>
              <a:rPr lang="en-US" sz="1800">
                <a:sym typeface="Wingdings" pitchFamily="2" charset="2"/>
              </a:rPr>
              <a:t>(code illustration snippet 23, 24)</a:t>
            </a:r>
          </a:p>
          <a:p>
            <a:pPr algn="l"/>
            <a:r>
              <a:rPr lang="en-US" sz="1800">
                <a:sym typeface="Wingdings" pitchFamily="2" charset="2"/>
              </a:rPr>
              <a:t>- The ... class is a simple ... that implement ... and support ... feature so that only 1 Thread is ... at the same time ...</a:t>
            </a:r>
          </a:p>
          <a:p>
            <a:pPr algn="l"/>
            <a:r>
              <a:rPr lang="en-US" sz="1800">
                <a:sym typeface="Wingdings" pitchFamily="2" charset="2"/>
              </a:rPr>
              <a:t>– Although it is not required, we are recommended to use ... clauses with ... instance. We do this to make sure that all ... is properly ...</a:t>
            </a:r>
          </a:p>
          <a:p>
            <a:pPr algn="l"/>
            <a:r>
              <a:rPr lang="en-US" sz="1800">
                <a:sym typeface="Wingdings" pitchFamily="2" charset="2"/>
              </a:rPr>
              <a:t>- The ... class ensures that there is only 1 ... call ... method and acquire the .... Any thread that tries to call ... will need to ... Which Thread is ... depends on a single ... that is used to ... the Lock instance</a:t>
            </a:r>
          </a:p>
          <a:p>
            <a:pPr algn="l"/>
            <a:r>
              <a:rPr lang="en-US" sz="1800">
                <a:sym typeface="Wingdings" pitchFamily="2" charset="2"/>
              </a:rPr>
              <a:t>– The ... class has a constructor that ... a single ... callled "..." parameter. If this parameter is set to ... then the order of the Threads acquiring the ... will be the same ... </a:t>
            </a:r>
          </a:p>
          <a:p>
            <a:pPr algn="l"/>
            <a:r>
              <a:rPr lang="en-US" sz="1800">
                <a:sym typeface="Wingdings" pitchFamily="2" charset="2"/>
              </a:rPr>
              <a:t>- By default, this ... However, we should need to use this ... when we really ... as this will slow ... </a:t>
            </a:r>
          </a:p>
          <a:p>
            <a:pPr algn="l"/>
            <a:endParaRPr lang="en-US" sz="1800">
              <a:sym typeface="Wingdings" pitchFamily="2" charset="2"/>
            </a:endParaRPr>
          </a:p>
        </p:txBody>
      </p:sp>
    </p:spTree>
    <p:extLst>
      <p:ext uri="{BB962C8B-B14F-4D97-AF65-F5344CB8AC3E}">
        <p14:creationId xmlns:p14="http://schemas.microsoft.com/office/powerpoint/2010/main" val="2233446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068A0-A2F7-FA12-B196-24122079D8C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05300CB-7C7B-E4E2-C62D-C83AA86E2BFF}"/>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75BF3276-15C5-E36D-BCFD-DF9EE5A12E1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Other than always make sure to ... the lock, we must understand that we only can relase the ... that we have</a:t>
            </a:r>
          </a:p>
          <a:p>
            <a:pPr algn="l"/>
            <a:r>
              <a:rPr lang="en-US" sz="1800">
                <a:sym typeface="Wingdings" pitchFamily="2" charset="2"/>
              </a:rPr>
              <a:t>(code illustration snipppet 25)</a:t>
            </a:r>
          </a:p>
          <a:p>
            <a:pPr algn="l"/>
            <a:r>
              <a:rPr lang="en-US" sz="1800" b="1">
                <a:sym typeface="Wingdings" pitchFamily="2" charset="2"/>
              </a:rPr>
              <a:t>Attempting to Acquire a Lock</a:t>
            </a:r>
          </a:p>
          <a:p>
            <a:pPr algn="l"/>
            <a:r>
              <a:rPr lang="en-US" sz="1800">
                <a:sym typeface="Wingdings" pitchFamily="2" charset="2"/>
              </a:rPr>
              <a:t>- While ... class allows us to ... when acquiring ...., it will make the same ... as ... block. However, ... has 2 methods ... that makes ... safer to use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1589B2CF-71B6-242E-B3B7-8993A47AE172}"/>
              </a:ext>
            </a:extLst>
          </p:cNvPr>
          <p:cNvPicPr>
            <a:picLocks noChangeAspect="1"/>
          </p:cNvPicPr>
          <p:nvPr/>
        </p:nvPicPr>
        <p:blipFill>
          <a:blip r:embed="rId3"/>
          <a:stretch>
            <a:fillRect/>
          </a:stretch>
        </p:blipFill>
        <p:spPr>
          <a:xfrm>
            <a:off x="2209800" y="2806737"/>
            <a:ext cx="7772400" cy="3156304"/>
          </a:xfrm>
          <a:prstGeom prst="rect">
            <a:avLst/>
          </a:prstGeom>
        </p:spPr>
      </p:pic>
      <p:sp>
        <p:nvSpPr>
          <p:cNvPr id="5" name="Rectangle 4">
            <a:extLst>
              <a:ext uri="{FF2B5EF4-FFF2-40B4-BE49-F238E27FC236}">
                <a16:creationId xmlns:a16="http://schemas.microsoft.com/office/drawing/2014/main" id="{0C2D5702-9F69-4D8B-3716-98C7301353B5}"/>
              </a:ext>
            </a:extLst>
          </p:cNvPr>
          <p:cNvSpPr/>
          <p:nvPr/>
        </p:nvSpPr>
        <p:spPr>
          <a:xfrm>
            <a:off x="4500748" y="3538847"/>
            <a:ext cx="5213268" cy="21850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107979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62FD2-2C4F-9F31-5B44-F5483B1008D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5AA6939-8BEA-8012-F6BB-FD23A7DD04E8}"/>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51928807-AA58-284F-9F82-C63C410D0E6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 method tryLock() will try to ... and ... immediately a ... result to indicate whether ... Differ from the lock() ... this method won't ... even if ... no matter ...</a:t>
            </a:r>
          </a:p>
          <a:p>
            <a:pPr algn="l"/>
            <a:r>
              <a:rPr lang="en-US" sz="1800">
                <a:sym typeface="Wingdings" pitchFamily="2" charset="2"/>
              </a:rPr>
              <a:t>(code illustration snippet 26)</a:t>
            </a:r>
          </a:p>
          <a:p>
            <a:pPr algn="l"/>
            <a:r>
              <a:rPr lang="en-US" sz="1800">
                <a:sym typeface="Wingdings" pitchFamily="2" charset="2"/>
              </a:rPr>
              <a:t>- In theory, if user ... run then main must ..., otherwise, main ... and user .... However, ... always run first then ... =&gt; ...</a:t>
            </a:r>
          </a:p>
          <a:p>
            <a:pPr algn="l"/>
            <a:r>
              <a:rPr lang="en-US" sz="1800">
                <a:sym typeface="Wingdings" pitchFamily="2" charset="2"/>
              </a:rPr>
              <a:t>(question 12, check Main4 class too)</a:t>
            </a:r>
          </a:p>
          <a:p>
            <a:pPr algn="l"/>
            <a:r>
              <a:rPr lang="en-US" sz="1800">
                <a:sym typeface="Wingdings" pitchFamily="2" charset="2"/>
              </a:rPr>
              <a:t>- Same as ... method, tryLock() should be used with ... clause. But we just need to ... when we have successfully acquire the ... Because of that, people always use ... method in ... statement so that they only need to ... when the ... is acquired ...</a:t>
            </a:r>
          </a:p>
          <a:p>
            <a:pPr algn="l"/>
            <a:r>
              <a:rPr lang="en-US" sz="1800">
                <a:sym typeface="Wingdings" pitchFamily="2" charset="2"/>
              </a:rPr>
              <a:t>- Our program must check the ... method. The result of ... method tells us should we continue with ... or release ... later on</a:t>
            </a:r>
          </a:p>
          <a:p>
            <a:pPr algn="l"/>
            <a:r>
              <a:rPr lang="en-US" sz="1800">
                <a:sym typeface="Wingdings" pitchFamily="2" charset="2"/>
              </a:rPr>
              <a:t>- Furthermore, tryLock() has another version that ... 2 ... This guy is no different than ... combined with ... If ... is available then it will ... but if it is available, then ... If after ... it will return ...</a:t>
            </a:r>
          </a:p>
          <a:p>
            <a:pPr algn="l"/>
            <a:r>
              <a:rPr lang="en-US" sz="1800">
                <a:sym typeface="Wingdings" pitchFamily="2" charset="2"/>
              </a:rPr>
              <a:t>(code illustration snippet 27)</a:t>
            </a:r>
          </a:p>
          <a:p>
            <a:pPr algn="l"/>
            <a:r>
              <a:rPr lang="en-US" sz="1800" b="1">
                <a:sym typeface="Wingdings" pitchFamily="2" charset="2"/>
              </a:rPr>
              <a:t>Acquiring the same Lock twice</a:t>
            </a:r>
          </a:p>
          <a:p>
            <a:pPr algn="l"/>
            <a:r>
              <a:rPr lang="en-US" sz="1800">
                <a:sym typeface="Wingdings" pitchFamily="2" charset="2"/>
              </a:rPr>
              <a:t>- The ... class holds a counter ... that counts the ... time that ... release ...</a:t>
            </a:r>
          </a:p>
          <a:p>
            <a:pPr algn="l"/>
            <a:r>
              <a:rPr lang="en-US" sz="1800">
                <a:sym typeface="Wingdings" pitchFamily="2" charset="2"/>
              </a:rPr>
              <a:t>– To release ... for other ..., the number of ... must = to the number of ...</a:t>
            </a:r>
          </a:p>
          <a:p>
            <a:pPr algn="l"/>
            <a:r>
              <a:rPr lang="en-US" sz="1800">
                <a:sym typeface="Wingdings" pitchFamily="2" charset="2"/>
              </a:rPr>
              <a:t>(code illustration snippet 28)</a:t>
            </a:r>
          </a:p>
        </p:txBody>
      </p:sp>
    </p:spTree>
    <p:extLst>
      <p:ext uri="{BB962C8B-B14F-4D97-AF65-F5344CB8AC3E}">
        <p14:creationId xmlns:p14="http://schemas.microsoft.com/office/powerpoint/2010/main" val="103011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DD7A4-0D72-EAC8-FE81-56CE885285E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492493C-0B3F-4881-D9AE-39F44CD76A8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0154B140-2CAB-4532-2649-CF03CFEF895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In general, the ... class supports ... that simillar to ... class but have some more ...</a:t>
            </a:r>
          </a:p>
          <a:p>
            <a:pPr algn="l"/>
            <a:r>
              <a:rPr lang="en-US" sz="1800">
                <a:sym typeface="Wingdings" pitchFamily="2" charset="2"/>
              </a:rPr>
              <a:t>+) ... request ... without ...</a:t>
            </a:r>
          </a:p>
          <a:p>
            <a:pPr algn="l"/>
            <a:r>
              <a:rPr lang="en-US" sz="1800">
                <a:sym typeface="Wingdings" pitchFamily="2" charset="2"/>
              </a:rPr>
              <a:t>+) ...request ... without ... + .... for a time ...</a:t>
            </a:r>
          </a:p>
          <a:p>
            <a:pPr algn="l"/>
            <a:r>
              <a:rPr lang="en-US" sz="1800">
                <a:sym typeface="Wingdings" pitchFamily="2" charset="2"/>
              </a:rPr>
              <a:t>+) A Lock can be created with ... parameter, indicating ...</a:t>
            </a:r>
          </a:p>
          <a:p>
            <a:pPr algn="l"/>
            <a:r>
              <a:rPr lang="en-US" sz="1800">
                <a:sym typeface="Wingdings" pitchFamily="2" charset="2"/>
              </a:rPr>
              <a:t>- Although this is not in the exam, ... ReentrantReadWriteLock ... is a really useful .... It includes separate ... for read/write and useful for some ... struct... that has ... more than .... (for example, if you have 1000 ... but with 1 ..., then ...)</a:t>
            </a:r>
          </a:p>
          <a:p>
            <a:pPr algn="l"/>
            <a:r>
              <a:rPr lang="en-US" sz="1800" b="1">
                <a:sym typeface="Wingdings" pitchFamily="2" charset="2"/>
              </a:rPr>
              <a:t>Orchestrating tasks with a CyclicBarrier</a:t>
            </a:r>
          </a:p>
          <a:p>
            <a:pPr algn="l"/>
            <a:r>
              <a:rPr lang="en-US" sz="1800">
                <a:sym typeface="Wingdings" pitchFamily="2" charset="2"/>
              </a:rPr>
              <a:t>- We started ... thread safe ... with protecting ... to ... and to ... and even used the ... class/interface</a:t>
            </a:r>
          </a:p>
          <a:p>
            <a:pPr algn="l"/>
            <a:r>
              <a:rPr lang="en-US" sz="1800">
                <a:sym typeface="Wingdings" pitchFamily="2" charset="2"/>
              </a:rPr>
              <a:t>– Now we will end this topic by instruct you how to use ... to ... tasks with many ... </a:t>
            </a:r>
          </a:p>
          <a:p>
            <a:pPr algn="l"/>
            <a:r>
              <a:rPr lang="en-US" sz="1800">
                <a:sym typeface="Wingdings" pitchFamily="2" charset="2"/>
              </a:rPr>
              <a:t>- We have a cleaning teams, responsible for cleaning the ... Just image this job as ..., then ..., and then ... (assuming that a team has 4 ...)</a:t>
            </a:r>
          </a:p>
          <a:p>
            <a:pPr algn="l"/>
            <a:r>
              <a:rPr lang="en-US" sz="1800">
                <a:sym typeface="Wingdings" pitchFamily="2" charset="2"/>
              </a:rPr>
              <a:t>- We can obviously assign this to ... only, but if we do that, then we will be .... Do a set of ... then ... and then ... will be much ... =&gt; We can achieve that by ...</a:t>
            </a:r>
          </a:p>
          <a:p>
            <a:pPr algn="l"/>
            <a:r>
              <a:rPr lang="en-US" sz="1800">
                <a:sym typeface="Wingdings" pitchFamily="2" charset="2"/>
              </a:rPr>
              <a:t>(code illustration snippet 29)</a:t>
            </a:r>
          </a:p>
          <a:p>
            <a:pPr algn="l"/>
            <a:r>
              <a:rPr lang="en-US" sz="1800">
                <a:sym typeface="Wingdings" pitchFamily="2" charset="2"/>
              </a:rPr>
              <a:t>- As you can see, the output is ... =&gt; ...</a:t>
            </a:r>
          </a:p>
          <a:p>
            <a:pPr algn="l"/>
            <a:r>
              <a:rPr lang="en-US" sz="1800">
                <a:sym typeface="Wingdings" pitchFamily="2" charset="2"/>
              </a:rPr>
              <a:t>– We can improve this by using ... The constuctor of ... recieve ... (indicate how much ...) When each ... finish ..., it must ... in the ... class. Once the number of ... reached, ...</a:t>
            </a:r>
          </a:p>
        </p:txBody>
      </p:sp>
    </p:spTree>
    <p:extLst>
      <p:ext uri="{BB962C8B-B14F-4D97-AF65-F5344CB8AC3E}">
        <p14:creationId xmlns:p14="http://schemas.microsoft.com/office/powerpoint/2010/main" val="85857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72379-2D11-C671-700F-3640FA92754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843D1C2-DAB1-1FA0-9C5C-7BB6ECCA598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74571AF4-5C4F-55D6-1ECC-4562C7897988}"/>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30)</a:t>
            </a:r>
          </a:p>
          <a:p>
            <a:pPr algn="l"/>
            <a:r>
              <a:rPr lang="en-US" sz="1800">
                <a:sym typeface="Wingdings" pitchFamily="2" charset="2"/>
              </a:rPr>
              <a:t>- The ... class allows to ... complex, multi... while ... stop at a logical point. This solution is .... than single ...</a:t>
            </a:r>
          </a:p>
          <a:p>
            <a:pPr algn="l"/>
            <a:r>
              <a:rPr lang="en-US" sz="1800">
                <a:sym typeface="Wingdings" pitchFamily="2" charset="2"/>
              </a:rPr>
              <a:t>– After the limit of ... class reached, all thread will be ... and the counter ... and now the ... instance is ready to ... for a new ... (for example, if we have 15 ... and the ... is 5 =&gt; the ... class will run a total of ... time) (Note: the number must be ... or else ...)</a:t>
            </a:r>
          </a:p>
          <a:p>
            <a:pPr algn="l"/>
            <a:r>
              <a:rPr lang="en-US" sz="1800" b="1">
                <a:sym typeface="Wingdings" pitchFamily="2" charset="2"/>
              </a:rPr>
              <a:t>Using Concurrent Collections</a:t>
            </a:r>
          </a:p>
          <a:p>
            <a:pPr algn="l"/>
            <a:r>
              <a:rPr lang="en-US" sz="1800">
                <a:sym typeface="Wingdings" pitchFamily="2" charset="2"/>
              </a:rPr>
              <a:t>- Other than managing ... for us, Concurrency API also includes ... and ... allowing us to coordinate ... to a single ... from multiple ... In this section, we will talk about many ... classes that are available in Concurrency API</a:t>
            </a:r>
          </a:p>
          <a:p>
            <a:pPr algn="l"/>
            <a:r>
              <a:rPr lang="en-US" sz="1800" b="1">
                <a:sym typeface="Wingdings" pitchFamily="2" charset="2"/>
              </a:rPr>
              <a:t>Understanding Memory Consistency Error</a:t>
            </a:r>
          </a:p>
          <a:p>
            <a:pPr algn="l"/>
            <a:r>
              <a:rPr lang="en-US" sz="1800">
                <a:sym typeface="Wingdings" pitchFamily="2" charset="2"/>
              </a:rPr>
              <a:t>- The purpose of ... classes is to solve common ... problem.</a:t>
            </a:r>
          </a:p>
          <a:p>
            <a:pPr algn="l"/>
            <a:r>
              <a:rPr lang="en-US" sz="1800">
                <a:sym typeface="Wingdings" pitchFamily="2" charset="2"/>
              </a:rPr>
              <a:t>– Memory consistency error happens when 2 ... has 2 different ... on a single ... which in theory should be ... In concept, we are finding a way so that when a ... try to ... on a single collection must be readable by other ... </a:t>
            </a:r>
          </a:p>
          <a:p>
            <a:pPr algn="l"/>
            <a:r>
              <a:rPr lang="en-US" sz="1800">
                <a:sym typeface="Wingdings" pitchFamily="2" charset="2"/>
              </a:rPr>
              <a:t>- When 2 ... try to modify a non ..., JVM could throw a ... at runtime. This can even happen with single ... </a:t>
            </a:r>
          </a:p>
          <a:p>
            <a:pPr algn="l"/>
            <a:r>
              <a:rPr lang="en-US" sz="1800">
                <a:sym typeface="Wingdings" pitchFamily="2" charset="2"/>
              </a:rPr>
              <a:t>(code illustration snippet 31)</a:t>
            </a:r>
          </a:p>
          <a:p>
            <a:pPr algn="l"/>
            <a:r>
              <a:rPr lang="en-US" sz="1800">
                <a:sym typeface="Wingdings" pitchFamily="2" charset="2"/>
              </a:rPr>
              <a:t>- This code will throw ... because ... on keySet() ... updated with ... after ... We only need to change from ... to ... and it will be fine</a:t>
            </a:r>
          </a:p>
          <a:p>
            <a:pPr algn="l"/>
            <a:r>
              <a:rPr lang="en-US" sz="1800">
                <a:sym typeface="Wingdings" pitchFamily="2" charset="2"/>
              </a:rPr>
              <a:t>(code illustration snippet 32)</a:t>
            </a:r>
          </a:p>
        </p:txBody>
      </p:sp>
    </p:spTree>
    <p:extLst>
      <p:ext uri="{BB962C8B-B14F-4D97-AF65-F5344CB8AC3E}">
        <p14:creationId xmlns:p14="http://schemas.microsoft.com/office/powerpoint/2010/main" val="960509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18F49-8A16-AD9D-69AF-8B46C076483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DAFDDE8-56F9-4A65-89FF-982542C9D20E}"/>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27DA8BDB-A652-AFCF-49E6-00B89BF4B94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Although we don't change ... loop ..., that example still points out that the ... class has ordered the .../... so that all ... to the collection is ... In that code, the iterator created by ... ...ed immediately when it has .... </a:t>
            </a:r>
          </a:p>
          <a:p>
            <a:pPr algn="l"/>
            <a:r>
              <a:rPr lang="en-US" sz="1800">
                <a:sym typeface="Wingdings" pitchFamily="2" charset="2"/>
              </a:rPr>
              <a:t>- All ... classes are created to ... common problems about ... in .../... elements in collections at any given ... so that all ... has the same view at the single ...</a:t>
            </a:r>
          </a:p>
          <a:p>
            <a:pPr algn="l"/>
            <a:r>
              <a:rPr lang="en-US" sz="1800" b="1">
                <a:sym typeface="Wingdings" pitchFamily="2" charset="2"/>
              </a:rPr>
              <a:t>Working with Concurrent Classes</a:t>
            </a:r>
          </a:p>
          <a:p>
            <a:pPr algn="l"/>
            <a:r>
              <a:rPr lang="en-US" sz="1800">
                <a:sym typeface="Wingdings" pitchFamily="2" charset="2"/>
              </a:rPr>
              <a:t>- We should use ... classes when we have to work with ... when modifying ... outside of a ... block/method, even if we 100% sure that there won't be any .... Without ... classes, working with ... on a collection will result in ..., or even ... </a:t>
            </a:r>
          </a:p>
          <a:p>
            <a:pPr algn="l"/>
            <a:r>
              <a:rPr lang="en-US" sz="1800">
                <a:sym typeface="Wingdings" pitchFamily="2" charset="2"/>
              </a:rPr>
              <a:t>- If the collection ... and contains ... objects =&gt; ... is not necessary. ... object can be accessed by ... without the need of ... block ... From the definition, they ... change =&gt; no ... error will happen. </a:t>
            </a:r>
          </a:p>
          <a:p>
            <a:pPr algn="l"/>
            <a:r>
              <a:rPr lang="en-US" sz="1800">
                <a:sym typeface="Wingdings" pitchFamily="2" charset="2"/>
              </a:rPr>
              <a:t>- When working with ... class, calller should know about which ... implemented by ...(just like we use ... but pass to ...)</a:t>
            </a:r>
          </a:p>
          <a:p>
            <a:pPr algn="l"/>
            <a:r>
              <a:rPr lang="en-US" sz="1800">
                <a:sym typeface="Wingdings" pitchFamily="2" charset="2"/>
              </a:rPr>
              <a:t>(code illustration snippet 33)</a:t>
            </a:r>
          </a:p>
        </p:txBody>
      </p:sp>
    </p:spTree>
    <p:extLst>
      <p:ext uri="{BB962C8B-B14F-4D97-AF65-F5344CB8AC3E}">
        <p14:creationId xmlns:p14="http://schemas.microsoft.com/office/powerpoint/2010/main" val="4073934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6672C-3443-1C54-57F0-F3409EE969F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C608E67-32CF-1875-627A-991AEF185CF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69035FB5-35DE-0F8C-F61C-76A96B4463C5}"/>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F07B5858-7983-690B-AFCA-286AAD5FDC04}"/>
              </a:ext>
            </a:extLst>
          </p:cNvPr>
          <p:cNvPicPr>
            <a:picLocks noChangeAspect="1"/>
          </p:cNvPicPr>
          <p:nvPr/>
        </p:nvPicPr>
        <p:blipFill>
          <a:blip r:embed="rId3"/>
          <a:stretch>
            <a:fillRect/>
          </a:stretch>
        </p:blipFill>
        <p:spPr>
          <a:xfrm>
            <a:off x="1941284" y="571500"/>
            <a:ext cx="7645400" cy="5715000"/>
          </a:xfrm>
          <a:prstGeom prst="rect">
            <a:avLst/>
          </a:prstGeom>
        </p:spPr>
      </p:pic>
      <p:sp>
        <p:nvSpPr>
          <p:cNvPr id="5" name="Rectangle 4">
            <a:extLst>
              <a:ext uri="{FF2B5EF4-FFF2-40B4-BE49-F238E27FC236}">
                <a16:creationId xmlns:a16="http://schemas.microsoft.com/office/drawing/2014/main" id="{CEEE07C3-8E5B-D6FE-6111-0AB526E30C09}"/>
              </a:ext>
            </a:extLst>
          </p:cNvPr>
          <p:cNvSpPr/>
          <p:nvPr/>
        </p:nvSpPr>
        <p:spPr>
          <a:xfrm>
            <a:off x="7315200" y="1258784"/>
            <a:ext cx="1603169" cy="46195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815187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65206-4A00-20B7-7866-AE16656BB06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E452496-1E1E-4C0B-EAE0-3BDC5479836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F9EFCB6B-0487-E324-432A-03F22C75435A}"/>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Most of the classes in the table are all ... version of ... (for example ... map vs ... map, or ...list vs ...list)</a:t>
            </a:r>
          </a:p>
          <a:p>
            <a:pPr algn="l"/>
            <a:r>
              <a:rPr lang="en-US" sz="1800">
                <a:sym typeface="Wingdings" pitchFamily="2" charset="2"/>
              </a:rPr>
              <a:t>- In the exam, we should know ... methods ... from the super ... and no need to understand detail ... in the class</a:t>
            </a:r>
          </a:p>
          <a:p>
            <a:pPr algn="l"/>
            <a:r>
              <a:rPr lang="en-US" sz="1800">
                <a:sym typeface="Wingdings" pitchFamily="2" charset="2"/>
              </a:rPr>
              <a:t>– ..."skip" means ...</a:t>
            </a:r>
          </a:p>
          <a:p>
            <a:pPr algn="l"/>
            <a:r>
              <a:rPr lang="en-US" sz="1800">
                <a:sym typeface="Wingdings" pitchFamily="2" charset="2"/>
              </a:rPr>
              <a:t>–  ... "copyOnWrite" will behave different than the other ... These classes will ... whenever there is a new .../...ed/changed in the ... and update the ... to point from ... to ... These classes are used to ensure that the iterator doesnt ... </a:t>
            </a:r>
          </a:p>
          <a:p>
            <a:pPr algn="l"/>
            <a:r>
              <a:rPr lang="en-US" sz="1800">
                <a:sym typeface="Wingdings" pitchFamily="2" charset="2"/>
              </a:rPr>
              <a:t>(code illustration snippet 34)</a:t>
            </a:r>
          </a:p>
          <a:p>
            <a:pPr algn="l"/>
            <a:r>
              <a:rPr lang="en-US" sz="1800">
                <a:sym typeface="Wingdings" pitchFamily="2" charset="2"/>
              </a:rPr>
              <a:t>- Although we add ... but the ... didnt change, loop ran exactly ... time. If we replace ... with a ..., then we will get .... The ... class might consume a lot of ... because it ... =&gt; It is used for ... processing only when ... is much more ... </a:t>
            </a:r>
          </a:p>
          <a:p>
            <a:pPr algn="l"/>
            <a:r>
              <a:rPr lang="en-US" sz="1800">
                <a:sym typeface="Wingdings" pitchFamily="2" charset="2"/>
              </a:rPr>
              <a:t>- CopyOnWrite instance kinda the same as ... object because it always ... when ...ed. But still doesnt look like pure ... because it still has the same ... </a:t>
            </a:r>
          </a:p>
          <a:p>
            <a:pPr algn="l"/>
            <a:r>
              <a:rPr lang="en-US" sz="1800">
                <a:sym typeface="Wingdings" pitchFamily="2" charset="2"/>
              </a:rPr>
              <a:t>- In that table also have LinkedBlockingDeque which implements ... This guy is just normal ... but has some overloaded methods such as ... (), ...() that has timeout. These methods will wait ... </a:t>
            </a:r>
          </a:p>
        </p:txBody>
      </p:sp>
    </p:spTree>
    <p:extLst>
      <p:ext uri="{BB962C8B-B14F-4D97-AF65-F5344CB8AC3E}">
        <p14:creationId xmlns:p14="http://schemas.microsoft.com/office/powerpoint/2010/main" val="3347609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BFD9D-3904-3D8F-A1B5-8382FBB183E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EF09A09-7FEC-CA3E-3A5F-87EAAC6CB69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F65BEC17-C239-C52D-BAFE-42A4C9011EE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Obtaining Synchronized Collections</a:t>
            </a:r>
          </a:p>
          <a:p>
            <a:pPr algn="l"/>
            <a:r>
              <a:rPr lang="en-US" sz="1800">
                <a:sym typeface="Wingdings" pitchFamily="2" charset="2"/>
              </a:rPr>
              <a:t>- Other than ... we just learned, Concurrency API also includes methods to obtain ... version from the non ... These methods work based on the passed ... and return a ... that has the same type as ...</a:t>
            </a:r>
          </a:p>
          <a:p>
            <a:pPr algn="l"/>
            <a:r>
              <a:rPr lang="en-US" sz="1800">
                <a:sym typeface="Wingdings" pitchFamily="2" charset="2"/>
              </a:rPr>
              <a:t>(Note: The difference between synchronized ... and concurrent ... is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6B89A9AD-67CC-E2C7-8225-33791C2526AD}"/>
              </a:ext>
            </a:extLst>
          </p:cNvPr>
          <p:cNvPicPr>
            <a:picLocks noChangeAspect="1"/>
          </p:cNvPicPr>
          <p:nvPr/>
        </p:nvPicPr>
        <p:blipFill>
          <a:blip r:embed="rId3"/>
          <a:stretch>
            <a:fillRect/>
          </a:stretch>
        </p:blipFill>
        <p:spPr>
          <a:xfrm>
            <a:off x="3669970" y="2373075"/>
            <a:ext cx="4852060" cy="3872745"/>
          </a:xfrm>
          <a:prstGeom prst="rect">
            <a:avLst/>
          </a:prstGeom>
        </p:spPr>
      </p:pic>
    </p:spTree>
    <p:extLst>
      <p:ext uri="{BB962C8B-B14F-4D97-AF65-F5344CB8AC3E}">
        <p14:creationId xmlns:p14="http://schemas.microsoft.com/office/powerpoint/2010/main" val="313640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F3F30-1427-9B88-28E6-A225D180DE6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64801A4-A26F-1DE3-2E36-5D24A43C59A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3D04C67B-16A3-8F09-A92F-DB56E4551F2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Obtaining Synchronized Collections</a:t>
            </a:r>
          </a:p>
          <a:p>
            <a:pPr algn="l"/>
            <a:r>
              <a:rPr lang="en-US" sz="1800">
                <a:sym typeface="Wingdings" pitchFamily="2" charset="2"/>
              </a:rPr>
              <a:t>- Other than ... we just learned, Concurrency API also includes methods to obtain ... version from the non ... These methods work based on the passed ... and return a ... that has the same type as ...</a:t>
            </a:r>
          </a:p>
          <a:p>
            <a:pPr algn="l"/>
            <a:r>
              <a:rPr lang="en-US" sz="1800">
                <a:sym typeface="Wingdings" pitchFamily="2" charset="2"/>
              </a:rPr>
              <a:t>(Note: The difference between synchronized ... and concurrent ... is ...)</a:t>
            </a:r>
          </a:p>
          <a:p>
            <a:pPr algn="l"/>
            <a:r>
              <a:rPr lang="en-US" sz="1800">
                <a:sym typeface="Wingdings" pitchFamily="2" charset="2"/>
              </a:rPr>
              <a:t>- If we are write code to create ... and it requires .., we should use the classes in the .... If we used the ... version, then we still can use the methods </a:t>
            </a:r>
          </a:p>
          <a:p>
            <a:pPr algn="l"/>
            <a:r>
              <a:rPr lang="en-US" sz="1800" b="1">
                <a:sym typeface="Wingdings" pitchFamily="2" charset="2"/>
              </a:rPr>
              <a:t>Identifying Threading Problems</a:t>
            </a:r>
          </a:p>
          <a:p>
            <a:pPr algn="l"/>
            <a:r>
              <a:rPr lang="en-US" sz="1800">
                <a:sym typeface="Wingdings" pitchFamily="2" charset="2"/>
              </a:rPr>
              <a:t>- Now we know how to write ... code, now we will see what satisfy as ... problem.. </a:t>
            </a:r>
          </a:p>
          <a:p>
            <a:pPr algn="l"/>
            <a:r>
              <a:rPr lang="en-US" sz="1800">
                <a:sym typeface="Wingdings" pitchFamily="2" charset="2"/>
              </a:rPr>
              <a:t>- A threading problem might happen in a ... application when 2 or more ... each other and create ... result (for example, 2 threads can ... each other from a ... segment). Concurrency API is created to mitigate ... in threading that can happen. </a:t>
            </a:r>
          </a:p>
          <a:p>
            <a:pPr algn="l"/>
            <a:r>
              <a:rPr lang="en-US" sz="1800">
                <a:sym typeface="Wingdings" pitchFamily="2" charset="2"/>
              </a:rPr>
              <a:t>- As we can see Concurrency API creates ... for us and manages ... complex .... simple ... </a:t>
            </a:r>
          </a:p>
          <a:p>
            <a:pPr algn="l"/>
            <a:r>
              <a:rPr lang="en-US" sz="1800">
                <a:sym typeface="Wingdings" pitchFamily="2" charset="2"/>
              </a:rPr>
              <a:t>- Although they are created to ..., it really doesnt ... it. The task of finding and ... is one of the most ...</a:t>
            </a:r>
          </a:p>
          <a:p>
            <a:pPr algn="l"/>
            <a:r>
              <a:rPr lang="en-US" sz="1800" b="1">
                <a:sym typeface="Wingdings" pitchFamily="2" charset="2"/>
              </a:rPr>
              <a:t>Understading Liveness</a:t>
            </a:r>
          </a:p>
          <a:p>
            <a:pPr algn="l"/>
            <a:r>
              <a:rPr lang="en-US" sz="1800">
                <a:sym typeface="Wingdings" pitchFamily="2" charset="2"/>
              </a:rPr>
              <a:t>- As we can see in this chapter, there are many independent ... that can be executed ... but they must still be ... each other</a:t>
            </a:r>
          </a:p>
          <a:p>
            <a:pPr algn="l"/>
            <a:r>
              <a:rPr lang="en-US" sz="1800">
                <a:sym typeface="Wingdings" pitchFamily="2" charset="2"/>
              </a:rPr>
              <a:t>(for example, synchronization on a method will ... and force other .... We can also see the same thing with CyclicBarrier, where ...)</a:t>
            </a:r>
          </a:p>
          <a:p>
            <a:pPr algn="l"/>
            <a:endParaRPr lang="en-US" sz="1800">
              <a:sym typeface="Wingdings" pitchFamily="2" charset="2"/>
            </a:endParaRPr>
          </a:p>
          <a:p>
            <a:pPr algn="l"/>
            <a:endParaRPr lang="en-US" sz="1800">
              <a:sym typeface="Wingdings" pitchFamily="2" charset="2"/>
            </a:endParaRPr>
          </a:p>
        </p:txBody>
      </p:sp>
    </p:spTree>
    <p:extLst>
      <p:ext uri="{BB962C8B-B14F-4D97-AF65-F5344CB8AC3E}">
        <p14:creationId xmlns:p14="http://schemas.microsoft.com/office/powerpoint/2010/main" val="38410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B5304-41FB-2425-3B18-D58AAEC24AD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163E14C-A133-B6FA-5077-270028F1CC9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676A4B35-E3CC-9A0D-FBC4-C4090AC4EE6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 question is, what happens with the application when ... waiting...) In most cases, this ... is not long and user won't .... In some other cases, some of the wait is ... even ...</a:t>
            </a:r>
          </a:p>
          <a:p>
            <a:pPr algn="l"/>
            <a:r>
              <a:rPr lang="en-US" sz="1800">
                <a:sym typeface="Wingdings" pitchFamily="2" charset="2"/>
              </a:rPr>
              <a:t>– Liveness is the ability of an ... with ... time ... optimized ... </a:t>
            </a:r>
          </a:p>
          <a:p>
            <a:pPr algn="l"/>
            <a:r>
              <a:rPr lang="en-US" sz="1800">
                <a:sym typeface="Wingdings" pitchFamily="2" charset="2"/>
              </a:rPr>
              <a:t>- Liveness problem is when the app .../... at some state. More precisely, Liveness problem is a result of a thread ... forever or continuously... between ...</a:t>
            </a:r>
          </a:p>
          <a:p>
            <a:pPr algn="l"/>
            <a:r>
              <a:rPr lang="en-US" sz="1800">
                <a:sym typeface="Wingdings" pitchFamily="2" charset="2"/>
              </a:rPr>
              <a:t>- In the exam, there are 3 liveness problem we should know ...,..., and ....</a:t>
            </a:r>
          </a:p>
          <a:p>
            <a:pPr algn="l"/>
            <a:r>
              <a:rPr lang="en-US" sz="1800" b="1">
                <a:sym typeface="Wingdings" pitchFamily="2" charset="2"/>
              </a:rPr>
              <a:t>Deadlock</a:t>
            </a:r>
          </a:p>
          <a:p>
            <a:pPr algn="l"/>
            <a:r>
              <a:rPr lang="en-US" sz="1800">
                <a:sym typeface="Wingdings" pitchFamily="2" charset="2"/>
              </a:rPr>
              <a:t>- DeadLock happens when 2 or more ... forever ... each other</a:t>
            </a:r>
          </a:p>
          <a:p>
            <a:pPr algn="l"/>
            <a:r>
              <a:rPr lang="en-US" sz="1800">
                <a:sym typeface="Wingdings" pitchFamily="2" charset="2"/>
              </a:rPr>
              <a:t>(code illustration snippet 35)</a:t>
            </a:r>
          </a:p>
          <a:p>
            <a:pPr algn="l"/>
            <a:r>
              <a:rPr lang="en-US" sz="1800" b="1">
                <a:sym typeface="Wingdings" pitchFamily="2" charset="2"/>
              </a:rPr>
              <a:t>Starvation</a:t>
            </a:r>
          </a:p>
          <a:p>
            <a:pPr algn="l"/>
            <a:r>
              <a:rPr lang="en-US" sz="1800">
                <a:sym typeface="Wingdings" pitchFamily="2" charset="2"/>
              </a:rPr>
              <a:t>- Starvaton happens when a ... permenantly from a .../.... Although the ... is still active but it can't complete the ... because other ... are continuously ...the resource that it is trying to ...</a:t>
            </a:r>
          </a:p>
          <a:p>
            <a:pPr algn="l"/>
            <a:r>
              <a:rPr lang="en-US" sz="1800" b="1">
                <a:sym typeface="Wingdings" pitchFamily="2" charset="2"/>
              </a:rPr>
              <a:t>Livelock</a:t>
            </a:r>
          </a:p>
          <a:p>
            <a:pPr algn="l"/>
            <a:r>
              <a:rPr lang="en-US" sz="1800">
                <a:sym typeface="Wingdings" pitchFamily="2" charset="2"/>
              </a:rPr>
              <a:t>- Livelock happens when 2 or more ... permenantly, although ... Livelock is a special case of resource ... where both or more ... try to acquire the ... but it can't. Livelock is the consequence of a failed ... </a:t>
            </a:r>
          </a:p>
          <a:p>
            <a:pPr algn="l"/>
            <a:r>
              <a:rPr lang="en-US" sz="1800">
                <a:sym typeface="Wingdings" pitchFamily="2" charset="2"/>
              </a:rPr>
              <a:t>(question 12)</a:t>
            </a:r>
          </a:p>
        </p:txBody>
      </p:sp>
    </p:spTree>
    <p:extLst>
      <p:ext uri="{BB962C8B-B14F-4D97-AF65-F5344CB8AC3E}">
        <p14:creationId xmlns:p14="http://schemas.microsoft.com/office/powerpoint/2010/main" val="1805165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B3FBE-A2A5-C1C8-CA6C-2FD7C040967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3E8AEFE-45E7-A275-4B69-D88DB3675D6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6FC8FB47-FD9C-E720-176C-8DB8A267702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Managing Race Condition</a:t>
            </a:r>
          </a:p>
          <a:p>
            <a:pPr algn="l"/>
            <a:r>
              <a:rPr lang="en-US" sz="1800">
                <a:sym typeface="Wingdings" pitchFamily="2" charset="2"/>
              </a:rPr>
              <a:t>- Race condition is an undesired result when 2 ... must be finished in order but ... We mentioned about this at the first ...</a:t>
            </a:r>
          </a:p>
          <a:p>
            <a:pPr algn="l"/>
            <a:r>
              <a:rPr lang="en-US" sz="1800">
                <a:sym typeface="Wingdings" pitchFamily="2" charset="2"/>
              </a:rPr>
              <a:t>– The example below will demonstrate 2 persons want to create 2 accounts on the same server with the same username and send the request to the server simultaneously </a:t>
            </a:r>
          </a:p>
        </p:txBody>
      </p:sp>
      <p:pic>
        <p:nvPicPr>
          <p:cNvPr id="2" name="Picture 1">
            <a:extLst>
              <a:ext uri="{FF2B5EF4-FFF2-40B4-BE49-F238E27FC236}">
                <a16:creationId xmlns:a16="http://schemas.microsoft.com/office/drawing/2014/main" id="{0F1421FF-A252-98C1-6296-0291837C611D}"/>
              </a:ext>
            </a:extLst>
          </p:cNvPr>
          <p:cNvPicPr>
            <a:picLocks noChangeAspect="1"/>
          </p:cNvPicPr>
          <p:nvPr/>
        </p:nvPicPr>
        <p:blipFill>
          <a:blip r:embed="rId3"/>
          <a:stretch>
            <a:fillRect/>
          </a:stretch>
        </p:blipFill>
        <p:spPr>
          <a:xfrm>
            <a:off x="1790267" y="2692730"/>
            <a:ext cx="8611465" cy="2805545"/>
          </a:xfrm>
          <a:prstGeom prst="rect">
            <a:avLst/>
          </a:prstGeom>
        </p:spPr>
      </p:pic>
    </p:spTree>
    <p:extLst>
      <p:ext uri="{BB962C8B-B14F-4D97-AF65-F5344CB8AC3E}">
        <p14:creationId xmlns:p14="http://schemas.microsoft.com/office/powerpoint/2010/main" val="1959908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F18B0-CFB1-7740-14EE-F283080DE32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B0C82C6-12A6-35DA-D2C9-9478107A6D6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9BEE8192-AD56-AAFF-7EFB-83C3407883F0}"/>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There are 3 possible... </a:t>
            </a:r>
          </a:p>
          <a:p>
            <a:pPr algn="l"/>
            <a:r>
              <a:rPr lang="en-US" sz="1800">
                <a:sym typeface="Wingdings" pitchFamily="2" charset="2"/>
              </a:rPr>
              <a:t>+)</a:t>
            </a:r>
          </a:p>
          <a:p>
            <a:pPr algn="l"/>
            <a:r>
              <a:rPr lang="en-US" sz="1800">
                <a:sym typeface="Wingdings" pitchFamily="2" charset="2"/>
              </a:rPr>
              <a:t>+)</a:t>
            </a:r>
          </a:p>
          <a:p>
            <a:pPr algn="l"/>
            <a:r>
              <a:rPr lang="en-US" sz="1800">
                <a:sym typeface="Wingdings" pitchFamily="2" charset="2"/>
              </a:rPr>
              <a:t>+)</a:t>
            </a:r>
          </a:p>
          <a:p>
            <a:pPr algn="l"/>
            <a:r>
              <a:rPr lang="en-US" sz="1800">
                <a:sym typeface="Wingdings" pitchFamily="2" charset="2"/>
              </a:rPr>
              <a:t>- The first case is the most dangerous because ... </a:t>
            </a:r>
          </a:p>
          <a:p>
            <a:pPr algn="l"/>
            <a:r>
              <a:rPr lang="en-US" sz="1800">
                <a:sym typeface="Wingdings" pitchFamily="2" charset="2"/>
              </a:rPr>
              <a:t>- The second case is much better because ...</a:t>
            </a:r>
          </a:p>
          <a:p>
            <a:pPr algn="l"/>
            <a:r>
              <a:rPr lang="en-US" sz="1800">
                <a:sym typeface="Wingdings" pitchFamily="2" charset="2"/>
              </a:rPr>
              <a:t>- The third case is the most optimal because ...</a:t>
            </a:r>
          </a:p>
          <a:p>
            <a:pPr algn="l"/>
            <a:r>
              <a:rPr lang="en-US" sz="1800" b="1">
                <a:sym typeface="Wingdings" pitchFamily="2" charset="2"/>
              </a:rPr>
              <a:t>Working with Parallel Stream</a:t>
            </a:r>
          </a:p>
          <a:p>
            <a:pPr algn="l"/>
            <a:r>
              <a:rPr lang="en-US" sz="1800">
                <a:sym typeface="Wingdings" pitchFamily="2" charset="2"/>
              </a:rPr>
              <a:t>- We end this chapter with Stream. One of the strength of Stream API is ... </a:t>
            </a:r>
          </a:p>
          <a:p>
            <a:pPr algn="l"/>
            <a:r>
              <a:rPr lang="en-US" sz="1800">
                <a:sym typeface="Wingdings" pitchFamily="2" charset="2"/>
              </a:rPr>
              <a:t>- From the beginning of the ..., we study only ... which is called ... Stream. </a:t>
            </a:r>
          </a:p>
          <a:p>
            <a:pPr algn="l"/>
            <a:r>
              <a:rPr lang="en-US" sz="1800">
                <a:sym typeface="Wingdings" pitchFamily="2" charset="2"/>
              </a:rPr>
              <a:t>- Serial Stream is a stream that its result is ... order ... element ...</a:t>
            </a:r>
          </a:p>
          <a:p>
            <a:pPr algn="l"/>
            <a:r>
              <a:rPr lang="en-US" sz="1800">
                <a:sym typeface="Wingdings" pitchFamily="2" charset="2"/>
              </a:rPr>
              <a:t>- ... Stream allows us to process ... (for example, we could use ... stream, ...() operation to operate ... in parallel, increasing the ... in processing single .... in ... at the same time)</a:t>
            </a:r>
          </a:p>
          <a:p>
            <a:pPr algn="l"/>
            <a:r>
              <a:rPr lang="en-US" sz="1800">
                <a:sym typeface="Wingdings" pitchFamily="2" charset="2"/>
              </a:rPr>
              <a:t>- Using Parallel Stream other than improving our ..., it also ... what we expect. Moreover, there are some ... must be handled in special way so that it can be used under ... condition</a:t>
            </a:r>
          </a:p>
        </p:txBody>
      </p:sp>
    </p:spTree>
    <p:extLst>
      <p:ext uri="{BB962C8B-B14F-4D97-AF65-F5344CB8AC3E}">
        <p14:creationId xmlns:p14="http://schemas.microsoft.com/office/powerpoint/2010/main" val="1111899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1791B-C039-B641-2AE7-A09D49EB979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3C024A4-C592-0A9E-CD49-259AFD3AC2A4}"/>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ACE58BB8-3A37-C199-00AE-3EA22CB6E3D8}"/>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 number of ... in ... stream is directly proportional to ... CPU</a:t>
            </a:r>
          </a:p>
          <a:p>
            <a:pPr algn="l"/>
            <a:r>
              <a:rPr lang="en-US" sz="1800" b="1">
                <a:sym typeface="Wingdings" pitchFamily="2" charset="2"/>
              </a:rPr>
              <a:t>Creating Parallel Stream</a:t>
            </a:r>
          </a:p>
          <a:p>
            <a:pPr algn="l"/>
            <a:r>
              <a:rPr lang="en-US" sz="1800">
                <a:sym typeface="Wingdings" pitchFamily="2" charset="2"/>
              </a:rPr>
              <a:t>- Stream API is designed ... easily</a:t>
            </a:r>
          </a:p>
          <a:p>
            <a:pPr algn="l"/>
            <a:r>
              <a:rPr lang="en-US" sz="1800">
                <a:sym typeface="Wingdings" pitchFamily="2" charset="2"/>
              </a:rPr>
              <a:t>(code illustration snippet 36)</a:t>
            </a:r>
          </a:p>
          <a:p>
            <a:pPr algn="l"/>
            <a:r>
              <a:rPr lang="en-US" sz="1800">
                <a:sym typeface="Wingdings" pitchFamily="2" charset="2"/>
              </a:rPr>
              <a:t>- Stream interface includes a method ...() that be used to check whether ... is a ... or not ... Some of the operation on ... can maintain the ... state while other ... won't</a:t>
            </a:r>
          </a:p>
          <a:p>
            <a:pPr algn="l"/>
            <a:r>
              <a:rPr lang="en-US" sz="1800" b="1">
                <a:sym typeface="Wingdings" pitchFamily="2" charset="2"/>
              </a:rPr>
              <a:t>Performing a Parallel Decomposition</a:t>
            </a:r>
          </a:p>
          <a:p>
            <a:pPr algn="l"/>
            <a:r>
              <a:rPr lang="en-US" sz="1800">
                <a:sym typeface="Wingdings" pitchFamily="2" charset="2"/>
              </a:rPr>
              <a:t>- Parallel decomposition is a process ... a task into ... that can be processed ... manner and can be reassembled into a final ...</a:t>
            </a:r>
          </a:p>
          <a:p>
            <a:pPr algn="l"/>
            <a:r>
              <a:rPr lang="en-US" sz="1800">
                <a:sym typeface="Wingdings" pitchFamily="2" charset="2"/>
              </a:rPr>
              <a:t>– If the more ... the decompositon is, the more ... increased ...</a:t>
            </a:r>
          </a:p>
          <a:p>
            <a:pPr algn="l"/>
            <a:r>
              <a:rPr lang="en-US" sz="1800">
                <a:sym typeface="Wingdings" pitchFamily="2" charset="2"/>
              </a:rPr>
              <a:t>- First we will define a reusable ... task (wait for ...)</a:t>
            </a:r>
          </a:p>
          <a:p>
            <a:pPr algn="l"/>
            <a:r>
              <a:rPr lang="en-US" sz="1800">
                <a:sym typeface="Wingdings" pitchFamily="2" charset="2"/>
              </a:rPr>
              <a:t>(code illustration snippet 37)</a:t>
            </a:r>
          </a:p>
          <a:p>
            <a:pPr algn="l"/>
            <a:r>
              <a:rPr lang="en-US" sz="1800">
                <a:sym typeface="Wingdings" pitchFamily="2" charset="2"/>
              </a:rPr>
              <a:t>- What happen if we change this to ...</a:t>
            </a:r>
          </a:p>
          <a:p>
            <a:pPr algn="l"/>
            <a:r>
              <a:rPr lang="en-US" sz="1800">
                <a:sym typeface="Wingdings" pitchFamily="2" charset="2"/>
              </a:rPr>
              <a:t>(code illustration snippet 38)</a:t>
            </a:r>
          </a:p>
          <a:p>
            <a:pPr algn="l"/>
            <a:r>
              <a:rPr lang="en-US" sz="1800">
                <a:sym typeface="Wingdings" pitchFamily="2" charset="2"/>
              </a:rPr>
              <a:t>- This code looks like we submitting ... and ... </a:t>
            </a:r>
          </a:p>
          <a:p>
            <a:pPr algn="l"/>
            <a:endParaRPr lang="en-US" sz="1800">
              <a:sym typeface="Wingdings" pitchFamily="2" charset="2"/>
            </a:endParaRPr>
          </a:p>
        </p:txBody>
      </p:sp>
    </p:spTree>
    <p:extLst>
      <p:ext uri="{BB962C8B-B14F-4D97-AF65-F5344CB8AC3E}">
        <p14:creationId xmlns:p14="http://schemas.microsoft.com/office/powerpoint/2010/main" val="1890372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78F51-02F7-BD9B-0CC3-7D1A294A68F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A5EDEF1-0127-4FD0-7026-4CA4D474FD0D}"/>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F0245F2D-A2F6-8F4A-9C1A-F2BFFEA4D03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Ordering Result</a:t>
            </a:r>
          </a:p>
          <a:p>
            <a:pPr algn="l"/>
            <a:r>
              <a:rPr lang="en-US" sz="1800">
                <a:sym typeface="Wingdings" pitchFamily="2" charset="2"/>
              </a:rPr>
              <a:t>- If we need our stream to be 100% ...ed but we don't know whether it is ... or ... =&gt; we could use the ... method ...</a:t>
            </a:r>
          </a:p>
          <a:p>
            <a:pPr algn="l"/>
            <a:r>
              <a:rPr lang="en-US" sz="1800">
                <a:sym typeface="Wingdings" pitchFamily="2" charset="2"/>
              </a:rPr>
              <a:t>(code illustration snippet 39)</a:t>
            </a:r>
          </a:p>
          <a:p>
            <a:pPr algn="l"/>
            <a:r>
              <a:rPr lang="en-US" sz="1800">
                <a:sym typeface="Wingdings" pitchFamily="2" charset="2"/>
              </a:rPr>
              <a:t>- Although when we use this method, we will lost ..., but other ... stil make advantages of ...</a:t>
            </a:r>
          </a:p>
          <a:p>
            <a:pPr algn="l"/>
            <a:r>
              <a:rPr lang="en-US" sz="1800" b="1">
                <a:sym typeface="Wingdings" pitchFamily="2" charset="2"/>
              </a:rPr>
              <a:t>Processing Parallel Reductions</a:t>
            </a:r>
          </a:p>
          <a:p>
            <a:pPr algn="l"/>
            <a:r>
              <a:rPr lang="en-US" sz="1800">
                <a:sym typeface="Wingdings" pitchFamily="2" charset="2"/>
              </a:rPr>
              <a:t>-  Other than improve ... and ... the operation, using parallel ... could affect how we write our own ...</a:t>
            </a:r>
          </a:p>
          <a:p>
            <a:pPr algn="l"/>
            <a:r>
              <a:rPr lang="en-US" sz="1800">
                <a:sym typeface="Wingdings" pitchFamily="2" charset="2"/>
              </a:rPr>
              <a:t>– Parallel ... is a ... operation ... used for ... Stream. The result after a ... operation could be different than what we ... in ... Stream</a:t>
            </a:r>
          </a:p>
          <a:p>
            <a:pPr algn="l"/>
            <a:r>
              <a:rPr lang="en-US" sz="1800" b="1">
                <a:sym typeface="Wingdings" pitchFamily="2" charset="2"/>
              </a:rPr>
              <a:t>Performing Order-based tasks</a:t>
            </a:r>
          </a:p>
          <a:p>
            <a:pPr algn="l"/>
            <a:r>
              <a:rPr lang="en-US" sz="1800">
                <a:sym typeface="Wingdings" pitchFamily="2" charset="2"/>
              </a:rPr>
              <a:t>- Because ... Stream doesn't gurantee ..., it could cause unexpected ...</a:t>
            </a:r>
          </a:p>
          <a:p>
            <a:pPr algn="l"/>
            <a:r>
              <a:rPr lang="en-US" sz="1800">
                <a:sym typeface="Wingdings" pitchFamily="2" charset="2"/>
              </a:rPr>
              <a:t>(code illustration snippet 40)</a:t>
            </a:r>
          </a:p>
          <a:p>
            <a:pPr algn="l"/>
            <a:r>
              <a:rPr lang="en-US" sz="1800">
                <a:sym typeface="Wingdings" pitchFamily="2" charset="2"/>
              </a:rPr>
              <a:t>- JVM will allocate the number of ... and return the value corresponding to the first ... (which could be any value 4,2...)</a:t>
            </a:r>
          </a:p>
          <a:p>
            <a:pPr algn="l"/>
            <a:r>
              <a:rPr lang="en-US" sz="1800">
                <a:sym typeface="Wingdings" pitchFamily="2" charset="2"/>
              </a:rPr>
              <a:t>- Although ...() is designed to find a number that has the best .... (could be the first ... in ... Stream, usually that, but not 100%), ...Stream might be even more ... </a:t>
            </a:r>
          </a:p>
          <a:p>
            <a:pPr algn="l"/>
            <a:r>
              <a:rPr lang="en-US" sz="1800">
                <a:sym typeface="Wingdings" pitchFamily="2" charset="2"/>
              </a:rPr>
              <a:t>- Then what happen with the order-based operation such as ...(), ...(), or ...()</a:t>
            </a:r>
          </a:p>
          <a:p>
            <a:pPr algn="l"/>
            <a:r>
              <a:rPr lang="en-US" sz="1800">
                <a:sym typeface="Wingdings" pitchFamily="2" charset="2"/>
              </a:rPr>
              <a:t>– Order is still maintained but with the cost of ... because all ... coordinated back to ... style</a:t>
            </a:r>
          </a:p>
        </p:txBody>
      </p:sp>
    </p:spTree>
    <p:extLst>
      <p:ext uri="{BB962C8B-B14F-4D97-AF65-F5344CB8AC3E}">
        <p14:creationId xmlns:p14="http://schemas.microsoft.com/office/powerpoint/2010/main" val="258403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1EFCE-7237-6EAB-9ED5-B6F0C265335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167C8EB-DFF9-4324-6A90-7BB3108D135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E22BB596-0ADF-C6B9-CDC4-3C2F9B8A3734}"/>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On the bright side, the result of ... stream will be the same as ...stream</a:t>
            </a:r>
          </a:p>
          <a:p>
            <a:pPr algn="l"/>
            <a:r>
              <a:rPr lang="en-US" sz="1800" b="1">
                <a:sym typeface="Wingdings" pitchFamily="2" charset="2"/>
              </a:rPr>
              <a:t>Creating Unordered Stream</a:t>
            </a:r>
          </a:p>
          <a:p>
            <a:pPr algn="l"/>
            <a:r>
              <a:rPr lang="en-US" sz="1800">
                <a:sym typeface="Wingdings" pitchFamily="2" charset="2"/>
              </a:rPr>
              <a:t>- In all stream that we have ..., they are all ... stream by default</a:t>
            </a:r>
          </a:p>
          <a:p>
            <a:pPr algn="l"/>
            <a:r>
              <a:rPr lang="en-US" sz="1800">
                <a:sym typeface="Wingdings" pitchFamily="2" charset="2"/>
              </a:rPr>
              <a:t>– We can create a ... stream from a ... stream (just like how we create ...stream from a ...stream)</a:t>
            </a:r>
          </a:p>
          <a:p>
            <a:pPr algn="l"/>
            <a:r>
              <a:rPr lang="en-US" sz="1800">
                <a:sym typeface="Wingdings" pitchFamily="2" charset="2"/>
              </a:rPr>
              <a:t>(code illustration snippet 41)</a:t>
            </a:r>
          </a:p>
          <a:p>
            <a:pPr algn="l"/>
            <a:r>
              <a:rPr lang="en-US" sz="1800">
                <a:sym typeface="Wingdings" pitchFamily="2" charset="2"/>
              </a:rPr>
              <a:t>- This method won't ... it will inform ... if this is a ...-based stream, then ignore it. (for example, if we have a ... stream and we call ...(5), then it will ... any 5 ... instead of ... 5 ...)</a:t>
            </a:r>
          </a:p>
          <a:p>
            <a:pPr algn="l"/>
            <a:r>
              <a:rPr lang="en-US" sz="1800">
                <a:sym typeface="Wingdings" pitchFamily="2" charset="2"/>
              </a:rPr>
              <a:t>- For ..stream, this might sound ..., but for ..., this is ... because it will improve ... </a:t>
            </a:r>
          </a:p>
          <a:p>
            <a:pPr algn="l"/>
            <a:r>
              <a:rPr lang="en-US" sz="1800">
                <a:sym typeface="Wingdings" pitchFamily="2" charset="2"/>
              </a:rPr>
              <a:t>(code illustration snippet 42)</a:t>
            </a:r>
          </a:p>
          <a:p>
            <a:pPr algn="l"/>
            <a:r>
              <a:rPr lang="en-US" sz="1800" b="1">
                <a:sym typeface="Wingdings" pitchFamily="2" charset="2"/>
              </a:rPr>
              <a:t>Combining results with reduce()</a:t>
            </a:r>
          </a:p>
          <a:p>
            <a:pPr algn="l"/>
            <a:r>
              <a:rPr lang="en-US" sz="1800">
                <a:sym typeface="Wingdings" pitchFamily="2" charset="2"/>
              </a:rPr>
              <a:t>- In chapter 10, we have told about ... operation reduce() (transform stream into ...)</a:t>
            </a:r>
          </a:p>
          <a:p>
            <a:pPr algn="l"/>
            <a:r>
              <a:rPr lang="en-US" sz="1800">
                <a:sym typeface="Wingdings" pitchFamily="2" charset="2"/>
              </a:rPr>
              <a:t>- Remember that reduce() has 3 ..., ..., ..., and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608874B6-4A92-BEA5-9F89-6BEFA0341F1C}"/>
              </a:ext>
            </a:extLst>
          </p:cNvPr>
          <p:cNvPicPr>
            <a:picLocks noChangeAspect="1"/>
          </p:cNvPicPr>
          <p:nvPr/>
        </p:nvPicPr>
        <p:blipFill>
          <a:blip r:embed="rId3"/>
          <a:stretch>
            <a:fillRect/>
          </a:stretch>
        </p:blipFill>
        <p:spPr>
          <a:xfrm>
            <a:off x="3765550" y="5484812"/>
            <a:ext cx="4660900" cy="1104900"/>
          </a:xfrm>
          <a:prstGeom prst="rect">
            <a:avLst/>
          </a:prstGeom>
        </p:spPr>
      </p:pic>
    </p:spTree>
    <p:extLst>
      <p:ext uri="{BB962C8B-B14F-4D97-AF65-F5344CB8AC3E}">
        <p14:creationId xmlns:p14="http://schemas.microsoft.com/office/powerpoint/2010/main" val="251272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FB86C-4D84-FF29-77B0-92BB44C34B3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E83A92C-27DE-DBDD-7A6C-3F94BAA0565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4BC8EF60-4744-0078-4233-D8CC5695A8E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Note: the 3 ... version is for ...</a:t>
            </a:r>
          </a:p>
          <a:p>
            <a:pPr algn="l"/>
            <a:r>
              <a:rPr lang="en-US" sz="1800">
                <a:sym typeface="Wingdings" pitchFamily="2" charset="2"/>
              </a:rPr>
              <a:t>(code illustration snippet 43)</a:t>
            </a:r>
          </a:p>
          <a:p>
            <a:pPr algn="l"/>
            <a:r>
              <a:rPr lang="en-US" sz="1800">
                <a:sym typeface="Wingdings" pitchFamily="2" charset="2"/>
              </a:rPr>
              <a:t>- Note: the name of the ... is not accidental (c = ...; s1,s2,s3 = ...)</a:t>
            </a:r>
          </a:p>
          <a:p>
            <a:pPr algn="l"/>
            <a:r>
              <a:rPr lang="en-US" sz="1800">
                <a:sym typeface="Wingdings" pitchFamily="2" charset="2"/>
              </a:rPr>
              <a:t>- In parallel stream, the method ...() works by using reduction on ... in a same ... to create ... value. Then, these ... value will be ... into final ...</a:t>
            </a:r>
          </a:p>
          <a:p>
            <a:pPr algn="l"/>
            <a:r>
              <a:rPr lang="en-US" sz="1800">
                <a:sym typeface="Wingdings" pitchFamily="2" charset="2"/>
              </a:rPr>
              <a:t>– In ... Stream, the element ... order they ...</a:t>
            </a:r>
          </a:p>
          <a:p>
            <a:pPr algn="l"/>
            <a:r>
              <a:rPr lang="en-US" sz="1800">
                <a:sym typeface="Wingdings" pitchFamily="2" charset="2"/>
              </a:rPr>
              <a:t>– In ... Stream, we must consider ... </a:t>
            </a:r>
          </a:p>
          <a:p>
            <a:pPr algn="l"/>
            <a:r>
              <a:rPr lang="en-US" sz="1800">
                <a:sym typeface="Wingdings" pitchFamily="2" charset="2"/>
              </a:rPr>
              <a:t>- If the ... in the stream is combined in a way that it transforms into "wlof" or "flwo" (instead of "wolf") then what ?</a:t>
            </a:r>
          </a:p>
          <a:p>
            <a:pPr algn="l"/>
            <a:r>
              <a:rPr lang="en-US" sz="1800">
                <a:sym typeface="Wingdings" pitchFamily="2" charset="2"/>
              </a:rPr>
              <a:t>– Stream API prevented these from happening while allowing ... as long as we stick to a rule: "both ... and ... must ... the same no matter ...."</a:t>
            </a:r>
          </a:p>
          <a:p>
            <a:pPr algn="l"/>
            <a:r>
              <a:rPr lang="en-US" sz="1800">
                <a:sym typeface="Wingdings" pitchFamily="2" charset="2"/>
              </a:rPr>
              <a:t>- Although it is not in the exam, the ... and ... must be associative, stateless, and non-interfering. These are all related to ... =&gt; ...</a:t>
            </a:r>
            <a:endParaRPr lang="en-US" sz="1800" b="1">
              <a:sym typeface="Wingdings" pitchFamily="2" charset="2"/>
            </a:endParaRPr>
          </a:p>
          <a:p>
            <a:pPr algn="l"/>
            <a:r>
              <a:rPr lang="en-US" sz="1800">
                <a:sym typeface="Wingdings" pitchFamily="2" charset="2"/>
              </a:rPr>
              <a:t>- Although the requirement for ... and ... is correct for both ...stream and ...stream, we might not actually see the difference in ..stream because it is already ...But with ... stream, it wont be 100% ... </a:t>
            </a:r>
          </a:p>
          <a:p>
            <a:pPr algn="l"/>
            <a:r>
              <a:rPr lang="en-US" sz="1800">
                <a:sym typeface="Wingdings" pitchFamily="2" charset="2"/>
              </a:rPr>
              <a:t>- If we violate ... then 100% it will produce ...</a:t>
            </a:r>
          </a:p>
          <a:p>
            <a:pPr algn="l"/>
            <a:r>
              <a:rPr lang="en-US" sz="1800">
                <a:sym typeface="Wingdings" pitchFamily="2" charset="2"/>
              </a:rPr>
              <a:t>– We can see some of the examples below that uses problematic ... (as we know that the order matters when we do ... operation in math). The code below us will be different if we use ... stream instead of ...stream. We could remove the ... argument ... because the ... value type doesn't change</a:t>
            </a:r>
          </a:p>
        </p:txBody>
      </p:sp>
    </p:spTree>
    <p:extLst>
      <p:ext uri="{BB962C8B-B14F-4D97-AF65-F5344CB8AC3E}">
        <p14:creationId xmlns:p14="http://schemas.microsoft.com/office/powerpoint/2010/main" val="3623774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577ED-E2C9-B303-FC7E-4D22FE40CD9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5FEB782-91E4-6FF2-7278-3F3883BB6B3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EC756C2A-824D-E137-02FA-0971D139DD3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44, 45)</a:t>
            </a:r>
          </a:p>
          <a:p>
            <a:pPr algn="l"/>
            <a:r>
              <a:rPr lang="en-US" sz="1800">
                <a:sym typeface="Wingdings" pitchFamily="2" charset="2"/>
              </a:rPr>
              <a:t>- Although the 2 ... and 3... methods are all supporting ..., we are recommended to use the 3 ... because when working with .. processing, providing an explicit ... will allow JVM to ... the task and do it ...</a:t>
            </a:r>
          </a:p>
          <a:p>
            <a:pPr algn="l"/>
            <a:r>
              <a:rPr lang="en-US" sz="1800" b="1">
                <a:sym typeface="Wingdings" pitchFamily="2" charset="2"/>
              </a:rPr>
              <a:t>Combining results with collect()</a:t>
            </a:r>
          </a:p>
          <a:p>
            <a:pPr algn="l"/>
            <a:r>
              <a:rPr lang="en-US" sz="1800">
                <a:sym typeface="Wingdings" pitchFamily="2" charset="2"/>
              </a:rPr>
              <a:t>- Just like ...(), Stream API also provides a 3 ... for ...() that recieve ..., ... and ... instead of identity</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460F8069-DA8B-E932-0DA5-71C2482349DC}"/>
              </a:ext>
            </a:extLst>
          </p:cNvPr>
          <p:cNvPicPr>
            <a:picLocks noChangeAspect="1"/>
          </p:cNvPicPr>
          <p:nvPr/>
        </p:nvPicPr>
        <p:blipFill>
          <a:blip r:embed="rId3"/>
          <a:stretch>
            <a:fillRect/>
          </a:stretch>
        </p:blipFill>
        <p:spPr>
          <a:xfrm>
            <a:off x="2559341" y="2727366"/>
            <a:ext cx="6414939" cy="1403268"/>
          </a:xfrm>
          <a:prstGeom prst="rect">
            <a:avLst/>
          </a:prstGeom>
        </p:spPr>
      </p:pic>
    </p:spTree>
    <p:extLst>
      <p:ext uri="{BB962C8B-B14F-4D97-AF65-F5344CB8AC3E}">
        <p14:creationId xmlns:p14="http://schemas.microsoft.com/office/powerpoint/2010/main" val="2595897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38C65-4882-AB44-E1A9-D07D16D4DF6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528F882-E8A2-0987-8889-C2677418C26B}"/>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0F523765-DE27-A9F1-4734-D0C5E8F5FDF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Just like ...(), ... and ... must be ... same and ... no matter ... </a:t>
            </a:r>
          </a:p>
          <a:p>
            <a:pPr algn="l"/>
            <a:r>
              <a:rPr lang="en-US" sz="1800">
                <a:sym typeface="Wingdings" pitchFamily="2" charset="2"/>
              </a:rPr>
              <a:t>- Thanks to that ..., collect() can be ... processing</a:t>
            </a:r>
          </a:p>
          <a:p>
            <a:pPr algn="l"/>
            <a:r>
              <a:rPr lang="en-US" sz="1800">
                <a:sym typeface="Wingdings" pitchFamily="2" charset="2"/>
              </a:rPr>
              <a:t>(code illustration snippet 46)</a:t>
            </a:r>
          </a:p>
          <a:p>
            <a:pPr algn="l"/>
            <a:r>
              <a:rPr lang="en-US" sz="1800">
                <a:sym typeface="Wingdings" pitchFamily="2" charset="2"/>
              </a:rPr>
              <a:t>- We must remember that ... in a ConcurrentSkipListSet are sorted according to ... ordering. We should use a ... collection to gather ... to prevent ...  from happening</a:t>
            </a:r>
          </a:p>
          <a:p>
            <a:pPr algn="l"/>
            <a:r>
              <a:rPr lang="en-US" sz="1800">
                <a:sym typeface="Wingdings" pitchFamily="2" charset="2"/>
              </a:rPr>
              <a:t>- Executing ... with a collector requires careful consideration (for example, if the collection we use is a ordered ... like ..., the element in the final ... must also be ..., even if we are using ...stream or ...stream). This could reduce ... since some operation can't ...</a:t>
            </a:r>
          </a:p>
          <a:p>
            <a:pPr algn="l"/>
            <a:r>
              <a:rPr lang="en-US" sz="1800" b="1">
                <a:sym typeface="Wingdings" pitchFamily="2" charset="2"/>
              </a:rPr>
              <a:t>Performing a Parallel Reduction on a Collector</a:t>
            </a:r>
          </a:p>
          <a:p>
            <a:pPr algn="l"/>
            <a:r>
              <a:rPr lang="en-US" sz="1800">
                <a:sym typeface="Wingdings" pitchFamily="2" charset="2"/>
              </a:rPr>
              <a:t>- While we have studied on ... interface, we haven't dive deep into its .... Each collector ... has a method called ...() that return ... attribute. When using a Collector to perform ... reduction, we must have a set of ... set at ..., if not, then collect() will run as ... instead of ...</a:t>
            </a:r>
          </a:p>
          <a:p>
            <a:pPr algn="l"/>
            <a:r>
              <a:rPr lang="en-US" sz="1800">
                <a:sym typeface="Wingdings" pitchFamily="2" charset="2"/>
              </a:rPr>
              <a:t>– Some of the requirement when doing ... using collect()</a:t>
            </a:r>
          </a:p>
          <a:p>
            <a:pPr algn="l"/>
            <a:r>
              <a:rPr lang="en-US" sz="1800">
                <a:sym typeface="Wingdings" pitchFamily="2" charset="2"/>
              </a:rPr>
              <a:t>+)</a:t>
            </a:r>
          </a:p>
          <a:p>
            <a:pPr algn="l"/>
            <a:r>
              <a:rPr lang="en-US" sz="1800">
                <a:sym typeface="Wingdings" pitchFamily="2" charset="2"/>
              </a:rPr>
              <a:t>+) concurrent</a:t>
            </a:r>
          </a:p>
          <a:p>
            <a:pPr algn="l"/>
            <a:r>
              <a:rPr lang="en-US" sz="1800">
                <a:sym typeface="Wingdings" pitchFamily="2" charset="2"/>
              </a:rPr>
              <a:t>+) unordered</a:t>
            </a:r>
          </a:p>
          <a:p>
            <a:pPr algn="l"/>
            <a:endParaRPr lang="en-US" sz="1800">
              <a:sym typeface="Wingdings" pitchFamily="2" charset="2"/>
            </a:endParaRPr>
          </a:p>
        </p:txBody>
      </p:sp>
    </p:spTree>
    <p:extLst>
      <p:ext uri="{BB962C8B-B14F-4D97-AF65-F5344CB8AC3E}">
        <p14:creationId xmlns:p14="http://schemas.microsoft.com/office/powerpoint/2010/main" val="2853391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AFEEF-6280-79A1-090A-F9ED69B4D92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E7AC09C-81F9-9CF6-333E-F7BA22E5D7F7}"/>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77692C56-7F11-35C7-EE5A-BB559B1EBC3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For example, when Collectors.toSet() has ... but doesnt have ... =&gt; This code won't do a ... reduction even if it is a ... </a:t>
            </a:r>
          </a:p>
          <a:p>
            <a:pPr algn="l"/>
            <a:r>
              <a:rPr lang="en-US" sz="1800">
                <a:sym typeface="Wingdings" pitchFamily="2" charset="2"/>
              </a:rPr>
              <a:t>- Collectors ... also have 2 ... to recieve Collectors which is to...() and group...(). These 2 guys have ... and ... characteristics</a:t>
            </a:r>
          </a:p>
          <a:p>
            <a:pPr algn="l"/>
            <a:r>
              <a:rPr lang="en-US" sz="1800">
                <a:sym typeface="Wingdings" pitchFamily="2" charset="2"/>
              </a:rPr>
              <a:t>– These methods create ... instance that capable of ... reduction effectively. These are all ... version ...</a:t>
            </a:r>
          </a:p>
          <a:p>
            <a:pPr algn="l"/>
            <a:r>
              <a:rPr lang="en-US" sz="1800">
                <a:sym typeface="Wingdings" pitchFamily="2" charset="2"/>
              </a:rPr>
              <a:t>(code illustration snippet 47,48)</a:t>
            </a:r>
          </a:p>
          <a:p>
            <a:pPr algn="l"/>
            <a:r>
              <a:rPr lang="en-US" sz="1800" b="1">
                <a:sym typeface="Wingdings" pitchFamily="2" charset="2"/>
              </a:rPr>
              <a:t>Avoiding Stateful Streams</a:t>
            </a:r>
          </a:p>
          <a:p>
            <a:pPr algn="l"/>
            <a:r>
              <a:rPr lang="en-US" sz="1800">
                <a:sym typeface="Wingdings" pitchFamily="2" charset="2"/>
              </a:rPr>
              <a:t>-  Some of the side ... could happen in ...stream if the lambda expression is ...</a:t>
            </a:r>
          </a:p>
          <a:p>
            <a:pPr algn="l"/>
            <a:r>
              <a:rPr lang="en-US" sz="1800">
                <a:sym typeface="Wingdings" pitchFamily="2" charset="2"/>
              </a:rPr>
              <a:t>- Stateful lambda expressions means its ... depends on external ... which could change during ... pipeline ....</a:t>
            </a:r>
          </a:p>
          <a:p>
            <a:pPr algn="l"/>
            <a:r>
              <a:rPr lang="en-US" sz="1800">
                <a:sym typeface="Wingdings" pitchFamily="2" charset="2"/>
              </a:rPr>
              <a:t>(code illustration snippet 49)</a:t>
            </a:r>
          </a:p>
          <a:p>
            <a:pPr algn="l"/>
            <a:r>
              <a:rPr lang="en-US" sz="1800">
                <a:sym typeface="Wingdings" pitchFamily="2" charset="2"/>
              </a:rPr>
              <a:t>- If we try this with ..stream, then it is ...</a:t>
            </a:r>
          </a:p>
          <a:p>
            <a:pPr algn="l"/>
            <a:r>
              <a:rPr lang="en-US" sz="1800">
                <a:sym typeface="Wingdings" pitchFamily="2" charset="2"/>
              </a:rPr>
              <a:t>- But if we change to ...stream, then it will lose ... because ...</a:t>
            </a:r>
          </a:p>
          <a:p>
            <a:pPr algn="l"/>
            <a:r>
              <a:rPr lang="en-US" sz="1800">
                <a:sym typeface="Wingdings" pitchFamily="2" charset="2"/>
              </a:rPr>
              <a:t>(code illustration snippet 50)</a:t>
            </a:r>
          </a:p>
          <a:p>
            <a:pPr algn="l"/>
            <a:r>
              <a:rPr lang="en-US" sz="1800">
                <a:sym typeface="Wingdings" pitchFamily="2" charset="2"/>
              </a:rPr>
              <a:t>- It is stateful because ... a list that is outside ... </a:t>
            </a:r>
          </a:p>
          <a:p>
            <a:pPr algn="l"/>
            <a:r>
              <a:rPr lang="en-US" sz="1800">
                <a:sym typeface="Wingdings" pitchFamily="2" charset="2"/>
              </a:rPr>
              <a:t>- The fix is when we done ..., convert ...</a:t>
            </a:r>
          </a:p>
          <a:p>
            <a:pPr algn="l"/>
            <a:r>
              <a:rPr lang="en-US" sz="1800">
                <a:sym typeface="Wingdings" pitchFamily="2" charset="2"/>
              </a:rPr>
              <a:t>(code illustration snippet 51)</a:t>
            </a:r>
          </a:p>
        </p:txBody>
      </p:sp>
    </p:spTree>
    <p:extLst>
      <p:ext uri="{BB962C8B-B14F-4D97-AF65-F5344CB8AC3E}">
        <p14:creationId xmlns:p14="http://schemas.microsoft.com/office/powerpoint/2010/main" val="1868295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C13CA-E149-C7DF-5DF3-276BFDC5177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BDCF605-D9A5-DDD0-435E-94730EB919F1}"/>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13 – Concurrency</a:t>
            </a:r>
          </a:p>
        </p:txBody>
      </p:sp>
      <p:sp>
        <p:nvSpPr>
          <p:cNvPr id="4" name="Subtitle 2">
            <a:extLst>
              <a:ext uri="{FF2B5EF4-FFF2-40B4-BE49-F238E27FC236}">
                <a16:creationId xmlns:a16="http://schemas.microsoft.com/office/drawing/2014/main" id="{2E407059-F3E6-D875-902A-B21935DFC27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This method will process ... and ... back to a List. It will produce a result ... same as ... what we ... We are recommended to avoid ... when working with ... to prevent side ... Moreover, we should avoid ... even in ...stream because it will make us harder to migrate our code from ... to ...stream ...</a:t>
            </a:r>
          </a:p>
        </p:txBody>
      </p:sp>
    </p:spTree>
    <p:extLst>
      <p:ext uri="{BB962C8B-B14F-4D97-AF65-F5344CB8AC3E}">
        <p14:creationId xmlns:p14="http://schemas.microsoft.com/office/powerpoint/2010/main" val="3829071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21354</TotalTime>
  <Words>8194</Words>
  <Application>Microsoft Macintosh PowerPoint</Application>
  <PresentationFormat>Widescreen</PresentationFormat>
  <Paragraphs>491</Paragraphs>
  <Slides>51</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Aptos</vt:lpstr>
      <vt:lpstr>Aptos Display</vt:lpstr>
      <vt:lpstr>Arial</vt:lpstr>
      <vt:lpstr>Wingdings</vt:lpstr>
      <vt:lpstr>Office Theme</vt:lpstr>
      <vt:lpstr>Java SE 17 –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Dinh Vinh Mai</dc:creator>
  <cp:lastModifiedBy>Mai Dinh Vinh  (S.CECS)</cp:lastModifiedBy>
  <cp:revision>62</cp:revision>
  <dcterms:created xsi:type="dcterms:W3CDTF">2024-07-05T03:43:45Z</dcterms:created>
  <dcterms:modified xsi:type="dcterms:W3CDTF">2026-01-08T15:04:01Z</dcterms:modified>
</cp:coreProperties>
</file>