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740" autoAdjust="0"/>
    <p:restoredTop sz="92164"/>
  </p:normalViewPr>
  <p:slideViewPr>
    <p:cSldViewPr snapToGrid="0">
      <p:cViewPr varScale="1">
        <p:scale>
          <a:sx n="108" d="100"/>
          <a:sy n="108" d="100"/>
        </p:scale>
        <p:origin x="216"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3/1/26</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EAE71-0C83-9BEC-8448-A0D1E66FEF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B87F8-0E7E-9410-1CB8-E097089549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025336-6175-5BC6-84D0-6662BB7693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A1712AB-14F0-2D3D-67A5-842F5226DE01}"/>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595968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DEB6D-EB07-D16C-9ED9-3525F4002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84A994-E09D-1B20-2DF8-C297FFB72C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CA1BB-FA93-61DC-B157-C9C23A2D14D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B989130-0587-1EA6-287B-6F834CA3A142}"/>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7205723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D7D09-1757-6D02-3F81-3AAC1E117B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82EC6-8DFD-07E0-A167-EC336B7E7A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26125-4366-FD4D-327F-C47E6586461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5006E5F-7B63-C106-6113-FC86B25864CE}"/>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13787729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A4D07-61E7-3BB3-5C79-5C0248C01F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F71C0-DE47-F607-1EB6-D4FB636DB1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55EE5F-61E6-366A-E021-C48B5845BC3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647EE15-1F41-2EB3-3FB0-CF26ABC3A197}"/>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39079743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E177C-911B-C068-D383-846071C202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F45E6-9F41-334B-B9FF-0DC04B824F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3A335C-0C45-C4C3-402C-D5E9C04A755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437946B-4124-BE0B-76AB-2766F4DAF31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28508522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83A3D-7477-F14B-5C9C-C49E6C4D74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D1DFB7-0272-BF68-BBC2-CD458DF1FE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F9835-E810-E0F4-2106-A8179DB13A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BAEB4D5-53D3-97FB-9A2F-53D035341315}"/>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1413466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09E9B-678F-F9C4-3570-A9F0921CBF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E9858C-E182-3E0B-EEFF-3B29B8625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EB9DF-C1D2-AA93-669C-F06C9AC21C5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ECAEA75-C34A-B21E-D4B8-E4349FB4C0BC}"/>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40102278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A4C4B-7456-F173-B120-688C448D42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68DEB-84F7-E93F-CD1B-494FF2723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20BD9B-8079-9A49-BC9F-3264912C302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3E8E381-CB82-E8EC-D8D8-DCCD4D81969C}"/>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3670587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EF33C-6B73-E0CF-E637-A83AB3077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A4EA97-C4A8-EB9A-5485-B7CD79BED0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072D3A-5B22-9FF0-84EE-440574FF948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5673000-C2F3-3BD7-AF93-3DDA3AF0B806}"/>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3025419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26C4E-21EB-8F8E-1851-5AFA8AF8B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11D886-F038-B785-F617-DBE3B326CC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254AE1-602C-37D3-D666-921AEDE10E1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2002A3E-72F3-D652-2F6F-4DAC44200C16}"/>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14787083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714BC-EFAB-C7ED-B4BA-F1C91DD8C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BA837-C560-1499-20A8-0BAB78C2CA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1B5300-4683-4FF4-104C-ED607FC226C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0D9C041-474D-039E-DD1C-E9994BF8B038}"/>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4169070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577E6-904F-4DFE-6308-1EC0A5D9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721F09-57AE-1765-9E06-025A3AE6E8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7BFA11-9D14-EC05-1E70-0E1F10661BE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260A011-E81C-69DA-AFA1-3865B7A7F5A8}"/>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1866959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04B06-98C7-44BE-CE65-51AD08AC4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DDF3DE-06F6-82B9-F03B-B7CB78FEF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AC3832-B1FF-F2C4-9CCA-36AC5831E11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A1B909B-A263-228F-E3F1-90BAA956F498}"/>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26927379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022E9B-F321-51DF-CB9D-E5149E6113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64B55-226A-E721-F4FD-48896F86EA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0EA7E-625F-ED76-9D00-13958FB2677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574449-CD7E-C7D8-EE6E-403233F406C6}"/>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26231526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667AE-C0C3-8C8F-E94D-95C19E2D1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2A443-DE99-2533-4411-0DEE1753B3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8596D8-E168-E7F5-2726-2CDD7C7849E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C5C820D-2FA2-07E4-F08C-0CA810CB3C2C}"/>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35359788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8E3CC-86F4-7F94-12CD-33682A9731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35D7D4-3EAE-F21F-1344-A9972D4C28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9AA7C2-548F-51E8-7911-FE70E3DF9B7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851309A-6B46-8A0D-3B5E-551F437D2718}"/>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41780500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10A31-1789-3F9E-C4B6-F6B390A4B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A0071C-F933-00C5-0A8D-2AD3DC8A6C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CA7684-0FE3-D18E-EC68-9C67787FACA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5FF7C6F-2406-542E-AB9C-67C35CFB721B}"/>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5250196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D92B3-4BE3-E079-FD3B-96698CF5A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FFF02D-01CA-BCAC-154B-5930EB6E88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5DB5F-F514-4A32-A424-A14F49383B2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01CA05F-DC3C-DDD0-67C4-5438993AAAEF}"/>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25091363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602A-60D0-770B-28FD-FEEFA669E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5B8B67-CE71-2374-A68C-7CA725093C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0BA501-7916-8C87-C0FE-7AD7F07F37AE}"/>
              </a:ext>
            </a:extLst>
          </p:cNvPr>
          <p:cNvSpPr>
            <a:spLocks noGrp="1"/>
          </p:cNvSpPr>
          <p:nvPr>
            <p:ph type="body" idx="1"/>
          </p:nvPr>
        </p:nvSpPr>
        <p:spPr/>
        <p:txBody>
          <a:bodyPr/>
          <a:lstStyle/>
          <a:p>
            <a:r>
              <a:rPr lang="en-VN"/>
              <a:t>Question 8</a:t>
            </a:r>
          </a:p>
        </p:txBody>
      </p:sp>
      <p:sp>
        <p:nvSpPr>
          <p:cNvPr id="4" name="Slide Number Placeholder 3">
            <a:extLst>
              <a:ext uri="{FF2B5EF4-FFF2-40B4-BE49-F238E27FC236}">
                <a16:creationId xmlns:a16="http://schemas.microsoft.com/office/drawing/2014/main" id="{AB7D01C6-750D-8EAF-C4A2-063AF6A1F944}"/>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31120810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A7216-D2A3-DD48-D907-38A7F6358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4531B-3906-BCAD-7FEA-D50B3BB036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46EAD7-C065-3A2D-CA66-A420458080F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829EE50-8B00-1B2E-784C-31B29453FD83}"/>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189791695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36E20-6DCD-FA68-DB99-8873E20604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D0B49-2751-E326-DCEC-9857B58F1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A0D1D-D18D-E0CB-9463-C05785D1C61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2BBEF5A-0584-0028-604D-2F6B1BCD3698}"/>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2354351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86F50-B4B4-C6CC-4164-BD85F1389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447827-596F-11FF-8338-DE7DEF21A7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B32E7C-8CF0-C402-5563-51533F783F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508BA63-6580-B66A-3E93-7393785386DD}"/>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23390078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0C0A8-9F50-5AF3-6E67-3FE1AA6F3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0AEAE-2C56-B506-DB71-55E86E1A93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99B38B-32D8-A585-7AD1-8C23B81558A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2EEAF75-2D74-BA83-AF19-938A10CC7C9F}"/>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127299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1C341-0D21-3307-02A4-61F3B31A9D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A690-F317-F045-796F-19D081332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73AD4-E14D-D5A9-AED6-3FB31B361D5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5C3C652-87AD-5374-B954-D394D1B7EF75}"/>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19622203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8484B-07DC-E8DC-31BF-2D7228C897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5B1966-D9F8-E8FD-38DF-72174E49CF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9EE62-D049-E274-98BB-387B38695FD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C4C9EB5-6660-AF34-DF0D-334339D8DA14}"/>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37263765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467A5-D8EF-F3C3-7EB8-79BC5D2BF6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6760A4-7979-4C11-A822-267884FF36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2D4568-40EA-EB64-D61A-175BEDBC36B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3FBE80E-A887-0CAF-077D-133363471B06}"/>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134197162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70D4F-1520-B325-4D62-4495A233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515E41-F619-5E70-E14F-2975B88CA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A43EE-347B-92C7-31F0-C4B8DEB337D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EE48CBF-F749-713D-78BD-809FC56C7559}"/>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216419477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FD60C-4436-7E5D-9199-357302B975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7A3E94-BAE1-1E18-1573-716E518CE8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76C82-AFF7-FF7A-0289-D8C634EBDDA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345C287-4B5F-9644-DC19-5921F18EA952}"/>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3387068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1/3/26</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13 – Concurrency</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Introducing Threads</a:t>
            </a:r>
          </a:p>
          <a:p>
            <a:pPr algn="l"/>
            <a:r>
              <a:rPr lang="en-US" sz="1800">
                <a:sym typeface="Wingdings" pitchFamily="2" charset="2"/>
              </a:rPr>
              <a:t>- We start this chapter with some basic ... about ... A Thread is a unit of ... (the smallest ... that can be ... by the OS ....)</a:t>
            </a:r>
          </a:p>
          <a:p>
            <a:pPr algn="l"/>
            <a:r>
              <a:rPr lang="en-US" sz="1800">
                <a:sym typeface="Wingdings" pitchFamily="2" charset="2"/>
              </a:rPr>
              <a:t>- A ... is a sets of Threads .... shared in a ... </a:t>
            </a:r>
          </a:p>
          <a:p>
            <a:pPr algn="l"/>
            <a:r>
              <a:rPr lang="en-US" sz="1800">
                <a:sym typeface="Wingdings" pitchFamily="2" charset="2"/>
              </a:rPr>
              <a:t>- Single .... is a process with ... </a:t>
            </a:r>
          </a:p>
          <a:p>
            <a:pPr algn="l"/>
            <a:r>
              <a:rPr lang="en-US" sz="1800">
                <a:sym typeface="Wingdings" pitchFamily="2" charset="2"/>
              </a:rPr>
              <a:t>- Multi ... is a process with ...</a:t>
            </a:r>
          </a:p>
          <a:p>
            <a:pPr algn="l"/>
            <a:r>
              <a:rPr lang="en-US" sz="1800">
                <a:sym typeface="Wingdings" pitchFamily="2" charset="2"/>
              </a:rPr>
              <a:t>– A shared ... means ... in a process share the same ... and ... each other ...</a:t>
            </a:r>
          </a:p>
          <a:p>
            <a:pPr algn="l"/>
            <a:r>
              <a:rPr lang="en-US" sz="1800">
                <a:sym typeface="Wingdings" pitchFamily="2" charset="2"/>
              </a:rPr>
              <a:t>– A ... is ... job for ... In this chapter, a ... will be implemented as ...</a:t>
            </a:r>
          </a:p>
          <a:p>
            <a:pPr algn="l"/>
            <a:r>
              <a:rPr lang="en-US" sz="1800">
                <a:sym typeface="Wingdings" pitchFamily="2" charset="2"/>
              </a:rPr>
              <a:t>- A ... can ... multiple but ... only ... at a time...</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723A915-AE33-62E7-725B-5D2E8F6E69F9}"/>
              </a:ext>
            </a:extLst>
          </p:cNvPr>
          <p:cNvPicPr>
            <a:picLocks noChangeAspect="1"/>
          </p:cNvPicPr>
          <p:nvPr/>
        </p:nvPicPr>
        <p:blipFill>
          <a:blip r:embed="rId3"/>
          <a:stretch>
            <a:fillRect/>
          </a:stretch>
        </p:blipFill>
        <p:spPr>
          <a:xfrm>
            <a:off x="6972300" y="2921000"/>
            <a:ext cx="5219700" cy="3937000"/>
          </a:xfrm>
          <a:prstGeom prst="rect">
            <a:avLst/>
          </a:prstGeom>
        </p:spPr>
      </p:pic>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9F1D3-66DF-F0A5-99FA-796DB5F9C5B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6C29776-A701-E271-A2C7-7355E6CADE7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B0570129-5F0F-7157-FCEB-4C819AC8AB6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Shared memory means ... variables, ... variables, and ... variables passed into a ...</a:t>
            </a:r>
          </a:p>
          <a:p>
            <a:pPr algn="l"/>
            <a:r>
              <a:rPr lang="en-US" sz="1800">
                <a:sym typeface="Wingdings" pitchFamily="2" charset="2"/>
              </a:rPr>
              <a:t>- If a Thread ... a ... variable... then other ... can also ... the updated ... (question 1)</a:t>
            </a:r>
          </a:p>
          <a:p>
            <a:pPr algn="l"/>
            <a:r>
              <a:rPr lang="en-US" sz="1800" b="1">
                <a:sym typeface="Wingdings" pitchFamily="2" charset="2"/>
              </a:rPr>
              <a:t>Understanding Thread Concurrency</a:t>
            </a:r>
          </a:p>
          <a:p>
            <a:pPr algn="l"/>
            <a:r>
              <a:rPr lang="en-US" sz="1800">
                <a:sym typeface="Wingdings" pitchFamily="2" charset="2"/>
              </a:rPr>
              <a:t>- The property of allowing ... at the same time is called Concurrency. How can OS decides which .... when there are ... more than ... of the CPU ? OS will use something called ... to determine which one will be ... (for example, an OS ... will ... Round-Robin schedule). This makes sure that each ... will recieve enough ... and ...</a:t>
            </a:r>
          </a:p>
          <a:p>
            <a:pPr algn="l"/>
            <a:r>
              <a:rPr lang="en-US" sz="1800">
                <a:sym typeface="Wingdings" pitchFamily="2" charset="2"/>
              </a:rPr>
              <a:t>- When the time ... for a ... runs out but the ... still processing =&gt; An event called ... will happen. </a:t>
            </a:r>
          </a:p>
          <a:p>
            <a:pPr algn="l"/>
            <a:r>
              <a:rPr lang="en-US" sz="1800">
                <a:sym typeface="Wingdings" pitchFamily="2" charset="2"/>
              </a:rPr>
              <a:t>- Context switch is a process ... and restore ... (however, a cost to this is ... time ...)</a:t>
            </a:r>
          </a:p>
          <a:p>
            <a:pPr algn="l"/>
            <a:r>
              <a:rPr lang="en-US" sz="1800">
                <a:sym typeface="Wingdings" pitchFamily="2" charset="2"/>
              </a:rPr>
              <a:t>- Newest OS ... are clever enough to ... the time of ... happening and still make sure that the ... smoothly ...</a:t>
            </a:r>
          </a:p>
          <a:p>
            <a:pPr algn="l"/>
            <a:r>
              <a:rPr lang="en-US" sz="1800">
                <a:sym typeface="Wingdings" pitchFamily="2" charset="2"/>
              </a:rPr>
              <a:t>- Finally, a Thread can be ... or ... if there are other Threads that has ...</a:t>
            </a:r>
          </a:p>
          <a:p>
            <a:pPr algn="l"/>
            <a:r>
              <a:rPr lang="en-US" sz="1800">
                <a:sym typeface="Wingdings" pitchFamily="2" charset="2"/>
              </a:rPr>
              <a:t>- A Thread ... is a ... value linked with the Thread and used by .... to determine which ... In Java, this value is a ...</a:t>
            </a:r>
          </a:p>
          <a:p>
            <a:pPr algn="l"/>
            <a:r>
              <a:rPr lang="en-US" sz="1800" b="1">
                <a:sym typeface="Wingdings" pitchFamily="2" charset="2"/>
              </a:rPr>
              <a:t>Creating A Thread</a:t>
            </a:r>
          </a:p>
          <a:p>
            <a:pPr algn="l"/>
            <a:r>
              <a:rPr lang="en-US" sz="1800">
                <a:sym typeface="Wingdings" pitchFamily="2" charset="2"/>
              </a:rPr>
              <a:t>- The easiest way to assign ... for a ... is to use a ... instance. ... is a FP and doesnt ... or anything ...</a:t>
            </a:r>
          </a:p>
        </p:txBody>
      </p:sp>
      <p:pic>
        <p:nvPicPr>
          <p:cNvPr id="5" name="Picture 4">
            <a:extLst>
              <a:ext uri="{FF2B5EF4-FFF2-40B4-BE49-F238E27FC236}">
                <a16:creationId xmlns:a16="http://schemas.microsoft.com/office/drawing/2014/main" id="{857899AF-7E89-6DE2-5302-1E53CAF24EBE}"/>
              </a:ext>
            </a:extLst>
          </p:cNvPr>
          <p:cNvPicPr>
            <a:picLocks noChangeAspect="1"/>
          </p:cNvPicPr>
          <p:nvPr/>
        </p:nvPicPr>
        <p:blipFill>
          <a:blip r:embed="rId3"/>
          <a:stretch>
            <a:fillRect/>
          </a:stretch>
        </p:blipFill>
        <p:spPr>
          <a:xfrm>
            <a:off x="3092450" y="5472112"/>
            <a:ext cx="6007100" cy="1130300"/>
          </a:xfrm>
          <a:prstGeom prst="rect">
            <a:avLst/>
          </a:prstGeom>
        </p:spPr>
      </p:pic>
    </p:spTree>
    <p:extLst>
      <p:ext uri="{BB962C8B-B14F-4D97-AF65-F5344CB8AC3E}">
        <p14:creationId xmlns:p14="http://schemas.microsoft.com/office/powerpoint/2010/main" val="149079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CF5C3-F639-863E-863B-7EB2D07F246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C5B5B23-4A59-D744-B200-47FC7300F8E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C1837D0-EC26-805D-E000-A2CA7A26FEE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a:t>
            </a:r>
          </a:p>
          <a:p>
            <a:pPr algn="l"/>
            <a:r>
              <a:rPr lang="en-US" sz="1800">
                <a:sym typeface="Wingdings" pitchFamily="2" charset="2"/>
              </a:rPr>
              <a:t>- This code will print ... or ... ? The answer is ...</a:t>
            </a:r>
          </a:p>
          <a:p>
            <a:pPr algn="l"/>
            <a:r>
              <a:rPr lang="en-US" sz="1800">
                <a:sym typeface="Wingdings" pitchFamily="2" charset="2"/>
              </a:rPr>
              <a:t>– Both of the result could ... and depends ...</a:t>
            </a:r>
          </a:p>
          <a:p>
            <a:pPr algn="l"/>
            <a:r>
              <a:rPr lang="en-US" sz="1800">
                <a:sym typeface="Wingdings" pitchFamily="2" charset="2"/>
              </a:rPr>
              <a:t>(code illustration snippet 2)</a:t>
            </a:r>
          </a:p>
          <a:p>
            <a:pPr algn="l"/>
            <a:r>
              <a:rPr lang="en-US" sz="1800">
                <a:sym typeface="Wingdings" pitchFamily="2" charset="2"/>
              </a:rPr>
              <a:t>- The result is ... this is just one of ...</a:t>
            </a:r>
          </a:p>
          <a:p>
            <a:pPr algn="l"/>
            <a:r>
              <a:rPr lang="en-US" sz="1800">
                <a:sym typeface="Wingdings" pitchFamily="2" charset="2"/>
              </a:rPr>
              <a:t>– Note: If we use ... on 3 threads, then one thing is certain is that ... will be on ... and ...</a:t>
            </a:r>
          </a:p>
          <a:p>
            <a:pPr algn="l"/>
            <a:r>
              <a:rPr lang="en-US" sz="1800">
                <a:sym typeface="Wingdings" pitchFamily="2" charset="2"/>
              </a:rPr>
              <a:t>– Other than 3 defined ..., there is another ... which is ... Each Thread is ... and executes ... as something called ... Task </a:t>
            </a:r>
          </a:p>
          <a:p>
            <a:pPr algn="l"/>
            <a:r>
              <a:rPr lang="en-US" sz="1800">
                <a:sym typeface="Wingdings" pitchFamily="2" charset="2"/>
              </a:rPr>
              <a:t>- Asynchronous ... means the thread calls ... threads and doesn't ... for other ...</a:t>
            </a:r>
          </a:p>
          <a:p>
            <a:pPr algn="l"/>
            <a:r>
              <a:rPr lang="en-US" sz="1800">
                <a:sym typeface="Wingdings" pitchFamily="2" charset="2"/>
              </a:rPr>
              <a:t>– The opposite of ... is ..., which means ... for the others then it will ...</a:t>
            </a:r>
          </a:p>
          <a:p>
            <a:pPr algn="l"/>
            <a:r>
              <a:rPr lang="en-US" sz="1800">
                <a:sym typeface="Wingdings" pitchFamily="2" charset="2"/>
              </a:rPr>
              <a:t>– Although the order for ... is ..., the order of ... inside ... still ... (question 2)</a:t>
            </a:r>
          </a:p>
          <a:p>
            <a:pPr algn="l"/>
            <a:r>
              <a:rPr lang="en-US" sz="1800" b="1">
                <a:sym typeface="Wingdings" pitchFamily="2" charset="2"/>
              </a:rPr>
              <a:t>Calling run() instead of start()</a:t>
            </a:r>
          </a:p>
          <a:p>
            <a:pPr algn="l"/>
            <a:r>
              <a:rPr lang="en-US" sz="1800">
                <a:sym typeface="Wingdings" pitchFamily="2" charset="2"/>
              </a:rPr>
              <a:t>- In the exam, we must ... with the code that tries to ... using ... instead of .... Call ... on .../... won't create a .... Although these code ... but there will be no ... on a separate ...</a:t>
            </a:r>
          </a:p>
          <a:p>
            <a:pPr algn="l"/>
            <a:r>
              <a:rPr lang="en-US" sz="1800">
                <a:sym typeface="Wingdings" pitchFamily="2" charset="2"/>
              </a:rPr>
              <a:t>(code illustration snippet 3)</a:t>
            </a:r>
          </a:p>
          <a:p>
            <a:pPr algn="l"/>
            <a:r>
              <a:rPr lang="en-US" sz="1800">
                <a:sym typeface="Wingdings" pitchFamily="2" charset="2"/>
              </a:rPr>
              <a:t>- Different from ..., each line will ... and the next ... The output is ... for every ...</a:t>
            </a:r>
          </a:p>
          <a:p>
            <a:pPr algn="l"/>
            <a:endParaRPr lang="en-US" sz="1800">
              <a:sym typeface="Wingdings" pitchFamily="2" charset="2"/>
            </a:endParaRPr>
          </a:p>
        </p:txBody>
      </p:sp>
    </p:spTree>
    <p:extLst>
      <p:ext uri="{BB962C8B-B14F-4D97-AF65-F5344CB8AC3E}">
        <p14:creationId xmlns:p14="http://schemas.microsoft.com/office/powerpoint/2010/main" val="3241601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9962E-818F-4C99-162D-709060DF7D7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1EA70F-7752-3CF5-F89D-7DB6F565157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6B69CF8-DABD-FCF8-07C8-A501FC10C0E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 to create a ... and its ...</a:t>
            </a:r>
          </a:p>
          <a:p>
            <a:pPr algn="l"/>
            <a:r>
              <a:rPr lang="en-US" sz="1800">
                <a:sym typeface="Wingdings" pitchFamily="2" charset="2"/>
              </a:rPr>
              <a:t>+) Create a ... implementation (or use ... instead) and pass into ... constructor ...</a:t>
            </a:r>
          </a:p>
          <a:p>
            <a:pPr algn="l"/>
            <a:r>
              <a:rPr lang="en-US" sz="1800">
                <a:sym typeface="Wingdings" pitchFamily="2" charset="2"/>
              </a:rPr>
              <a:t>+) Create a ... for ... class and override the ... </a:t>
            </a:r>
          </a:p>
          <a:p>
            <a:pPr algn="l"/>
            <a:r>
              <a:rPr lang="en-US" sz="1800">
                <a:sym typeface="Wingdings" pitchFamily="2" charset="2"/>
              </a:rPr>
              <a:t>- The book priotitizes the ... method because it is easier to ... (... API) and the ... method is used only in ...</a:t>
            </a:r>
          </a:p>
          <a:p>
            <a:pPr algn="l"/>
            <a:r>
              <a:rPr lang="en-US" sz="1800" b="1">
                <a:sym typeface="Wingdings" pitchFamily="2" charset="2"/>
              </a:rPr>
              <a:t>Distingusishing Thread Types</a:t>
            </a:r>
          </a:p>
          <a:p>
            <a:pPr algn="l"/>
            <a:r>
              <a:rPr lang="en-US" sz="1800">
                <a:sym typeface="Wingdings" pitchFamily="2" charset="2"/>
              </a:rPr>
              <a:t>- All Java ... including ... in the books are a ... program since it includes ... thread</a:t>
            </a:r>
          </a:p>
          <a:p>
            <a:pPr algn="l"/>
            <a:r>
              <a:rPr lang="en-US" sz="1800">
                <a:sym typeface="Wingdings" pitchFamily="2" charset="2"/>
              </a:rPr>
              <a:t>– System thread is created by ... and runs on ... of the program (for example, ... is managed by ... thread in JVM)</a:t>
            </a:r>
          </a:p>
          <a:p>
            <a:pPr algn="l"/>
            <a:r>
              <a:rPr lang="en-US" sz="1800">
                <a:sym typeface="Wingdings" pitchFamily="2" charset="2"/>
              </a:rPr>
              <a:t>- ... thread is the thread created by ... to achieve certain .... Most of the program we know only has ... thread, which used to call ... thread ... (for simplicity, we can call this as single...)</a:t>
            </a:r>
          </a:p>
          <a:p>
            <a:pPr algn="l"/>
            <a:r>
              <a:rPr lang="en-US" sz="1800">
                <a:sym typeface="Wingdings" pitchFamily="2" charset="2"/>
              </a:rPr>
              <a:t>- both ... thread and ... thread .. can be ... thread..</a:t>
            </a:r>
          </a:p>
          <a:p>
            <a:pPr algn="l"/>
            <a:r>
              <a:rPr lang="en-US" sz="1800">
                <a:sym typeface="Wingdings" pitchFamily="2" charset="2"/>
              </a:rPr>
              <a:t>– Daemon thread is the thread that allows ... to exit when .. A Java program will ... when there are only ... threads (for example, if ... is the only thread, then ... automatically ...)</a:t>
            </a:r>
          </a:p>
          <a:p>
            <a:pPr algn="l"/>
            <a:r>
              <a:rPr lang="en-US" sz="1800">
                <a:sym typeface="Wingdings" pitchFamily="2" charset="2"/>
              </a:rPr>
              <a:t>(code illustration snippet 4)</a:t>
            </a:r>
          </a:p>
          <a:p>
            <a:pPr algn="l"/>
            <a:r>
              <a:rPr lang="en-US" sz="1800">
                <a:sym typeface="Wingdings" pitchFamily="2" charset="2"/>
              </a:rPr>
              <a:t>- Same as last time, the ... is just one of ...</a:t>
            </a:r>
          </a:p>
          <a:p>
            <a:pPr algn="l"/>
            <a:r>
              <a:rPr lang="en-US" sz="1800">
                <a:sym typeface="Wingdings" pitchFamily="2" charset="2"/>
              </a:rPr>
              <a:t>– If we try to change the ... to ... </a:t>
            </a:r>
          </a:p>
          <a:p>
            <a:pPr algn="l"/>
            <a:r>
              <a:rPr lang="en-US" sz="1800">
                <a:sym typeface="Wingdings" pitchFamily="2" charset="2"/>
              </a:rPr>
              <a:t>(code illustration snippet 5)</a:t>
            </a:r>
          </a:p>
        </p:txBody>
      </p:sp>
    </p:spTree>
    <p:extLst>
      <p:ext uri="{BB962C8B-B14F-4D97-AF65-F5344CB8AC3E}">
        <p14:creationId xmlns:p14="http://schemas.microsoft.com/office/powerpoint/2010/main" val="1348775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A94E2-E054-FB5C-151F-5E939C60A63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C8F4218-1A77-1A60-216B-CC7560BBD92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B17D949-1FF9-D3B0-0070-FBF81E8FEC5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this is ... thread, JVM will ... </a:t>
            </a:r>
          </a:p>
          <a:p>
            <a:pPr algn="l"/>
            <a:r>
              <a:rPr lang="en-US" sz="1800">
                <a:sym typeface="Wingdings" pitchFamily="2" charset="2"/>
              </a:rPr>
              <a:t>- In the exam, just remember that ... # ... and it will ... until ...</a:t>
            </a:r>
          </a:p>
          <a:p>
            <a:pPr algn="l"/>
            <a:r>
              <a:rPr lang="en-US" sz="1800" b="1">
                <a:sym typeface="Wingdings" pitchFamily="2" charset="2"/>
              </a:rPr>
              <a:t>Managing a Thread's Life Cycle</a:t>
            </a:r>
          </a:p>
          <a:p>
            <a:pPr algn="l"/>
            <a:r>
              <a:rPr lang="en-US" sz="1800">
                <a:sym typeface="Wingdings" pitchFamily="2" charset="2"/>
              </a:rPr>
              <a:t>- After a Thread is ..., it will be in ... of the 6 states. We can get its ... by using ...()</a:t>
            </a:r>
          </a:p>
        </p:txBody>
      </p:sp>
      <p:pic>
        <p:nvPicPr>
          <p:cNvPr id="2" name="Picture 1">
            <a:extLst>
              <a:ext uri="{FF2B5EF4-FFF2-40B4-BE49-F238E27FC236}">
                <a16:creationId xmlns:a16="http://schemas.microsoft.com/office/drawing/2014/main" id="{05EEF984-E924-AF94-4FB9-95B29DB52C62}"/>
              </a:ext>
            </a:extLst>
          </p:cNvPr>
          <p:cNvPicPr>
            <a:picLocks noChangeAspect="1"/>
          </p:cNvPicPr>
          <p:nvPr/>
        </p:nvPicPr>
        <p:blipFill>
          <a:blip r:embed="rId3"/>
          <a:stretch>
            <a:fillRect/>
          </a:stretch>
        </p:blipFill>
        <p:spPr>
          <a:xfrm>
            <a:off x="2209800" y="2452251"/>
            <a:ext cx="7772400" cy="3972304"/>
          </a:xfrm>
          <a:prstGeom prst="rect">
            <a:avLst/>
          </a:prstGeom>
        </p:spPr>
      </p:pic>
    </p:spTree>
    <p:extLst>
      <p:ext uri="{BB962C8B-B14F-4D97-AF65-F5344CB8AC3E}">
        <p14:creationId xmlns:p14="http://schemas.microsoft.com/office/powerpoint/2010/main" val="3519646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07B9B-1D45-0293-473B-D4CCC826091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2679FD9-69D0-E7C8-5A43-22BE22D61F4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88E85F0-50E1-85DE-4387-FCB777C653B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Every Thread will be ... with a "..." state. Once we call ..., the thread will move to ... state. However, this doesn't guranteed that the thread is ... or ... (it could be ... or ...)</a:t>
            </a:r>
          </a:p>
          <a:p>
            <a:pPr algn="l"/>
            <a:r>
              <a:rPr lang="en-US" sz="1800">
                <a:sym typeface="Wingdings" pitchFamily="2" charset="2"/>
              </a:rPr>
              <a:t>- Runnable state only means ... can be .... Once the Thread is ... or get ... Exception, the Thread move to the .... state where it has no more ... to do</a:t>
            </a:r>
          </a:p>
          <a:p>
            <a:pPr algn="l"/>
            <a:r>
              <a:rPr lang="en-US" sz="1800">
                <a:sym typeface="Wingdings" pitchFamily="2" charset="2"/>
              </a:rPr>
              <a:t>– When the Thread is on Runnable state, it could also change to ... 3 states where it ....: ...., ..., and ....</a:t>
            </a:r>
          </a:p>
          <a:p>
            <a:pPr algn="l"/>
            <a:r>
              <a:rPr lang="en-US" sz="1800">
                <a:sym typeface="Wingdings" pitchFamily="2" charset="2"/>
              </a:rPr>
              <a:t>– The previous graph shows ... common ... between ... (for example, a thread that is in ...state can be triggered with ...() and a thread that is ... by another ... will exit from time.... state back to ... state</a:t>
            </a:r>
          </a:p>
          <a:p>
            <a:pPr algn="l"/>
            <a:r>
              <a:rPr lang="en-US" sz="1800">
                <a:sym typeface="Wingdings" pitchFamily="2" charset="2"/>
              </a:rPr>
              <a:t>- We will talks about some (but ...) of the ... transisition (wait(), notify(), and join() will not ...). We should not use these ... and should use ... as much as we can (question 3)</a:t>
            </a:r>
          </a:p>
          <a:p>
            <a:pPr algn="l"/>
            <a:r>
              <a:rPr lang="en-US" sz="1800" b="1">
                <a:sym typeface="Wingdings" pitchFamily="2" charset="2"/>
              </a:rPr>
              <a:t>Polling with Sleep</a:t>
            </a:r>
          </a:p>
          <a:p>
            <a:pPr algn="l"/>
            <a:r>
              <a:rPr lang="en-US" sz="1800">
                <a:sym typeface="Wingdings" pitchFamily="2" charset="2"/>
              </a:rPr>
              <a:t>- Although ... program allows us to ... multiple ... at a time ..., but ... must wait for other ... to ... A solution to this ... is to use ...</a:t>
            </a:r>
          </a:p>
          <a:p>
            <a:pPr algn="l"/>
            <a:r>
              <a:rPr lang="en-US" sz="1800">
                <a:sym typeface="Wingdings" pitchFamily="2" charset="2"/>
              </a:rPr>
              <a:t>- Polling is a process of checking ... after ... certain ...</a:t>
            </a:r>
          </a:p>
          <a:p>
            <a:pPr algn="l"/>
            <a:r>
              <a:rPr lang="en-US" sz="1800">
                <a:sym typeface="Wingdings" pitchFamily="2" charset="2"/>
              </a:rPr>
              <a:t>(code illustration snippet 6)</a:t>
            </a:r>
          </a:p>
          <a:p>
            <a:pPr algn="l"/>
            <a:r>
              <a:rPr lang="en-US" sz="1800">
                <a:sym typeface="Wingdings" pitchFamily="2" charset="2"/>
              </a:rPr>
              <a:t>- How many times does ... out ? The answer is ..., it depends ...</a:t>
            </a:r>
          </a:p>
          <a:p>
            <a:pPr algn="l"/>
            <a:r>
              <a:rPr lang="en-US" sz="1800">
                <a:sym typeface="Wingdings" pitchFamily="2" charset="2"/>
              </a:rPr>
              <a:t>– But why does a ... without ... is bad ? Because a thread will always at ... =&gt; ... CPU and run out of ... for other ... </a:t>
            </a:r>
          </a:p>
          <a:p>
            <a:pPr algn="l"/>
            <a:r>
              <a:rPr lang="en-US" sz="1800">
                <a:sym typeface="Wingdings" pitchFamily="2" charset="2"/>
              </a:rPr>
              <a:t>(verification required)</a:t>
            </a:r>
          </a:p>
        </p:txBody>
      </p:sp>
    </p:spTree>
    <p:extLst>
      <p:ext uri="{BB962C8B-B14F-4D97-AF65-F5344CB8AC3E}">
        <p14:creationId xmlns:p14="http://schemas.microsoft.com/office/powerpoint/2010/main" val="357759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EDEF-0235-EF10-651A-FD45B18CB43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F7942B5-EC9B-BD03-BF43-65F6559F141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78CF9E1-7C90-2BC4-D9F8-41B28584802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enhance the ... by using ... to implement ...</a:t>
            </a:r>
          </a:p>
          <a:p>
            <a:pPr algn="l"/>
            <a:r>
              <a:rPr lang="en-US" sz="1800">
                <a:sym typeface="Wingdings" pitchFamily="2" charset="2"/>
              </a:rPr>
              <a:t>(code illustration snippet 7)</a:t>
            </a:r>
          </a:p>
          <a:p>
            <a:pPr algn="l"/>
            <a:r>
              <a:rPr lang="en-US" sz="1800">
                <a:sym typeface="Wingdings" pitchFamily="2" charset="2"/>
              </a:rPr>
              <a:t>- Although it is just a ..., but it is enough for CPU to ... other and instead of .... Notice that the ... thread will change ... state to ... state when ... </a:t>
            </a:r>
          </a:p>
          <a:p>
            <a:pPr algn="l"/>
            <a:r>
              <a:rPr lang="en-US" sz="1800">
                <a:sym typeface="Wingdings" pitchFamily="2" charset="2"/>
              </a:rPr>
              <a:t>- Continue with the question, how many time ... executed ? The answer is ..., it depends on ...</a:t>
            </a:r>
          </a:p>
          <a:p>
            <a:pPr algn="l"/>
            <a:r>
              <a:rPr lang="en-US" sz="1800">
                <a:sym typeface="Wingdings" pitchFamily="2" charset="2"/>
              </a:rPr>
              <a:t>– Although implementing ... will reduce the risk of ... (because CPU ...), it can't gurantee when ... terminate ...</a:t>
            </a:r>
          </a:p>
          <a:p>
            <a:pPr algn="l"/>
            <a:r>
              <a:rPr lang="en-US" sz="1800">
                <a:sym typeface="Wingdings" pitchFamily="2" charset="2"/>
              </a:rPr>
              <a:t>– There will be chances where ... too long and run out of ... =&gt; CPU ... the ... and context switch for other ... =&gt; then it wil restore ... =&gt; keep doing this ... =&gt; multiple execution of ... =&gt; unable to predict ... (verification required)</a:t>
            </a:r>
          </a:p>
          <a:p>
            <a:pPr algn="l"/>
            <a:r>
              <a:rPr lang="en-US" sz="1800">
                <a:sym typeface="Wingdings" pitchFamily="2" charset="2"/>
              </a:rPr>
              <a:t>- Another problem is the ...variable, if another ... tries to ... when other ... tries to .... =&gt; there will be .../... values (questions4,5)</a:t>
            </a:r>
          </a:p>
          <a:p>
            <a:pPr algn="l"/>
            <a:r>
              <a:rPr lang="en-US" sz="1800" b="1">
                <a:sym typeface="Wingdings" pitchFamily="2" charset="2"/>
              </a:rPr>
              <a:t>Interrupting a Thread</a:t>
            </a:r>
          </a:p>
          <a:p>
            <a:pPr algn="l"/>
            <a:r>
              <a:rPr lang="en-US" sz="1800">
                <a:sym typeface="Wingdings" pitchFamily="2" charset="2"/>
              </a:rPr>
              <a:t>- Our previous program can prevent ... too long in ..., but it has a problem, which is ... cost ... 2.1 seconds to ... and it will be 3 seconds because of ... </a:t>
            </a:r>
          </a:p>
          <a:p>
            <a:pPr algn="l"/>
            <a:r>
              <a:rPr lang="en-US" sz="1800">
                <a:sym typeface="Wingdings" pitchFamily="2" charset="2"/>
              </a:rPr>
              <a:t>- A way to stop this is to ... when it's done</a:t>
            </a:r>
          </a:p>
          <a:p>
            <a:pPr algn="l"/>
            <a:r>
              <a:rPr lang="en-US" sz="1800">
                <a:sym typeface="Wingdings" pitchFamily="2" charset="2"/>
              </a:rPr>
              <a:t>(code illustration snippet 8)</a:t>
            </a:r>
          </a:p>
          <a:p>
            <a:pPr algn="l"/>
            <a:r>
              <a:rPr lang="en-US" sz="1800">
                <a:sym typeface="Wingdings" pitchFamily="2" charset="2"/>
              </a:rPr>
              <a:t>- Our improved ... includes ... to prevent ... CPU and ... for the ... thread to ... when it's done. When main() ..., it will change from ... to .... and when the ... thread is done and ... thread is interrupted ..., it will change back from ... to ... and, causing a ... to be triggered ... =&gt; stop the ...</a:t>
            </a:r>
          </a:p>
        </p:txBody>
      </p:sp>
    </p:spTree>
    <p:extLst>
      <p:ext uri="{BB962C8B-B14F-4D97-AF65-F5344CB8AC3E}">
        <p14:creationId xmlns:p14="http://schemas.microsoft.com/office/powerpoint/2010/main" val="415109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808E1-21C9-5BF8-CC48-EB9588187AF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9F469EB-FE25-3985-46C0-E1E9EE5220F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6370A83-01AB-90E2-D7A1-CF68C92E8F7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Call ...() on a thread that is already in ... won't .... In fact, it will change its ... when we periodically call ...is...()</a:t>
            </a:r>
          </a:p>
          <a:p>
            <a:pPr algn="l"/>
            <a:r>
              <a:rPr lang="en-US" sz="1800" b="1">
                <a:sym typeface="Wingdings" pitchFamily="2" charset="2"/>
              </a:rPr>
              <a:t>Creating Threads with the Concurrency API</a:t>
            </a:r>
          </a:p>
          <a:p>
            <a:pPr algn="l"/>
            <a:r>
              <a:rPr lang="en-US" sz="1800">
                <a:sym typeface="Wingdings" pitchFamily="2" charset="2"/>
              </a:rPr>
              <a:t>- Java includes ... packages. This is the Concurrency API. It is used to handle complex ... and managing ... for us</a:t>
            </a:r>
          </a:p>
          <a:p>
            <a:pPr algn="l"/>
            <a:r>
              <a:rPr lang="en-US" sz="1800">
                <a:sym typeface="Wingdings" pitchFamily="2" charset="2"/>
              </a:rPr>
              <a:t>- Concurrency API includes ... interface, which is used to create a ... that creates and ... </a:t>
            </a:r>
          </a:p>
          <a:p>
            <a:pPr algn="l"/>
            <a:r>
              <a:rPr lang="en-US" sz="1800">
                <a:sym typeface="Wingdings" pitchFamily="2" charset="2"/>
              </a:rPr>
              <a:t>- We first must get an instance of ... then we will send ... need to do to ...</a:t>
            </a:r>
          </a:p>
          <a:p>
            <a:pPr algn="l"/>
            <a:r>
              <a:rPr lang="en-US" sz="1800">
                <a:sym typeface="Wingdings" pitchFamily="2" charset="2"/>
              </a:rPr>
              <a:t>- This framework comprises of ... such as thread ..., thread .... We are encouraged to use this ... when ... task ..., even if we are working on single ....</a:t>
            </a:r>
          </a:p>
          <a:p>
            <a:pPr algn="l"/>
            <a:r>
              <a:rPr lang="en-US" sz="1800">
                <a:sym typeface="Wingdings" pitchFamily="2" charset="2"/>
              </a:rPr>
              <a:t>– When working with a multi ... we should use ... instead of ... object directly. These libraries are much more ... and ... and capable of ... complex ...</a:t>
            </a:r>
          </a:p>
          <a:p>
            <a:pPr algn="l"/>
            <a:r>
              <a:rPr lang="en-US" sz="1800" b="1">
                <a:sym typeface="Wingdings" pitchFamily="2" charset="2"/>
              </a:rPr>
              <a:t>Introducing the single-thread executor</a:t>
            </a:r>
          </a:p>
          <a:p>
            <a:pPr algn="l"/>
            <a:r>
              <a:rPr lang="en-US" sz="1800">
                <a:sym typeface="Wingdings" pitchFamily="2" charset="2"/>
              </a:rPr>
              <a:t>- ... is an interface, how can we get the instance of ... The Concurrency API includes ... class that has ... method to get the instance of ...</a:t>
            </a:r>
          </a:p>
          <a:p>
            <a:pPr algn="l"/>
            <a:r>
              <a:rPr lang="en-US" sz="1800">
                <a:sym typeface="Wingdings" pitchFamily="2" charset="2"/>
              </a:rPr>
              <a:t>(code illustration snippet 9)</a:t>
            </a:r>
          </a:p>
          <a:p>
            <a:pPr algn="l"/>
            <a:r>
              <a:rPr lang="en-US" sz="1800">
                <a:sym typeface="Wingdings" pitchFamily="2" charset="2"/>
              </a:rPr>
              <a:t>- In this example, we implemented ... to create a Service. Differ from the last example, this time we only have ... thread (... and ...). However, the output is still ... but it will have less ... than ...</a:t>
            </a:r>
          </a:p>
          <a:p>
            <a:pPr algn="l"/>
            <a:r>
              <a:rPr lang="en-US" sz="1800">
                <a:sym typeface="Wingdings" pitchFamily="2" charset="2"/>
              </a:rPr>
              <a:t>- Notice that the tasks are not ... anymore. With ..., tasks will certainly be ... in order and only ... thread will ... </a:t>
            </a:r>
          </a:p>
        </p:txBody>
      </p:sp>
    </p:spTree>
    <p:extLst>
      <p:ext uri="{BB962C8B-B14F-4D97-AF65-F5344CB8AC3E}">
        <p14:creationId xmlns:p14="http://schemas.microsoft.com/office/powerpoint/2010/main" val="1110775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D42AE-DE84-0482-0DFD-83FDB58F173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17A293F-B9A5-5DB5-A075-CB70B1C330E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F66CA458-CA72-E6AE-2642-61BF34C18E4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Shutting down a Thread Executor</a:t>
            </a:r>
          </a:p>
          <a:p>
            <a:pPr algn="l"/>
            <a:r>
              <a:rPr lang="en-US" sz="1800">
                <a:sym typeface="Wingdings" pitchFamily="2" charset="2"/>
              </a:rPr>
              <a:t>- Once we finish with ..., there is an important ... must do ... is ... the Executor... </a:t>
            </a:r>
          </a:p>
          <a:p>
            <a:pPr algn="l"/>
            <a:r>
              <a:rPr lang="en-US" sz="1800">
                <a:sym typeface="Wingdings" pitchFamily="2" charset="2"/>
              </a:rPr>
              <a:t>- A .... will create a non-... thread, and if we don't ..., then the program will ...</a:t>
            </a:r>
          </a:p>
          <a:p>
            <a:pPr algn="l"/>
            <a:r>
              <a:rPr lang="en-US" sz="1800">
                <a:sym typeface="Wingdings" pitchFamily="2" charset="2"/>
              </a:rPr>
              <a:t>– The process of ... the Executor is:</a:t>
            </a:r>
          </a:p>
          <a:p>
            <a:pPr algn="l"/>
            <a:r>
              <a:rPr lang="en-US" sz="1800">
                <a:sym typeface="Wingdings" pitchFamily="2" charset="2"/>
              </a:rPr>
              <a:t>+) First, ... any tasks that ... new ...</a:t>
            </a:r>
          </a:p>
          <a:p>
            <a:pPr algn="l"/>
            <a:r>
              <a:rPr lang="en-US" sz="1800">
                <a:sym typeface="Wingdings" pitchFamily="2" charset="2"/>
              </a:rPr>
              <a:t>+) Meanwhile, ... last ... running ... (during this stage, calling ... true and ... false)</a:t>
            </a:r>
          </a:p>
          <a:p>
            <a:pPr algn="l"/>
            <a:r>
              <a:rPr lang="en-US" sz="1800">
                <a:sym typeface="Wingdings" pitchFamily="2" charset="2"/>
              </a:rPr>
              <a:t>+) If any tasks that ... during ..., ... RejectedExecutionException ...</a:t>
            </a:r>
          </a:p>
          <a:p>
            <a:pPr algn="l"/>
            <a:r>
              <a:rPr lang="en-US" sz="1800">
                <a:sym typeface="Wingdings" pitchFamily="2" charset="2"/>
              </a:rPr>
              <a:t>+) When all ... the call for ... and ... true </a:t>
            </a:r>
          </a:p>
        </p:txBody>
      </p:sp>
      <p:pic>
        <p:nvPicPr>
          <p:cNvPr id="2" name="Picture 1">
            <a:extLst>
              <a:ext uri="{FF2B5EF4-FFF2-40B4-BE49-F238E27FC236}">
                <a16:creationId xmlns:a16="http://schemas.microsoft.com/office/drawing/2014/main" id="{B4A42DC0-D906-6B45-1CE2-AE42444EE8C0}"/>
              </a:ext>
            </a:extLst>
          </p:cNvPr>
          <p:cNvPicPr>
            <a:picLocks noChangeAspect="1"/>
          </p:cNvPicPr>
          <p:nvPr/>
        </p:nvPicPr>
        <p:blipFill>
          <a:blip r:embed="rId3"/>
          <a:stretch>
            <a:fillRect/>
          </a:stretch>
        </p:blipFill>
        <p:spPr>
          <a:xfrm>
            <a:off x="4145478" y="3429000"/>
            <a:ext cx="7772400" cy="3321724"/>
          </a:xfrm>
          <a:prstGeom prst="rect">
            <a:avLst/>
          </a:prstGeom>
        </p:spPr>
      </p:pic>
    </p:spTree>
    <p:extLst>
      <p:ext uri="{BB962C8B-B14F-4D97-AF65-F5344CB8AC3E}">
        <p14:creationId xmlns:p14="http://schemas.microsoft.com/office/powerpoint/2010/main" val="56825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6BFF6-0C44-6C6E-7A04-343DA83E883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79C0A27-1BA6-F80E-60A3-4319FB315B5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44C9C48B-2C76-5309-E4EA-AE723B0836F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the exam, we must remember that ...() won't ... submitted ... for the ... before the ...</a:t>
            </a:r>
          </a:p>
          <a:p>
            <a:pPr algn="l"/>
            <a:r>
              <a:rPr lang="en-US" sz="1800">
                <a:sym typeface="Wingdings" pitchFamily="2" charset="2"/>
              </a:rPr>
              <a:t>- If we really want to ..., we can call ...Now(), this guy will try to stop ... current... and reject all ... submitted but not ...</a:t>
            </a:r>
          </a:p>
          <a:p>
            <a:pPr algn="l"/>
            <a:r>
              <a:rPr lang="en-US" sz="1800">
                <a:sym typeface="Wingdings" pitchFamily="2" charset="2"/>
              </a:rPr>
              <a:t>– There will be chances that this guy won't ... because we can create a ... thread that's ... =&gt; Any ... will be ignored ...</a:t>
            </a:r>
          </a:p>
          <a:p>
            <a:pPr algn="l"/>
            <a:r>
              <a:rPr lang="en-US" sz="1800">
                <a:sym typeface="Wingdings" pitchFamily="2" charset="2"/>
              </a:rPr>
              <a:t>- As we studied in chapter 11, resources like ... must be properly ... to prevent a ... However, such ... aren't implementing ... interface =&gt; try ... can't be used ... but we have to use try ....  Although this is ..., we are recommended to ...</a:t>
            </a:r>
          </a:p>
          <a:p>
            <a:pPr algn="l"/>
            <a:r>
              <a:rPr lang="en-US" sz="1800" b="1">
                <a:sym typeface="Wingdings" pitchFamily="2" charset="2"/>
              </a:rPr>
              <a:t>Submitting Tasks</a:t>
            </a:r>
          </a:p>
          <a:p>
            <a:pPr algn="l"/>
            <a:r>
              <a:rPr lang="en-US" sz="1800">
                <a:sym typeface="Wingdings" pitchFamily="2" charset="2"/>
              </a:rPr>
              <a:t>- We can submit a ... to ... Service though many ... </a:t>
            </a:r>
          </a:p>
          <a:p>
            <a:pPr algn="l"/>
            <a:r>
              <a:rPr lang="en-US" sz="1800">
                <a:sym typeface="Wingdings" pitchFamily="2" charset="2"/>
              </a:rPr>
              <a:t>- The first way is ... which we presented.... The method ... is ... Executor interface ... (which also the interface that the ... inherited ...). This method accepts 1 ... task and complete ... asynchronously ... Because ... method doesn't ... anything, it doesnt tell us anything about .... of the execution</a:t>
            </a:r>
          </a:p>
          <a:p>
            <a:pPr algn="l"/>
            <a:r>
              <a:rPr lang="en-US" sz="1800">
                <a:sym typeface="Wingdings" pitchFamily="2" charset="2"/>
              </a:rPr>
              <a:t>- This is a type of "fire-and-forget" ...</a:t>
            </a:r>
          </a:p>
          <a:p>
            <a:pPr algn="l"/>
            <a:r>
              <a:rPr lang="en-US" sz="1800">
                <a:sym typeface="Wingdings" pitchFamily="2" charset="2"/>
              </a:rPr>
              <a:t>– Luckily, JDK devs included another ... called ...() for ... interface. It looks like ...() but it return something called ... instance, which is used to determine whether ... or not ...</a:t>
            </a:r>
          </a:p>
          <a:p>
            <a:pPr algn="l"/>
            <a:r>
              <a:rPr lang="en-US" sz="1800">
                <a:sym typeface="Wingdings" pitchFamily="2" charset="2"/>
              </a:rPr>
              <a:t>– It also used to return ... after completion ...</a:t>
            </a:r>
          </a:p>
        </p:txBody>
      </p:sp>
    </p:spTree>
    <p:extLst>
      <p:ext uri="{BB962C8B-B14F-4D97-AF65-F5344CB8AC3E}">
        <p14:creationId xmlns:p14="http://schemas.microsoft.com/office/powerpoint/2010/main" val="1441031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5C957-46C7-9473-1DFC-82C74FA1DFA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1355BD5-CB08-6A0E-3DCA-9F09D32FC2E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EC857BD-44D6-09D1-811B-2934B64EAD0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A00F7BA1-7475-0A28-39EF-7154FE79DADA}"/>
              </a:ext>
            </a:extLst>
          </p:cNvPr>
          <p:cNvPicPr>
            <a:picLocks noChangeAspect="1"/>
          </p:cNvPicPr>
          <p:nvPr/>
        </p:nvPicPr>
        <p:blipFill>
          <a:blip r:embed="rId3"/>
          <a:stretch>
            <a:fillRect/>
          </a:stretch>
        </p:blipFill>
        <p:spPr>
          <a:xfrm>
            <a:off x="2209800" y="992875"/>
            <a:ext cx="7772400" cy="4872250"/>
          </a:xfrm>
          <a:prstGeom prst="rect">
            <a:avLst/>
          </a:prstGeom>
        </p:spPr>
      </p:pic>
      <p:sp>
        <p:nvSpPr>
          <p:cNvPr id="5" name="Rectangle 4">
            <a:extLst>
              <a:ext uri="{FF2B5EF4-FFF2-40B4-BE49-F238E27FC236}">
                <a16:creationId xmlns:a16="http://schemas.microsoft.com/office/drawing/2014/main" id="{28625AE0-BE5F-55A0-BBC3-1BE591CE1719}"/>
              </a:ext>
            </a:extLst>
          </p:cNvPr>
          <p:cNvSpPr/>
          <p:nvPr/>
        </p:nvSpPr>
        <p:spPr>
          <a:xfrm>
            <a:off x="5747657" y="1935678"/>
            <a:ext cx="4132613" cy="36932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583216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9E969-6B48-227F-3176-8CDCC8D662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D941C2-B280-FD0A-B2CD-E4BE532730C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523FAD5B-6984-809B-729F-39119FF066C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both ...() and ...() are almost identical. When used with ..., ...() obviously has more advantage than ...() because it returns ... used to monitor ... while ...() doesn't ...</a:t>
            </a:r>
          </a:p>
          <a:p>
            <a:pPr algn="l"/>
            <a:r>
              <a:rPr lang="en-US" sz="1800">
                <a:sym typeface="Wingdings" pitchFamily="2" charset="2"/>
              </a:rPr>
              <a:t>– That's why people like ...() than ...()</a:t>
            </a:r>
          </a:p>
          <a:p>
            <a:pPr algn="l"/>
            <a:r>
              <a:rPr lang="en-US" sz="1800" b="1">
                <a:sym typeface="Wingdings" pitchFamily="2" charset="2"/>
              </a:rPr>
              <a:t>Waiting for Results</a:t>
            </a:r>
          </a:p>
          <a:p>
            <a:pPr algn="l"/>
            <a:r>
              <a:rPr lang="en-US" sz="1800">
                <a:sym typeface="Wingdings" pitchFamily="2" charset="2"/>
              </a:rPr>
              <a:t>- How can we know when ... submitted to ... is completed ? As we mentioned that submit() returns a ... instance that can be used to ... result ..</a:t>
            </a:r>
          </a:p>
          <a:p>
            <a:pPr algn="l"/>
            <a:r>
              <a:rPr lang="en-US" sz="1800">
                <a:sym typeface="Wingdings" pitchFamily="2" charset="2"/>
              </a:rPr>
              <a:t>– Future type is a .... In the exam, we don't need to know about its ..., we just need to know that ... type is returned by many .... API ...</a:t>
            </a:r>
          </a:p>
          <a:p>
            <a:pPr algn="l"/>
            <a:r>
              <a:rPr lang="en-US" sz="1800">
                <a:sym typeface="Wingdings" pitchFamily="2" charset="2"/>
              </a:rPr>
              <a:t>- The table shows some method to ...</a:t>
            </a:r>
          </a:p>
          <a:p>
            <a:pPr algn="l"/>
            <a:endParaRPr lang="en-US" sz="1800">
              <a:sym typeface="Wingdings" pitchFamily="2" charset="2"/>
            </a:endParaRPr>
          </a:p>
        </p:txBody>
      </p:sp>
    </p:spTree>
    <p:extLst>
      <p:ext uri="{BB962C8B-B14F-4D97-AF65-F5344CB8AC3E}">
        <p14:creationId xmlns:p14="http://schemas.microsoft.com/office/powerpoint/2010/main" val="353724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AB599-AB7F-A27A-AC75-1F1C8F9FD69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FE811CB-87CE-09A0-166B-70C7E126C4B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4E5AB21-B96D-76FC-B1BC-1451FA39EBF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C8CF7D60-ACB4-A2EA-C097-BCAA1B461397}"/>
              </a:ext>
            </a:extLst>
          </p:cNvPr>
          <p:cNvPicPr>
            <a:picLocks noChangeAspect="1"/>
          </p:cNvPicPr>
          <p:nvPr/>
        </p:nvPicPr>
        <p:blipFill>
          <a:blip r:embed="rId3"/>
          <a:stretch>
            <a:fillRect/>
          </a:stretch>
        </p:blipFill>
        <p:spPr>
          <a:xfrm>
            <a:off x="2209800" y="1384154"/>
            <a:ext cx="7772400" cy="4089691"/>
          </a:xfrm>
          <a:prstGeom prst="rect">
            <a:avLst/>
          </a:prstGeom>
        </p:spPr>
      </p:pic>
      <p:sp>
        <p:nvSpPr>
          <p:cNvPr id="5" name="Rectangle 4">
            <a:extLst>
              <a:ext uri="{FF2B5EF4-FFF2-40B4-BE49-F238E27FC236}">
                <a16:creationId xmlns:a16="http://schemas.microsoft.com/office/drawing/2014/main" id="{6EF00982-8654-9315-780F-38291F9F5BC4}"/>
              </a:ext>
            </a:extLst>
          </p:cNvPr>
          <p:cNvSpPr/>
          <p:nvPr/>
        </p:nvSpPr>
        <p:spPr>
          <a:xfrm>
            <a:off x="4750130" y="2363190"/>
            <a:ext cx="4762005" cy="28975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8657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12F0B-1AF3-AF99-92A0-3409103ADB0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BFCE86-B2A6-C1D1-6BCA-9A75EAFB1E9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98EB7A99-AAC3-2C7E-C5C5-233629F0B73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10)</a:t>
            </a:r>
          </a:p>
          <a:p>
            <a:pPr algn="l"/>
            <a:r>
              <a:rPr lang="en-US" sz="1800">
                <a:sym typeface="Wingdings" pitchFamily="2" charset="2"/>
              </a:rPr>
              <a:t>- This is the same as ... polling ... but not using ... class. This is the essence of ... API, where it is used to handle ... tasks and we don't need to ... directly ... </a:t>
            </a:r>
          </a:p>
          <a:p>
            <a:pPr algn="l"/>
            <a:r>
              <a:rPr lang="en-US" sz="1800">
                <a:sym typeface="Wingdings" pitchFamily="2" charset="2"/>
              </a:rPr>
              <a:t>- This code also ... before it throws ... </a:t>
            </a:r>
          </a:p>
          <a:p>
            <a:pPr algn="l"/>
            <a:r>
              <a:rPr lang="en-US" sz="1800">
                <a:sym typeface="Wingdings" pitchFamily="2" charset="2"/>
              </a:rPr>
              <a:t>- What is the return value of this task ? Because ... is a generic .., the type V is determined by the Runnable method. Since Runnable ... has return type ... =&gt; the ...() method will always ... null ...</a:t>
            </a:r>
          </a:p>
          <a:p>
            <a:pPr algn="l"/>
            <a:r>
              <a:rPr lang="en-US" sz="1800">
                <a:sym typeface="Wingdings" pitchFamily="2" charset="2"/>
              </a:rPr>
              <a:t>– The ...() method also accept 2 optionals ... which is ... and ... for ... and ...</a:t>
            </a:r>
          </a:p>
          <a:p>
            <a:pPr algn="l"/>
            <a:r>
              <a:rPr lang="en-US" sz="1800">
                <a:sym typeface="Wingdings" pitchFamily="2" charset="2"/>
              </a:rPr>
              <a:t>– We must know the ... enum because ... API uses it</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0E859E22-45F0-445B-30F1-C7030025944E}"/>
              </a:ext>
            </a:extLst>
          </p:cNvPr>
          <p:cNvPicPr>
            <a:picLocks noChangeAspect="1"/>
          </p:cNvPicPr>
          <p:nvPr/>
        </p:nvPicPr>
        <p:blipFill>
          <a:blip r:embed="rId3"/>
          <a:stretch>
            <a:fillRect/>
          </a:stretch>
        </p:blipFill>
        <p:spPr>
          <a:xfrm>
            <a:off x="2557489" y="3653868"/>
            <a:ext cx="6412989" cy="2986644"/>
          </a:xfrm>
          <a:prstGeom prst="rect">
            <a:avLst/>
          </a:prstGeom>
        </p:spPr>
      </p:pic>
    </p:spTree>
    <p:extLst>
      <p:ext uri="{BB962C8B-B14F-4D97-AF65-F5344CB8AC3E}">
        <p14:creationId xmlns:p14="http://schemas.microsoft.com/office/powerpoint/2010/main" val="139347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5306-F926-2A89-9EC6-2D492B21E8D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B1ED097-73C2-7E43-9883-073BB2C0624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7CA60BF6-906B-EB56-D576-160980A5C31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Introducing Callable</a:t>
            </a:r>
          </a:p>
          <a:p>
            <a:pPr algn="l"/>
            <a:r>
              <a:rPr lang="en-US" sz="1800">
                <a:sym typeface="Wingdings" pitchFamily="2" charset="2"/>
              </a:rPr>
              <a:t>- ... interface is a FP and looks the same with ... interface, except the fact that ... it does ... a value and throws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FC73604A-67DA-C329-69BE-0DA3B1C03CA2}"/>
              </a:ext>
            </a:extLst>
          </p:cNvPr>
          <p:cNvPicPr>
            <a:picLocks noChangeAspect="1"/>
          </p:cNvPicPr>
          <p:nvPr/>
        </p:nvPicPr>
        <p:blipFill>
          <a:blip r:embed="rId3"/>
          <a:stretch>
            <a:fillRect/>
          </a:stretch>
        </p:blipFill>
        <p:spPr>
          <a:xfrm>
            <a:off x="2959100" y="2012126"/>
            <a:ext cx="6273800" cy="1028700"/>
          </a:xfrm>
          <a:prstGeom prst="rect">
            <a:avLst/>
          </a:prstGeom>
        </p:spPr>
      </p:pic>
    </p:spTree>
    <p:extLst>
      <p:ext uri="{BB962C8B-B14F-4D97-AF65-F5344CB8AC3E}">
        <p14:creationId xmlns:p14="http://schemas.microsoft.com/office/powerpoint/2010/main" val="2301778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E3306-CA1A-005D-64B8-8F1867F328E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5FB77A-A903-BAEA-7539-16AB4D1455F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A11286D-6CA9-98B3-2B86-4DB371487779}"/>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Callable interface is usually ... than ... because it returns ... easier ... when a task ... </a:t>
            </a:r>
          </a:p>
          <a:p>
            <a:pPr algn="l"/>
            <a:r>
              <a:rPr lang="en-US" sz="1800">
                <a:sym typeface="Wingdings" pitchFamily="2" charset="2"/>
              </a:rPr>
              <a:t>- Even if so, we still use ... of ... and it can be interchangable in case where lambda doesn't throws ... and doesn't have ... type</a:t>
            </a:r>
          </a:p>
          <a:p>
            <a:pPr algn="l"/>
            <a:r>
              <a:rPr lang="en-US" sz="1800">
                <a:sym typeface="Wingdings" pitchFamily="2" charset="2"/>
              </a:rPr>
              <a:t>– Luckily, ExecutorService includes ... version for ...() which recieves a .... and returns ... instance ...</a:t>
            </a:r>
          </a:p>
          <a:p>
            <a:pPr algn="l"/>
            <a:r>
              <a:rPr lang="en-US" sz="1800">
                <a:sym typeface="Wingdings" pitchFamily="2" charset="2"/>
              </a:rPr>
              <a:t>- Differ from Runnable, where it always .... then ...get() will return a generic type (and also have a chances of returning ...)</a:t>
            </a:r>
          </a:p>
          <a:p>
            <a:pPr algn="l"/>
            <a:r>
              <a:rPr lang="en-US" sz="1800">
                <a:sym typeface="Wingdings" pitchFamily="2" charset="2"/>
              </a:rPr>
              <a:t>(code illustration snippet 11) </a:t>
            </a:r>
          </a:p>
          <a:p>
            <a:pPr algn="l"/>
            <a:r>
              <a:rPr lang="en-US" sz="1800">
                <a:sym typeface="Wingdings" pitchFamily="2" charset="2"/>
              </a:rPr>
              <a:t>- We can rewrite the code using ..., shared ..., interrupted and ... wait, but this code is far more ... and ... to understand... Basically, this is why ... API is born – to write the code that is ..., ..., and ...</a:t>
            </a:r>
          </a:p>
          <a:p>
            <a:pPr algn="l"/>
            <a:r>
              <a:rPr lang="en-US" sz="1800" b="1">
                <a:sym typeface="Wingdings" pitchFamily="2" charset="2"/>
              </a:rPr>
              <a:t>Waiting for all tasks to finish</a:t>
            </a:r>
            <a:endParaRPr lang="en-US" sz="1800">
              <a:sym typeface="Wingdings" pitchFamily="2" charset="2"/>
            </a:endParaRPr>
          </a:p>
          <a:p>
            <a:pPr algn="l"/>
            <a:r>
              <a:rPr lang="en-US" sz="1800">
                <a:sym typeface="Wingdings" pitchFamily="2" charset="2"/>
              </a:rPr>
              <a:t>- After ... a set of tasks to ..., what we usually do is wait ... Like the last example, we have called ... on ... instance to get ... If we don't need the ... and done of using ..., we have a simpler ... </a:t>
            </a:r>
          </a:p>
          <a:p>
            <a:pPr algn="l"/>
            <a:r>
              <a:rPr lang="en-US" sz="1800">
                <a:sym typeface="Wingdings" pitchFamily="2" charset="2"/>
              </a:rPr>
              <a:t>- First, we shutdown the ... using ...(), and then use the ...() method that is available to all ... This method will ... for a ... time for all ... tasks. This method will return ... if all ... or ... throws ...</a:t>
            </a:r>
          </a:p>
          <a:p>
            <a:pPr algn="l"/>
            <a:r>
              <a:rPr lang="en-US" sz="1800">
                <a:sym typeface="Wingdings" pitchFamily="2" charset="2"/>
              </a:rPr>
              <a:t>(code illustration snippet 12)</a:t>
            </a:r>
          </a:p>
          <a:p>
            <a:pPr algn="l"/>
            <a:r>
              <a:rPr lang="en-US" sz="1800">
                <a:sym typeface="Wingdings" pitchFamily="2" charset="2"/>
              </a:rPr>
              <a:t>(question 6)</a:t>
            </a:r>
          </a:p>
          <a:p>
            <a:pPr algn="l"/>
            <a:r>
              <a:rPr lang="en-US" sz="1800" b="1">
                <a:sym typeface="Wingdings" pitchFamily="2" charset="2"/>
              </a:rPr>
              <a:t>Scheduling Tasks</a:t>
            </a:r>
          </a:p>
          <a:p>
            <a:pPr algn="l"/>
            <a:r>
              <a:rPr lang="en-US" sz="1800">
                <a:sym typeface="Wingdings" pitchFamily="2" charset="2"/>
              </a:rPr>
              <a:t>- Normally in Java, we need to schedule a ... somewhere in the future. We even have to make a task that ... period ... in a time ... (for example, in zoo, we have to check daily the food for the ...) </a:t>
            </a:r>
          </a:p>
        </p:txBody>
      </p:sp>
    </p:spTree>
    <p:extLst>
      <p:ext uri="{BB962C8B-B14F-4D97-AF65-F5344CB8AC3E}">
        <p14:creationId xmlns:p14="http://schemas.microsoft.com/office/powerpoint/2010/main" val="82127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1A715-DCE5-5CD5-4C67-F5BA3A53AD5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A707F92-5DBF-D2D3-0C17-077F65F7BEA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4AD77D6-5876-CD82-F722-60F3C76BC39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have something called ..., an sub... of .... Like ..., we can use ... method from ... class to get an instance of ... interface ... </a:t>
            </a:r>
          </a:p>
          <a:p>
            <a:pPr algn="l"/>
            <a:r>
              <a:rPr lang="en-US" sz="1800">
                <a:sym typeface="Wingdings" pitchFamily="2" charset="2"/>
              </a:rPr>
              <a:t>(code illustration snippet 13)</a:t>
            </a:r>
          </a:p>
          <a:p>
            <a:pPr algn="l"/>
            <a:r>
              <a:rPr lang="en-US" sz="1800">
                <a:sym typeface="Wingdings" pitchFamily="2" charset="2"/>
              </a:rPr>
              <a:t>- We can store the ... instance in ..., but obviously we will need to ...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AA4D456F-D905-D7D8-ABBD-B0E6E771074E}"/>
              </a:ext>
            </a:extLst>
          </p:cNvPr>
          <p:cNvPicPr>
            <a:picLocks noChangeAspect="1"/>
          </p:cNvPicPr>
          <p:nvPr/>
        </p:nvPicPr>
        <p:blipFill>
          <a:blip r:embed="rId3"/>
          <a:stretch>
            <a:fillRect/>
          </a:stretch>
        </p:blipFill>
        <p:spPr>
          <a:xfrm>
            <a:off x="2209800" y="2323203"/>
            <a:ext cx="7772400" cy="3714059"/>
          </a:xfrm>
          <a:prstGeom prst="rect">
            <a:avLst/>
          </a:prstGeom>
        </p:spPr>
      </p:pic>
      <p:sp>
        <p:nvSpPr>
          <p:cNvPr id="5" name="Rectangle 4">
            <a:extLst>
              <a:ext uri="{FF2B5EF4-FFF2-40B4-BE49-F238E27FC236}">
                <a16:creationId xmlns:a16="http://schemas.microsoft.com/office/drawing/2014/main" id="{1B7F7679-161E-2C06-459B-E601AD4AA8F3}"/>
              </a:ext>
            </a:extLst>
          </p:cNvPr>
          <p:cNvSpPr/>
          <p:nvPr/>
        </p:nvSpPr>
        <p:spPr>
          <a:xfrm>
            <a:off x="5763984" y="2838203"/>
            <a:ext cx="4068785" cy="3063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197125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61CF7-5E22-0F56-1E4F-E0952D316A9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63D8D88-D00E-CBE1-AEFF-98158DE168A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1069D34-7B3F-3E70-54AC-9E841B32862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real life, these are ... most ... in ... API because it ... complex in just a .... Delay and period all use ... enum as a ... (question 7)</a:t>
            </a:r>
          </a:p>
          <a:p>
            <a:pPr algn="l"/>
            <a:r>
              <a:rPr lang="en-US" sz="1800">
                <a:sym typeface="Wingdings" pitchFamily="2" charset="2"/>
              </a:rPr>
              <a:t>- 2 method ...() recieve ... or ... and execute after .... The ... also the same but after the previous ... + a ...</a:t>
            </a:r>
          </a:p>
          <a:p>
            <a:pPr algn="l"/>
            <a:r>
              <a:rPr lang="en-US" sz="1800">
                <a:sym typeface="Wingdings" pitchFamily="2" charset="2"/>
              </a:rPr>
              <a:t>(code illustration snippet 14)</a:t>
            </a:r>
          </a:p>
          <a:p>
            <a:pPr algn="l"/>
            <a:r>
              <a:rPr lang="en-US" sz="1800">
                <a:sym typeface="Wingdings" pitchFamily="2" charset="2"/>
              </a:rPr>
              <a:t>- Meanwhile these tasks looks like they are ... in the ... The execution of ... could be ... (for example, run out of available ... =&gt; wait in ...). Moreover, if the service is ... then ... running will ... and all tasks that are ... will be ... </a:t>
            </a:r>
          </a:p>
          <a:p>
            <a:pPr algn="l"/>
            <a:r>
              <a:rPr lang="en-US" sz="1800">
                <a:sym typeface="Wingdings" pitchFamily="2" charset="2"/>
              </a:rPr>
              <a:t>- Each method in ... are all important and serves different ...(for example: checking the cages in zoo regularly, could send noti or schedule another ..)</a:t>
            </a:r>
          </a:p>
          <a:p>
            <a:pPr algn="l"/>
            <a:r>
              <a:rPr lang="en-US" sz="1800">
                <a:sym typeface="Wingdings" pitchFamily="2" charset="2"/>
              </a:rPr>
              <a:t>- scheduledAtFixedRate() ...</a:t>
            </a:r>
          </a:p>
          <a:p>
            <a:pPr algn="l"/>
            <a:r>
              <a:rPr lang="en-US" sz="1800">
                <a:sym typeface="Wingdings" pitchFamily="2" charset="2"/>
              </a:rPr>
              <a:t>- scheduledAtFixedDelay() ...</a:t>
            </a:r>
          </a:p>
          <a:p>
            <a:pPr algn="l"/>
            <a:r>
              <a:rPr lang="en-US" sz="1800">
                <a:sym typeface="Wingdings" pitchFamily="2" charset="2"/>
              </a:rPr>
              <a:t>– Some bad things could happen with scheduledAtFixedRate() if all tasks take .... than the delay (image this looks like a boss always ... at us ... each minute while we took 5 mins for each ... =&gt; soon enough, we will be ...). Executor will face the same thing, we just need enough time. The program will submit ... enough ... =&gt; program ...</a:t>
            </a:r>
          </a:p>
          <a:p>
            <a:pPr algn="l"/>
            <a:r>
              <a:rPr lang="en-US" sz="1800">
                <a:sym typeface="Wingdings" pitchFamily="2" charset="2"/>
              </a:rPr>
              <a:t>- scheduledAtFixedDelay() is useful when ... daily ... but ... is not important ... (for example, a grocery store could runout of ... and ... 20 minutes to ..., however, we don't need to know when ... again, we just need to know that when it is ..., we need to refill)</a:t>
            </a:r>
          </a:p>
          <a:p>
            <a:pPr algn="l"/>
            <a:endParaRPr lang="en-US" sz="1800" b="1">
              <a:sym typeface="Wingdings" pitchFamily="2" charset="2"/>
            </a:endParaRPr>
          </a:p>
        </p:txBody>
      </p:sp>
    </p:spTree>
    <p:extLst>
      <p:ext uri="{BB962C8B-B14F-4D97-AF65-F5344CB8AC3E}">
        <p14:creationId xmlns:p14="http://schemas.microsoft.com/office/powerpoint/2010/main" val="2739589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6B5AB-602F-2E9C-74BE-E9B0805CE5B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51942B7-172A-5F8D-F9AE-5B6A346C3F5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19DFF20D-4DAB-98DB-CD15-832EDEBAD0E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Increasing Concurrency with Pools</a:t>
            </a:r>
          </a:p>
          <a:p>
            <a:pPr algn="l"/>
            <a:r>
              <a:rPr lang="en-US" sz="1800">
                <a:sym typeface="Wingdings" pitchFamily="2" charset="2"/>
              </a:rPr>
              <a:t>- Until now, we are just working with single .... After all, "Concurrency" is the main topic of this chapter and we can't ... if we working with single ...</a:t>
            </a:r>
          </a:p>
          <a:p>
            <a:pPr algn="l"/>
            <a:r>
              <a:rPr lang="en-US" sz="1800">
                <a:sym typeface="Wingdings" pitchFamily="2" charset="2"/>
              </a:rPr>
              <a:t>– Now we will introduce you with 3 new methods in ... class that works with ... pool ....</a:t>
            </a:r>
          </a:p>
          <a:p>
            <a:pPr algn="l"/>
            <a:r>
              <a:rPr lang="en-US" sz="1800">
                <a:sym typeface="Wingdings" pitchFamily="2" charset="2"/>
              </a:rPr>
              <a:t>- Thread pool is a set of ..., and ... threads, ready to execute ... (check question 8 note on next slide)</a:t>
            </a:r>
          </a:p>
          <a:p>
            <a:pPr algn="l"/>
            <a:endParaRPr lang="en-US" sz="1800">
              <a:sym typeface="Wingdings" pitchFamily="2" charset="2"/>
            </a:endParaRPr>
          </a:p>
        </p:txBody>
      </p:sp>
    </p:spTree>
    <p:extLst>
      <p:ext uri="{BB962C8B-B14F-4D97-AF65-F5344CB8AC3E}">
        <p14:creationId xmlns:p14="http://schemas.microsoft.com/office/powerpoint/2010/main" val="1123583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B49EC0-225A-7834-2778-CD39FB0A06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D01A230-5BEE-47C4-19CC-ED5AAA38454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379832D7-3388-ADE6-F3BE-7AFE344715A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7137238F-C7D8-8322-578E-300A82D532C1}"/>
              </a:ext>
            </a:extLst>
          </p:cNvPr>
          <p:cNvPicPr>
            <a:picLocks noChangeAspect="1"/>
          </p:cNvPicPr>
          <p:nvPr/>
        </p:nvPicPr>
        <p:blipFill>
          <a:blip r:embed="rId3"/>
          <a:stretch>
            <a:fillRect/>
          </a:stretch>
        </p:blipFill>
        <p:spPr>
          <a:xfrm>
            <a:off x="1821202" y="851796"/>
            <a:ext cx="8549595" cy="5154408"/>
          </a:xfrm>
          <a:prstGeom prst="rect">
            <a:avLst/>
          </a:prstGeom>
        </p:spPr>
      </p:pic>
      <p:sp>
        <p:nvSpPr>
          <p:cNvPr id="5" name="Rectangle 4">
            <a:extLst>
              <a:ext uri="{FF2B5EF4-FFF2-40B4-BE49-F238E27FC236}">
                <a16:creationId xmlns:a16="http://schemas.microsoft.com/office/drawing/2014/main" id="{BA67E865-CF47-660A-D404-FDC4CAC6F4D1}"/>
              </a:ext>
            </a:extLst>
          </p:cNvPr>
          <p:cNvSpPr/>
          <p:nvPr/>
        </p:nvSpPr>
        <p:spPr>
          <a:xfrm>
            <a:off x="5522026" y="1531917"/>
            <a:ext cx="4500748" cy="42632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37946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23528-0D5D-19D4-AFD0-89256FB7128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4B4F5B9-ABA0-76BA-515E-89320EA6826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6FE867FE-CA51-FEBE-F191-86AA859CD23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the table, most of the methods returns ... 2 ... which are ... and ...</a:t>
            </a:r>
          </a:p>
          <a:p>
            <a:pPr algn="l"/>
            <a:r>
              <a:rPr lang="en-US" sz="1800">
                <a:sym typeface="Wingdings" pitchFamily="2" charset="2"/>
              </a:rPr>
              <a:t>– The difference between single ... and ... is what happen when ... running ... ? </a:t>
            </a:r>
          </a:p>
          <a:p>
            <a:pPr algn="l"/>
            <a:r>
              <a:rPr lang="en-US" sz="1800">
                <a:sym typeface="Wingdings" pitchFamily="2" charset="2"/>
              </a:rPr>
              <a:t>- While single ... will wait ..., ... pool will deploy ... concurrently. If the pool runs out of ..., ... tasks will be ... and wait ...</a:t>
            </a:r>
          </a:p>
          <a:p>
            <a:pPr algn="l"/>
            <a:r>
              <a:rPr lang="en-US" sz="1800" b="1">
                <a:sym typeface="Wingdings" pitchFamily="2" charset="2"/>
              </a:rPr>
              <a:t>Writing Thread-Safe code</a:t>
            </a:r>
          </a:p>
          <a:p>
            <a:pPr algn="l"/>
            <a:r>
              <a:rPr lang="en-US" sz="1800">
                <a:sym typeface="Wingdings" pitchFamily="2" charset="2"/>
              </a:rPr>
              <a:t>- Thread-safety is a property of ... that gurantee to ... safely with multi ... at the same time</a:t>
            </a:r>
          </a:p>
          <a:p>
            <a:pPr algn="l"/>
            <a:r>
              <a:rPr lang="en-US" sz="1800">
                <a:sym typeface="Wingdings" pitchFamily="2" charset="2"/>
              </a:rPr>
              <a:t>- Because threads run in the same shared ... and shared ..., how can we prevent ... conflict ... We must organize the data to prevent .../... value. In this part, we will study about techniques to ... such as ...,...,..., and cylic ...</a:t>
            </a:r>
          </a:p>
          <a:p>
            <a:pPr algn="l"/>
            <a:r>
              <a:rPr lang="en-US" sz="1800" b="1">
                <a:sym typeface="Wingdings" pitchFamily="2" charset="2"/>
              </a:rPr>
              <a:t>Understanding Thread Safety</a:t>
            </a:r>
          </a:p>
          <a:p>
            <a:pPr algn="l"/>
            <a:r>
              <a:rPr lang="en-US" sz="1800">
                <a:sym typeface="Wingdings" pitchFamily="2" charset="2"/>
              </a:rPr>
              <a:t>(code illustration snippet 15)</a:t>
            </a:r>
          </a:p>
          <a:p>
            <a:pPr algn="l"/>
            <a:r>
              <a:rPr lang="en-US" sz="1800">
                <a:sym typeface="Wingdings" pitchFamily="2" charset="2"/>
              </a:rPr>
              <a:t>- Usually, people think that the output is ..., however, ... </a:t>
            </a:r>
          </a:p>
          <a:p>
            <a:pPr algn="l"/>
            <a:r>
              <a:rPr lang="en-US" sz="1800">
                <a:sym typeface="Wingdings" pitchFamily="2" charset="2"/>
              </a:rPr>
              <a:t>- Why does this happen ? In this example, we use pre... operator to ... the instance field, but there is a problem when both threads try to ... (both ... and ... at the same time) =&gt; This is redundant because the thread got ... by other ...</a:t>
            </a:r>
          </a:p>
          <a:p>
            <a:pPr algn="l"/>
            <a:endParaRPr lang="en-US" sz="1800">
              <a:sym typeface="Wingdings" pitchFamily="2" charset="2"/>
            </a:endParaRPr>
          </a:p>
        </p:txBody>
      </p:sp>
    </p:spTree>
    <p:extLst>
      <p:ext uri="{BB962C8B-B14F-4D97-AF65-F5344CB8AC3E}">
        <p14:creationId xmlns:p14="http://schemas.microsoft.com/office/powerpoint/2010/main" val="148093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DEF03-1EF4-9BE5-EA0E-B9E884412D1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EF78546-5151-6096-9B30-B373E1BF4FC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05C95C82-933F-ED30-941C-B3E2B822F5F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1F1B10B1-0BC1-2196-310F-41F66BF9862F}"/>
              </a:ext>
            </a:extLst>
          </p:cNvPr>
          <p:cNvPicPr>
            <a:picLocks noChangeAspect="1"/>
          </p:cNvPicPr>
          <p:nvPr/>
        </p:nvPicPr>
        <p:blipFill>
          <a:blip r:embed="rId3"/>
          <a:stretch>
            <a:fillRect/>
          </a:stretch>
        </p:blipFill>
        <p:spPr>
          <a:xfrm>
            <a:off x="3187700" y="1447800"/>
            <a:ext cx="5816600" cy="3962400"/>
          </a:xfrm>
          <a:prstGeom prst="rect">
            <a:avLst/>
          </a:prstGeom>
        </p:spPr>
      </p:pic>
    </p:spTree>
    <p:extLst>
      <p:ext uri="{BB962C8B-B14F-4D97-AF65-F5344CB8AC3E}">
        <p14:creationId xmlns:p14="http://schemas.microsoft.com/office/powerpoint/2010/main" val="1960149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3487-A5FB-FDAA-9812-FFB3DD2D538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78BB952-FF0E-4E41-7ECE-F8D19D97860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9FB3432E-872C-CEE0-C833-1B18DCBB901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As we can see that, both ... try to ... causing 1 operation to be ... =&gt; the ... is not thread-safe. Later on, we will understand the case where 2 ... overwrite ... are called ... condition</a:t>
            </a:r>
          </a:p>
          <a:p>
            <a:pPr algn="l"/>
            <a:r>
              <a:rPr lang="en-US" sz="1800" b="1">
                <a:sym typeface="Wingdings" pitchFamily="2" charset="2"/>
              </a:rPr>
              <a:t>Accessing Data with Volatile</a:t>
            </a:r>
          </a:p>
          <a:p>
            <a:pPr algn="l"/>
            <a:r>
              <a:rPr lang="en-US" sz="1800">
                <a:sym typeface="Wingdings" pitchFamily="2" charset="2"/>
              </a:rPr>
              <a:t>- The keyword volatile is used to ensure that the ... consistent (for example, there will be chances where the access to ... field is an invalid ... and causing .../... value while the code is on the most ... part). This is almost identical to the case where an employee tripping on the way back and another employee ... while the tripping one is trying to ...</a:t>
            </a:r>
          </a:p>
          <a:p>
            <a:pPr algn="l"/>
            <a:r>
              <a:rPr lang="en-US" sz="1800">
                <a:sym typeface="Wingdings" pitchFamily="2" charset="2"/>
              </a:rPr>
              <a:t>- The keyword volatile will be used to make sure that there will be ... at a time ... the ... and this field will be ... consistently by other ... This is equivalent to no one will disturb the employee on his way back =&gt; Is the keyword thread-safe ?</a:t>
            </a:r>
          </a:p>
          <a:p>
            <a:pPr algn="l"/>
            <a:r>
              <a:rPr lang="en-US" sz="1800">
                <a:sym typeface="Wingdings" pitchFamily="2" charset="2"/>
              </a:rPr>
              <a:t>(code illustration snippet 16)</a:t>
            </a:r>
          </a:p>
          <a:p>
            <a:pPr algn="l"/>
            <a:r>
              <a:rPr lang="en-US" sz="1800">
                <a:sym typeface="Wingdings" pitchFamily="2" charset="2"/>
              </a:rPr>
              <a:t>- The reason this code is still not ... is because of the ... operator are still 2 separate ... If we write ... and ... separated out, then it will be ... but if we try to use ... (question 9)</a:t>
            </a:r>
          </a:p>
          <a:p>
            <a:pPr algn="l"/>
            <a:r>
              <a:rPr lang="en-US" sz="1800">
                <a:sym typeface="Wingdings" pitchFamily="2" charset="2"/>
              </a:rPr>
              <a:t>- In real life, the volatile keyword is not ..., we just ... because it is on the ...</a:t>
            </a:r>
          </a:p>
          <a:p>
            <a:pPr algn="l"/>
            <a:r>
              <a:rPr lang="en-US" sz="1800" b="1">
                <a:sym typeface="Wingdings" pitchFamily="2" charset="2"/>
              </a:rPr>
              <a:t>Protecting Data with Atomic Classes</a:t>
            </a:r>
          </a:p>
          <a:p>
            <a:pPr algn="l"/>
            <a:r>
              <a:rPr lang="en-US" sz="1800">
                <a:sym typeface="Wingdings" pitchFamily="2" charset="2"/>
              </a:rPr>
              <a:t>- In the SheepManager example, we can see that the field ... 2 times with the highest (could be ... and could be ...) As we can see that the operator isn't ... and even if we use ... it is still ... It is ... because it has to do ... jobs at once (... and ...) and could easily be ... by other ... </a:t>
            </a:r>
          </a:p>
        </p:txBody>
      </p:sp>
    </p:spTree>
    <p:extLst>
      <p:ext uri="{BB962C8B-B14F-4D97-AF65-F5344CB8AC3E}">
        <p14:creationId xmlns:p14="http://schemas.microsoft.com/office/powerpoint/2010/main" val="2625968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A6489-5E82-9E93-4AB5-C775F1636A9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7F542C2-5AA0-1F18-903E-CD0AA25CA7E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B727693-5C72-49BC-3D3A-2458D868C52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Atomic is a word used to ... of the operation that can be ... normally without other ... </a:t>
            </a:r>
          </a:p>
          <a:p>
            <a:pPr algn="l"/>
            <a:r>
              <a:rPr lang="en-US" sz="1800">
                <a:sym typeface="Wingdings" pitchFamily="2" charset="2"/>
              </a:rPr>
              <a:t>- A ... and ... version of SheepManager must do ... and ... at once and blocks ... </a:t>
            </a:r>
          </a:p>
          <a:p>
            <a:pPr algn="l"/>
            <a:r>
              <a:rPr lang="en-US" sz="1800">
                <a:sym typeface="Wingdings" pitchFamily="2" charset="2"/>
              </a:rPr>
              <a:t>- In this case, any ... tries to .. must wait until that ...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E326B5E-1CCA-9E08-E433-7C8463A1363F}"/>
              </a:ext>
            </a:extLst>
          </p:cNvPr>
          <p:cNvPicPr>
            <a:picLocks noChangeAspect="1"/>
          </p:cNvPicPr>
          <p:nvPr/>
        </p:nvPicPr>
        <p:blipFill>
          <a:blip r:embed="rId3"/>
          <a:stretch>
            <a:fillRect/>
          </a:stretch>
        </p:blipFill>
        <p:spPr>
          <a:xfrm>
            <a:off x="2553194" y="1956906"/>
            <a:ext cx="6420015" cy="4367034"/>
          </a:xfrm>
          <a:prstGeom prst="rect">
            <a:avLst/>
          </a:prstGeom>
        </p:spPr>
      </p:pic>
    </p:spTree>
    <p:extLst>
      <p:ext uri="{BB962C8B-B14F-4D97-AF65-F5344CB8AC3E}">
        <p14:creationId xmlns:p14="http://schemas.microsoft.com/office/powerpoint/2010/main" val="1441215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8A39C-C9E7-2948-EB71-02CE6FF47BB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A55061E-FCB4-02B2-B187-6262C6B6778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ADF946C4-2CFC-B529-6AC7-AEBF5BCCE63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accessing .../... field in Java is pretty ... =&gt; Java included some ... classes in ... package</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F8851BA9-94FE-E1C6-E0B5-4FBA1DAF4482}"/>
              </a:ext>
            </a:extLst>
          </p:cNvPr>
          <p:cNvPicPr>
            <a:picLocks noChangeAspect="1"/>
          </p:cNvPicPr>
          <p:nvPr/>
        </p:nvPicPr>
        <p:blipFill>
          <a:blip r:embed="rId3"/>
          <a:stretch>
            <a:fillRect/>
          </a:stretch>
        </p:blipFill>
        <p:spPr>
          <a:xfrm>
            <a:off x="2209800" y="2336494"/>
            <a:ext cx="7772400" cy="2185012"/>
          </a:xfrm>
          <a:prstGeom prst="rect">
            <a:avLst/>
          </a:prstGeom>
        </p:spPr>
      </p:pic>
      <p:sp>
        <p:nvSpPr>
          <p:cNvPr id="6" name="Rectangle 5">
            <a:extLst>
              <a:ext uri="{FF2B5EF4-FFF2-40B4-BE49-F238E27FC236}">
                <a16:creationId xmlns:a16="http://schemas.microsoft.com/office/drawing/2014/main" id="{1F368F72-AFE9-243D-103D-78BD07183C3B}"/>
              </a:ext>
            </a:extLst>
          </p:cNvPr>
          <p:cNvSpPr/>
          <p:nvPr/>
        </p:nvSpPr>
        <p:spPr>
          <a:xfrm>
            <a:off x="4524499" y="2921330"/>
            <a:ext cx="4346369" cy="1330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50493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DA84E-F3E2-46A8-FAAE-E31EC520CD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DB2284B-4275-EE17-AA40-8C51092DB4F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CD8D034C-1879-2561-120C-DE6673529BE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How can we use ... ? Each of the class comprises of ... that equivalents to primitive ...</a:t>
            </a:r>
          </a:p>
          <a:p>
            <a:pPr algn="l"/>
            <a:r>
              <a:rPr lang="en-US" sz="1800">
                <a:sym typeface="Wingdings" pitchFamily="2" charset="2"/>
              </a:rPr>
              <a:t>(the tables contains "type" which means")</a:t>
            </a:r>
          </a:p>
        </p:txBody>
      </p:sp>
      <p:pic>
        <p:nvPicPr>
          <p:cNvPr id="2" name="Picture 1">
            <a:extLst>
              <a:ext uri="{FF2B5EF4-FFF2-40B4-BE49-F238E27FC236}">
                <a16:creationId xmlns:a16="http://schemas.microsoft.com/office/drawing/2014/main" id="{E8DCE11D-700E-821C-2173-54B42F154E70}"/>
              </a:ext>
            </a:extLst>
          </p:cNvPr>
          <p:cNvPicPr>
            <a:picLocks noChangeAspect="1"/>
          </p:cNvPicPr>
          <p:nvPr/>
        </p:nvPicPr>
        <p:blipFill>
          <a:blip r:embed="rId3"/>
          <a:stretch>
            <a:fillRect/>
          </a:stretch>
        </p:blipFill>
        <p:spPr>
          <a:xfrm>
            <a:off x="1877784" y="1655238"/>
            <a:ext cx="7772400" cy="4985274"/>
          </a:xfrm>
          <a:prstGeom prst="rect">
            <a:avLst/>
          </a:prstGeom>
        </p:spPr>
      </p:pic>
      <p:sp>
        <p:nvSpPr>
          <p:cNvPr id="7" name="Rectangle 6">
            <a:extLst>
              <a:ext uri="{FF2B5EF4-FFF2-40B4-BE49-F238E27FC236}">
                <a16:creationId xmlns:a16="http://schemas.microsoft.com/office/drawing/2014/main" id="{4569582E-7D98-AA33-AB9F-ABA9981FBE76}"/>
              </a:ext>
            </a:extLst>
          </p:cNvPr>
          <p:cNvSpPr/>
          <p:nvPr/>
        </p:nvSpPr>
        <p:spPr>
          <a:xfrm>
            <a:off x="3978234" y="2315688"/>
            <a:ext cx="5533901" cy="41682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709307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43E-36F5-F448-4490-3CD8266B25C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F230AA5-C3E3-F7DD-BAA2-A2A6F350953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8A67BF4-41B0-2076-51E1-3484602C310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17)</a:t>
            </a:r>
          </a:p>
          <a:p>
            <a:pPr algn="l"/>
            <a:r>
              <a:rPr lang="en-US" sz="1800">
                <a:sym typeface="Wingdings" pitchFamily="2" charset="2"/>
              </a:rPr>
              <a:t>- Although the input ..., the order is still ... this will be solved in ...), but for now, the ... problem have been solved</a:t>
            </a:r>
          </a:p>
          <a:p>
            <a:pPr algn="l"/>
            <a:r>
              <a:rPr lang="en-US" sz="1800" b="1">
                <a:sym typeface="Wingdings" pitchFamily="2" charset="2"/>
              </a:rPr>
              <a:t>Improving Access with synchronized Block</a:t>
            </a:r>
          </a:p>
          <a:p>
            <a:pPr algn="l"/>
            <a:r>
              <a:rPr lang="en-US" sz="1800">
                <a:sym typeface="Wingdings" pitchFamily="2" charset="2"/>
              </a:rPr>
              <a:t>- While Atomic class works very well in ... it doesnt useful when we ... a series of ... (for example, we can't use Atomic to ... Atomic ... at once)</a:t>
            </a:r>
          </a:p>
          <a:p>
            <a:pPr algn="l"/>
            <a:r>
              <a:rPr lang="en-US" sz="1800">
                <a:sym typeface="Wingdings" pitchFamily="2" charset="2"/>
              </a:rPr>
              <a:t>- How can we force the workers to ... order ?</a:t>
            </a:r>
          </a:p>
          <a:p>
            <a:pPr algn="l"/>
            <a:r>
              <a:rPr lang="en-US" sz="1800">
                <a:sym typeface="Wingdings" pitchFamily="2" charset="2"/>
              </a:rPr>
              <a:t>– The most common ... is to use monitor to ... the access</a:t>
            </a:r>
          </a:p>
          <a:p>
            <a:pPr algn="l"/>
            <a:r>
              <a:rPr lang="en-US" sz="1800">
                <a:sym typeface="Wingdings" pitchFamily="2" charset="2"/>
              </a:rPr>
              <a:t>– The monitor (or ...), is a structure to support .... (a ... in Concurrency that ensure a single .... with ... at the ...)</a:t>
            </a:r>
          </a:p>
          <a:p>
            <a:pPr algn="l"/>
            <a:r>
              <a:rPr lang="en-US" sz="1800">
                <a:sym typeface="Wingdings" pitchFamily="2" charset="2"/>
              </a:rPr>
              <a:t>- In Java, any ... could be used as ... with ... keyword ...</a:t>
            </a:r>
          </a:p>
          <a:p>
            <a:pPr algn="l"/>
            <a:r>
              <a:rPr lang="en-US" sz="1800">
                <a:sym typeface="Wingdings" pitchFamily="2" charset="2"/>
              </a:rPr>
              <a:t>(code illustration snippet 18)</a:t>
            </a:r>
          </a:p>
          <a:p>
            <a:pPr algn="l"/>
            <a:r>
              <a:rPr lang="en-US" sz="1800">
                <a:sym typeface="Wingdings" pitchFamily="2" charset="2"/>
              </a:rPr>
              <a:t>- This is an example for something called ... Each thread must first .... if any ... is using .... If there are no ... available ..., then that ... changes from ... to ... state until it gets the ... If there are ... available (or that thread has the ...), then that ... will enter the block and blocks all .... </a:t>
            </a:r>
          </a:p>
          <a:p>
            <a:pPr algn="l"/>
            <a:r>
              <a:rPr lang="en-US" sz="1800">
                <a:sym typeface="Wingdings" pitchFamily="2" charset="2"/>
              </a:rPr>
              <a:t>- Once the ... completed, it will release ...</a:t>
            </a:r>
          </a:p>
          <a:p>
            <a:pPr algn="l"/>
            <a:r>
              <a:rPr lang="en-US" sz="1800">
                <a:sym typeface="Wingdings" pitchFamily="2" charset="2"/>
              </a:rPr>
              <a:t>– To ... access for multi ..., each thread must have the same ... or else if each thread has ... =&gt; that code is not ...</a:t>
            </a:r>
          </a:p>
        </p:txBody>
      </p:sp>
    </p:spTree>
    <p:extLst>
      <p:ext uri="{BB962C8B-B14F-4D97-AF65-F5344CB8AC3E}">
        <p14:creationId xmlns:p14="http://schemas.microsoft.com/office/powerpoint/2010/main" val="1678783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C7E0F-7CFF-D644-36B7-B4A1E7F3562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C5B0A98-8748-2520-E3B0-52BD34A43A6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4FD85149-C477-AF99-CA48-3B743775139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Is this code thread safe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BB4A6B38-4D26-D487-BF0A-B6C10D5AACE7}"/>
              </a:ext>
            </a:extLst>
          </p:cNvPr>
          <p:cNvPicPr>
            <a:picLocks noChangeAspect="1"/>
          </p:cNvPicPr>
          <p:nvPr/>
        </p:nvPicPr>
        <p:blipFill>
          <a:blip r:embed="rId3"/>
          <a:stretch>
            <a:fillRect/>
          </a:stretch>
        </p:blipFill>
        <p:spPr>
          <a:xfrm>
            <a:off x="2362200" y="2495550"/>
            <a:ext cx="7467600" cy="1866900"/>
          </a:xfrm>
          <a:prstGeom prst="rect">
            <a:avLst/>
          </a:prstGeom>
        </p:spPr>
      </p:pic>
    </p:spTree>
    <p:extLst>
      <p:ext uri="{BB962C8B-B14F-4D97-AF65-F5344CB8AC3E}">
        <p14:creationId xmlns:p14="http://schemas.microsoft.com/office/powerpoint/2010/main" val="120573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2174A-E045-888C-E308-B3B9F245B22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FAD4954-7E10-8B1A-2E1B-664CD1DFAC21}"/>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13 – Concurrency</a:t>
            </a:r>
          </a:p>
        </p:txBody>
      </p:sp>
      <p:sp>
        <p:nvSpPr>
          <p:cNvPr id="4" name="Subtitle 2">
            <a:extLst>
              <a:ext uri="{FF2B5EF4-FFF2-40B4-BE49-F238E27FC236}">
                <a16:creationId xmlns:a16="http://schemas.microsoft.com/office/drawing/2014/main" id="{DA010945-D26A-29A5-A948-10DD1DE3B56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This solution is not ... because it ... the process of creating .... not the ... </a:t>
            </a:r>
          </a:p>
          <a:p>
            <a:pPr algn="l"/>
            <a:r>
              <a:rPr lang="en-US" sz="1800">
                <a:sym typeface="Wingdings" pitchFamily="2" charset="2"/>
              </a:rPr>
              <a:t>- If we write like this, we let the creation ..., but the tasks will still ... (question 10)</a:t>
            </a:r>
          </a:p>
          <a:p>
            <a:pPr algn="l"/>
            <a:r>
              <a:rPr lang="en-US" sz="1800">
                <a:sym typeface="Wingdings" pitchFamily="2" charset="2"/>
              </a:rPr>
              <a:t>(code illustration snippet 19)</a:t>
            </a:r>
          </a:p>
          <a:p>
            <a:pPr algn="l"/>
            <a:r>
              <a:rPr lang="en-US" sz="1800">
                <a:sym typeface="Wingdings" pitchFamily="2" charset="2"/>
              </a:rPr>
              <a:t>- Although the threads are .., but they all have to ... tasks</a:t>
            </a:r>
          </a:p>
          <a:p>
            <a:pPr algn="l"/>
            <a:r>
              <a:rPr lang="en-US" sz="1800">
                <a:sym typeface="Wingdings" pitchFamily="2" charset="2"/>
              </a:rPr>
              <a:t>– We can synchronize on any ..., as long as ... has access to ... (question 11)</a:t>
            </a:r>
          </a:p>
          <a:p>
            <a:pPr algn="l"/>
            <a:r>
              <a:rPr lang="en-US" sz="1800">
                <a:sym typeface="Wingdings" pitchFamily="2" charset="2"/>
              </a:rPr>
              <a:t>(code illustration snippet 20) </a:t>
            </a:r>
          </a:p>
          <a:p>
            <a:pPr algn="l"/>
            <a:r>
              <a:rPr lang="en-US" sz="1800" b="1">
                <a:sym typeface="Wingdings" pitchFamily="2" charset="2"/>
              </a:rPr>
              <a:t>Synchronizing on Methods</a:t>
            </a:r>
          </a:p>
          <a:p>
            <a:pPr algn="l"/>
            <a:r>
              <a:rPr lang="en-US" sz="1800">
                <a:sym typeface="Wingdings" pitchFamily="2" charset="2"/>
              </a:rPr>
              <a:t>- In the last example, we set a ... around the method by using ,... However, there is a shorter ... (which is compiler ...) which is adding a ... to the method so that it automatically ... with the object</a:t>
            </a:r>
          </a:p>
          <a:p>
            <a:pPr algn="l"/>
            <a:r>
              <a:rPr lang="en-US" sz="1800">
                <a:sym typeface="Wingdings" pitchFamily="2" charset="2"/>
              </a:rPr>
              <a:t>(code illustration snippet 21)</a:t>
            </a:r>
          </a:p>
          <a:p>
            <a:pPr algn="l"/>
            <a:r>
              <a:rPr lang="en-US" sz="1800">
                <a:sym typeface="Wingdings" pitchFamily="2" charset="2"/>
              </a:rPr>
              <a:t>- Moreover, we can use the ... for ... method, but the question is, we synchronize on which ... ? =&gt; We will use the ....</a:t>
            </a:r>
          </a:p>
          <a:p>
            <a:pPr algn="l"/>
            <a:r>
              <a:rPr lang="en-US" sz="1800">
                <a:sym typeface="Wingdings" pitchFamily="2" charset="2"/>
              </a:rPr>
              <a:t>(code illustration snippet 22)</a:t>
            </a:r>
          </a:p>
          <a:p>
            <a:pPr algn="l"/>
            <a:r>
              <a:rPr lang="en-US" sz="1800">
                <a:sym typeface="Wingdings" pitchFamily="2" charset="2"/>
              </a:rPr>
              <a:t>- We use ... synchronization when we want order ... on all .. rather than ...</a:t>
            </a:r>
          </a:p>
          <a:p>
            <a:pPr algn="l"/>
            <a:endParaRPr lang="en-US" sz="1800">
              <a:sym typeface="Wingdings" pitchFamily="2" charset="2"/>
            </a:endParaRPr>
          </a:p>
        </p:txBody>
      </p:sp>
    </p:spTree>
    <p:extLst>
      <p:ext uri="{BB962C8B-B14F-4D97-AF65-F5344CB8AC3E}">
        <p14:creationId xmlns:p14="http://schemas.microsoft.com/office/powerpoint/2010/main" val="2913471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21050</TotalTime>
  <Words>4299</Words>
  <Application>Microsoft Macintosh PowerPoint</Application>
  <PresentationFormat>Widescreen</PresentationFormat>
  <Paragraphs>259</Paragraphs>
  <Slides>30</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61</cp:revision>
  <dcterms:created xsi:type="dcterms:W3CDTF">2024-07-05T03:43:45Z</dcterms:created>
  <dcterms:modified xsi:type="dcterms:W3CDTF">2026-01-03T11:46:32Z</dcterms:modified>
</cp:coreProperties>
</file>